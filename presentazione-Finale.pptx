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12_F31D1F5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57" r:id="rId6"/>
    <p:sldId id="258" r:id="rId7"/>
    <p:sldId id="259" r:id="rId8"/>
    <p:sldId id="260" r:id="rId9"/>
    <p:sldId id="274" r:id="rId10"/>
    <p:sldId id="271" r:id="rId11"/>
    <p:sldId id="270" r:id="rId12"/>
    <p:sldId id="262" r:id="rId13"/>
    <p:sldId id="265" r:id="rId14"/>
    <p:sldId id="266" r:id="rId15"/>
    <p:sldId id="279" r:id="rId16"/>
    <p:sldId id="277" r:id="rId17"/>
    <p:sldId id="268" r:id="rId18"/>
    <p:sldId id="269" r:id="rId19"/>
    <p:sldId id="278" r:id="rId20"/>
    <p:sldId id="272"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D45D75-A6E2-2878-173B-DFDA2F5AB3ED}" name="Luca Samorì - luca.samori2@studio.unibo.it" initials="Ll" userId="S::luca.samori2@studio.unibo.it::5c5e4715-aa70-4e76-90b4-a7791360b07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E53E9D-ECC7-68A8-BFAE-538DC808A770}" v="1" dt="2026-05-18T07:14:45.304"/>
    <p1510:client id="{B6AC3307-1A6D-18E0-7ACE-912D98CFD687}" v="36" dt="2026-05-16T17:39:22.407"/>
    <p1510:client id="{F91C2C79-B348-A46A-7B55-01169248BCE5}" v="2" dt="2026-05-16T18:44:33.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omments/modernComment_112_F31D1F5B.xml><?xml version="1.0" encoding="utf-8"?>
<p188:cmLst xmlns:a="http://schemas.openxmlformats.org/drawingml/2006/main" xmlns:r="http://schemas.openxmlformats.org/officeDocument/2006/relationships" xmlns:p188="http://schemas.microsoft.com/office/powerpoint/2018/8/main">
  <p188:cm id="{A5A63127-CC02-4DA4-89A5-AF24142D24CD}" authorId="{A9D45D75-A6E2-2878-173B-DFDA2F5AB3ED}" created="2026-05-15T15:02:40.283">
    <pc:sldMkLst xmlns:pc="http://schemas.microsoft.com/office/powerpoint/2013/main/command">
      <pc:docMk/>
      <pc:sldMk cId="4078772059" sldId="274"/>
    </pc:sldMkLst>
    <p188:txBody>
      <a:bodyPr/>
      <a:lstStyle/>
      <a:p>
        <a:r>
          <a:rPr lang="en-US"/>
          <a:t>Standard simulators cast a single, perfectly straight 1D ray. This allows the simulated sensor to "see through" thin gaps that a real 27° conical sensor would detect as obstacles.​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E96A5-A7CC-4E91-BE73-01BD6789E43A}" type="datetimeFigureOut">
              <a:rPr lang="en-GB" smtClean="0"/>
              <a:t>28/05/2026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9C63E-2B21-4D50-B201-AB660BD7CFF0}" type="slidenum">
              <a:rPr lang="en-GB" smtClean="0"/>
              <a:t>‹#›</a:t>
            </a:fld>
            <a:endParaRPr lang="en-GB"/>
          </a:p>
        </p:txBody>
      </p:sp>
    </p:spTree>
    <p:extLst>
      <p:ext uri="{BB962C8B-B14F-4D97-AF65-F5344CB8AC3E}">
        <p14:creationId xmlns:p14="http://schemas.microsoft.com/office/powerpoint/2010/main" val="1536975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A4-C06F-8E7B-F7DC-B075E550F1F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3FEEDB24-6A40-C1AB-E857-63C609C99E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B2B3765-81FA-9D17-8356-4274BDEF9E91}"/>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5" name="Footer Placeholder 4">
            <a:extLst>
              <a:ext uri="{FF2B5EF4-FFF2-40B4-BE49-F238E27FC236}">
                <a16:creationId xmlns:a16="http://schemas.microsoft.com/office/drawing/2014/main" id="{8CFC605E-98BF-139E-3A9F-4D0FE485E2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D7A70-9077-6259-9C31-343F1A0D07F9}"/>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2839302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07CE-971A-39BD-26ED-AD8544BEB48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2B519CE-D3E9-5AF3-B1ED-FBF5687D1F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2742314-363C-7E4B-595A-875EC1EAAEF5}"/>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5" name="Footer Placeholder 4">
            <a:extLst>
              <a:ext uri="{FF2B5EF4-FFF2-40B4-BE49-F238E27FC236}">
                <a16:creationId xmlns:a16="http://schemas.microsoft.com/office/drawing/2014/main" id="{A4D445D8-BD56-5602-CBB1-2985A3722F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12050A-253D-9A64-5DD2-5ADB407C10B6}"/>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2855116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AF024-F63F-F61C-4179-FB96B7E02F0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E06DEA7-2CE1-B43A-2763-C002A8164A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73876BE-292B-6C92-DE2C-5D6198619D12}"/>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5" name="Footer Placeholder 4">
            <a:extLst>
              <a:ext uri="{FF2B5EF4-FFF2-40B4-BE49-F238E27FC236}">
                <a16:creationId xmlns:a16="http://schemas.microsoft.com/office/drawing/2014/main" id="{2AD8A610-8D8E-85FC-1ED5-696B4B40D5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7D123F-82C7-B39F-A799-D61FC3D1C7B5}"/>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1390734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8EF50-F9B1-2C49-0F4B-00DDC830925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DFCEFD2-75C8-5AD1-86E1-C2779ACB4B8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872F914-F3AC-7752-3CCF-ABA1AFF6DFE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9F77B2A-29B8-F88A-DD13-7D1E5009A3F9}"/>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6" name="Footer Placeholder 5">
            <a:extLst>
              <a:ext uri="{FF2B5EF4-FFF2-40B4-BE49-F238E27FC236}">
                <a16:creationId xmlns:a16="http://schemas.microsoft.com/office/drawing/2014/main" id="{169F5CB7-D7B2-A4EF-0A22-54D9D1270B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DB919E4-5BF0-BC15-9283-8131E7D4D4A4}"/>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2666874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71B01-1088-2A4C-B8AD-6D99BF9617EC}"/>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E7804473-3A1D-162D-4A5D-21DBBE55A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158797-3047-36F8-0B49-CFCD366A2DF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F1DA291-ADE9-C8E1-0319-09F2CBF25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4D25B2A-3916-46E0-B026-71A9549B62F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97854DC8-27DF-3A49-248B-F900581941CB}"/>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8" name="Footer Placeholder 7">
            <a:extLst>
              <a:ext uri="{FF2B5EF4-FFF2-40B4-BE49-F238E27FC236}">
                <a16:creationId xmlns:a16="http://schemas.microsoft.com/office/drawing/2014/main" id="{14333DAD-6DC5-B8F7-33EE-1A6CF7CA4B4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05E5023-6C7B-3CDB-888D-A63CC1408638}"/>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13701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66B1B-5B7B-EBE7-4DEB-E16CF9D53EA2}"/>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4DE4FCA-56FC-4A53-364C-0972DC178126}"/>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4" name="Footer Placeholder 3">
            <a:extLst>
              <a:ext uri="{FF2B5EF4-FFF2-40B4-BE49-F238E27FC236}">
                <a16:creationId xmlns:a16="http://schemas.microsoft.com/office/drawing/2014/main" id="{CCE2BC30-E8BA-1DE9-D3C7-6E439F557F7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928371-456E-C4CA-D968-E3AFC14ED45D}"/>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1784136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36FFEB-C46E-E883-B8F7-BD74A2F8AD29}"/>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3" name="Footer Placeholder 2">
            <a:extLst>
              <a:ext uri="{FF2B5EF4-FFF2-40B4-BE49-F238E27FC236}">
                <a16:creationId xmlns:a16="http://schemas.microsoft.com/office/drawing/2014/main" id="{B4D13C67-9C0C-5B86-3ED9-F34BE0CC209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A07E005-1D4D-FCEA-E602-762E067E3456}"/>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3525914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FA20F-22B6-233E-EA08-B35FFF94496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23DE5D9-C859-7C35-3111-614F7B1B9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7DB646F-6C2F-B5DF-8582-E82CFDA2E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F2E6284-EC98-F6AD-E9EE-995A05A9FD6E}"/>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6" name="Footer Placeholder 5">
            <a:extLst>
              <a:ext uri="{FF2B5EF4-FFF2-40B4-BE49-F238E27FC236}">
                <a16:creationId xmlns:a16="http://schemas.microsoft.com/office/drawing/2014/main" id="{9E411054-7318-F952-749A-A7389B62A94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3C8CD99-3692-282E-4568-0D0C6F33419C}"/>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2950306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72CA-5F35-FE4F-76E9-6C8F73DBB6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E582176-EB7F-EAFA-AAC2-2FE648DD5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061A58C-1D50-9479-F621-D6F32BFD5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88F42D3-47F5-E485-E06B-3F4B190EBB08}"/>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6" name="Footer Placeholder 5">
            <a:extLst>
              <a:ext uri="{FF2B5EF4-FFF2-40B4-BE49-F238E27FC236}">
                <a16:creationId xmlns:a16="http://schemas.microsoft.com/office/drawing/2014/main" id="{F2712CAF-4398-4247-4ACC-9A6749F521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41262D-E862-A29F-80FC-A4C6FCEBDB7C}"/>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2242454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6C4F-1BD1-3990-DB6E-131402D2B57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4F04ADF-E878-BDD4-1952-93EF6EB995A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C072B5D-E4D9-8AB3-2CF3-34FC9223470A}"/>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5" name="Footer Placeholder 4">
            <a:extLst>
              <a:ext uri="{FF2B5EF4-FFF2-40B4-BE49-F238E27FC236}">
                <a16:creationId xmlns:a16="http://schemas.microsoft.com/office/drawing/2014/main" id="{892F6999-7164-6E20-2F72-2A96D32018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26FF22-A369-451C-C333-57A8D8D6C561}"/>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4125421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C904CD-ACE5-46D8-F4B9-315A4C2351A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688D2F1-3FA8-4D4A-53DD-1C9BA7B5A63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61D89A3-9EE5-2652-C573-A087D3477C94}"/>
              </a:ext>
            </a:extLst>
          </p:cNvPr>
          <p:cNvSpPr>
            <a:spLocks noGrp="1"/>
          </p:cNvSpPr>
          <p:nvPr>
            <p:ph type="dt" sz="half" idx="10"/>
          </p:nvPr>
        </p:nvSpPr>
        <p:spPr/>
        <p:txBody>
          <a:bodyPr/>
          <a:lstStyle/>
          <a:p>
            <a:fld id="{D1882EBF-B45F-434D-960B-28E3420FA263}" type="datetimeFigureOut">
              <a:rPr lang="en-GB" smtClean="0"/>
              <a:t>28/05/2026</a:t>
            </a:fld>
            <a:endParaRPr lang="en-GB"/>
          </a:p>
        </p:txBody>
      </p:sp>
      <p:sp>
        <p:nvSpPr>
          <p:cNvPr id="5" name="Footer Placeholder 4">
            <a:extLst>
              <a:ext uri="{FF2B5EF4-FFF2-40B4-BE49-F238E27FC236}">
                <a16:creationId xmlns:a16="http://schemas.microsoft.com/office/drawing/2014/main" id="{CA2DD2B4-D208-AF9C-6F80-382D8E65D2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53CC2F-431A-B697-A505-754F7508FE73}"/>
              </a:ext>
            </a:extLst>
          </p:cNvPr>
          <p:cNvSpPr>
            <a:spLocks noGrp="1"/>
          </p:cNvSpPr>
          <p:nvPr>
            <p:ph type="sldNum" sz="quarter" idx="12"/>
          </p:nvPr>
        </p:nvSpPr>
        <p:spPr/>
        <p:txBody>
          <a:bodyPr/>
          <a:lstStyle/>
          <a:p>
            <a:fld id="{4C1DA310-9995-425D-8551-309573539DED}" type="slidenum">
              <a:rPr lang="en-GB" smtClean="0"/>
              <a:t>‹#›</a:t>
            </a:fld>
            <a:endParaRPr lang="en-GB"/>
          </a:p>
        </p:txBody>
      </p:sp>
    </p:spTree>
    <p:extLst>
      <p:ext uri="{BB962C8B-B14F-4D97-AF65-F5344CB8AC3E}">
        <p14:creationId xmlns:p14="http://schemas.microsoft.com/office/powerpoint/2010/main" val="3314038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142225-6C5A-985E-3D5C-375124B53A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F579BF5-F0E5-1163-CA13-28C33B4241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9966DCE-E6FB-6559-A2E5-437E04584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882EBF-B45F-434D-960B-28E3420FA263}" type="datetimeFigureOut">
              <a:rPr lang="en-GB" smtClean="0"/>
              <a:t>28/05/2026</a:t>
            </a:fld>
            <a:endParaRPr lang="en-GB"/>
          </a:p>
        </p:txBody>
      </p:sp>
      <p:sp>
        <p:nvSpPr>
          <p:cNvPr id="5" name="Footer Placeholder 4">
            <a:extLst>
              <a:ext uri="{FF2B5EF4-FFF2-40B4-BE49-F238E27FC236}">
                <a16:creationId xmlns:a16="http://schemas.microsoft.com/office/drawing/2014/main" id="{7E2C66B9-135F-04F1-CAC2-E70E0F7028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597B1B5-9663-315E-5CFB-C786AE62CA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1DA310-9995-425D-8551-309573539DED}" type="slidenum">
              <a:rPr lang="en-GB" smtClean="0"/>
              <a:t>‹#›</a:t>
            </a:fld>
            <a:endParaRPr lang="en-GB"/>
          </a:p>
        </p:txBody>
      </p:sp>
    </p:spTree>
    <p:extLst>
      <p:ext uri="{BB962C8B-B14F-4D97-AF65-F5344CB8AC3E}">
        <p14:creationId xmlns:p14="http://schemas.microsoft.com/office/powerpoint/2010/main" val="3931585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microsoft.com/office/2018/10/relationships/comments" Target="../comments/modernComment_112_F31D1F5B.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forum.arduino.cc/t/question-about-mapping-using-the-vl53l1x-sensor/1137297"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5;p13">
            <a:extLst>
              <a:ext uri="{FF2B5EF4-FFF2-40B4-BE49-F238E27FC236}">
                <a16:creationId xmlns:a16="http://schemas.microsoft.com/office/drawing/2014/main" id="{1E74AA6C-A436-BD7A-2862-B480E408D0B7}"/>
              </a:ext>
            </a:extLst>
          </p:cNvPr>
          <p:cNvSpPr txBox="1"/>
          <p:nvPr/>
        </p:nvSpPr>
        <p:spPr>
          <a:xfrm>
            <a:off x="2771945" y="1360959"/>
            <a:ext cx="6650831" cy="2742289"/>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de-DE" sz="5400" b="1" i="0" u="none" strike="noStrike" cap="none" dirty="0">
                <a:latin typeface="Urbanist"/>
                <a:ea typeface="Urbanist"/>
                <a:cs typeface="Urbanist"/>
                <a:sym typeface="Urbanist"/>
              </a:rPr>
              <a:t>Parallel</a:t>
            </a:r>
            <a:r>
              <a:rPr lang="de-DE" sz="5400" b="1" i="0" u="none" strike="noStrike" cap="none" dirty="0">
                <a:solidFill>
                  <a:srgbClr val="FFFFFF"/>
                </a:solidFill>
                <a:latin typeface="Urbanist"/>
                <a:ea typeface="Urbanist"/>
                <a:cs typeface="Urbanist"/>
                <a:sym typeface="Urbanist"/>
              </a:rPr>
              <a:t> </a:t>
            </a:r>
            <a:r>
              <a:rPr lang="de-DE" sz="5400" b="1" i="0" u="none" strike="noStrike" cap="none" dirty="0">
                <a:solidFill>
                  <a:srgbClr val="76B900"/>
                </a:solidFill>
                <a:latin typeface="Urbanist"/>
                <a:ea typeface="Urbanist"/>
                <a:cs typeface="Urbanist"/>
                <a:sym typeface="Urbanist"/>
              </a:rPr>
              <a:t>Ranger Deck</a:t>
            </a:r>
            <a:br>
              <a:rPr lang="de-DE" sz="1800" b="0" i="0" u="none" strike="noStrike" cap="none" dirty="0">
                <a:solidFill>
                  <a:schemeClr val="dk1"/>
                </a:solidFill>
                <a:latin typeface="Calibri"/>
                <a:ea typeface="Calibri"/>
                <a:cs typeface="Calibri"/>
                <a:sym typeface="Calibri"/>
              </a:rPr>
            </a:br>
            <a:r>
              <a:rPr lang="de-DE" sz="5400" b="1" i="0" u="none" strike="noStrike" cap="none" dirty="0">
                <a:latin typeface="Urbanist"/>
                <a:ea typeface="Urbanist"/>
                <a:cs typeface="Urbanist"/>
                <a:sym typeface="Urbanist"/>
              </a:rPr>
              <a:t> in Isaac Lab</a:t>
            </a:r>
            <a:endParaRPr lang="de-DE" dirty="0"/>
          </a:p>
        </p:txBody>
      </p:sp>
      <p:sp>
        <p:nvSpPr>
          <p:cNvPr id="5" name="Google Shape;86;p13">
            <a:extLst>
              <a:ext uri="{FF2B5EF4-FFF2-40B4-BE49-F238E27FC236}">
                <a16:creationId xmlns:a16="http://schemas.microsoft.com/office/drawing/2014/main" id="{118A57F3-250C-BBBA-F28F-2EEADF71666C}"/>
              </a:ext>
            </a:extLst>
          </p:cNvPr>
          <p:cNvSpPr txBox="1"/>
          <p:nvPr/>
        </p:nvSpPr>
        <p:spPr>
          <a:xfrm>
            <a:off x="3267071" y="4298285"/>
            <a:ext cx="5657850"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0" i="0" u="none" strike="noStrike" cap="none">
                <a:solidFill>
                  <a:srgbClr val="76B900"/>
                </a:solidFill>
                <a:latin typeface="Inter SemiBold"/>
                <a:ea typeface="Inter SemiBold"/>
                <a:cs typeface="Inter SemiBold"/>
                <a:sym typeface="Inter SemiBold"/>
              </a:rPr>
              <a:t>Cyber Physical Systems Programming – Project</a:t>
            </a:r>
            <a:endParaRPr sz="2000"/>
          </a:p>
        </p:txBody>
      </p:sp>
      <p:sp>
        <p:nvSpPr>
          <p:cNvPr id="6" name="Google Shape;87;p13">
            <a:extLst>
              <a:ext uri="{FF2B5EF4-FFF2-40B4-BE49-F238E27FC236}">
                <a16:creationId xmlns:a16="http://schemas.microsoft.com/office/drawing/2014/main" id="{4095227A-2729-C570-D29E-C1E00D7C120B}"/>
              </a:ext>
            </a:extLst>
          </p:cNvPr>
          <p:cNvSpPr txBox="1"/>
          <p:nvPr/>
        </p:nvSpPr>
        <p:spPr>
          <a:xfrm>
            <a:off x="2671762" y="5116531"/>
            <a:ext cx="6848475" cy="39395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1" i="0" u="none" strike="noStrike" cap="none">
                <a:latin typeface="Inter"/>
                <a:ea typeface="Inter"/>
                <a:cs typeface="Inter"/>
                <a:sym typeface="Inter"/>
              </a:rPr>
              <a:t>Students:</a:t>
            </a:r>
            <a:r>
              <a:rPr lang="en-US" sz="1600" b="0" i="0" u="none" strike="noStrike" cap="none">
                <a:latin typeface="Inter"/>
                <a:ea typeface="Inter"/>
                <a:cs typeface="Inter"/>
                <a:sym typeface="Inter"/>
              </a:rPr>
              <a:t> Luca Samorì • Alexandru Zaporojanu • Tommaso Tieri</a:t>
            </a:r>
            <a:endParaRPr sz="2000"/>
          </a:p>
        </p:txBody>
      </p:sp>
      <p:sp>
        <p:nvSpPr>
          <p:cNvPr id="7" name="Google Shape;88;p13">
            <a:extLst>
              <a:ext uri="{FF2B5EF4-FFF2-40B4-BE49-F238E27FC236}">
                <a16:creationId xmlns:a16="http://schemas.microsoft.com/office/drawing/2014/main" id="{4AD09860-5649-1261-7E60-7A9508BBA4D6}"/>
              </a:ext>
            </a:extLst>
          </p:cNvPr>
          <p:cNvSpPr txBox="1"/>
          <p:nvPr/>
        </p:nvSpPr>
        <p:spPr>
          <a:xfrm>
            <a:off x="2671762" y="5611831"/>
            <a:ext cx="6848475" cy="39395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1" i="0" u="none" strike="noStrike" cap="none">
                <a:latin typeface="Inter"/>
                <a:ea typeface="Inter"/>
                <a:cs typeface="Inter"/>
                <a:sym typeface="Inter"/>
              </a:rPr>
              <a:t>Teacher:</a:t>
            </a:r>
            <a:r>
              <a:rPr lang="en-US" sz="1600" b="0" i="0" u="none" strike="noStrike" cap="none">
                <a:latin typeface="Inter"/>
                <a:ea typeface="Inter"/>
                <a:cs typeface="Inter"/>
                <a:sym typeface="Inter"/>
              </a:rPr>
              <a:t> Prof. Andrea Acquaviva  |  </a:t>
            </a:r>
            <a:r>
              <a:rPr lang="en-US" sz="1600" b="1" i="0" u="none" strike="noStrike" cap="none">
                <a:latin typeface="Inter"/>
                <a:ea typeface="Inter"/>
                <a:cs typeface="Inter"/>
                <a:sym typeface="Inter"/>
              </a:rPr>
              <a:t>Supervisor:</a:t>
            </a:r>
            <a:r>
              <a:rPr lang="en-US" sz="1600" b="0" i="0" u="none" strike="noStrike" cap="none">
                <a:latin typeface="Inter"/>
                <a:ea typeface="Inter"/>
                <a:cs typeface="Inter"/>
                <a:sym typeface="Inter"/>
              </a:rPr>
              <a:t> Dott. Sebastiano Mengozzi</a:t>
            </a:r>
            <a:endParaRPr sz="2000"/>
          </a:p>
        </p:txBody>
      </p:sp>
      <p:sp>
        <p:nvSpPr>
          <p:cNvPr id="8" name="Google Shape;126;p15">
            <a:extLst>
              <a:ext uri="{FF2B5EF4-FFF2-40B4-BE49-F238E27FC236}">
                <a16:creationId xmlns:a16="http://schemas.microsoft.com/office/drawing/2014/main" id="{3A83A588-B068-A49C-8F1D-F6BBE9F9C3A8}"/>
              </a:ext>
            </a:extLst>
          </p:cNvPr>
          <p:cNvSpPr/>
          <p:nvPr/>
        </p:nvSpPr>
        <p:spPr>
          <a:xfrm>
            <a:off x="581025" y="4707408"/>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Rectangle: Rounded Corners 8">
            <a:extLst>
              <a:ext uri="{FF2B5EF4-FFF2-40B4-BE49-F238E27FC236}">
                <a16:creationId xmlns:a16="http://schemas.microsoft.com/office/drawing/2014/main" id="{93CAA1E1-6F70-7968-E748-FB93F0648A00}"/>
              </a:ext>
            </a:extLst>
          </p:cNvPr>
          <p:cNvSpPr/>
          <p:nvPr/>
        </p:nvSpPr>
        <p:spPr>
          <a:xfrm>
            <a:off x="2769224" y="852215"/>
            <a:ext cx="6754400" cy="2969712"/>
          </a:xfrm>
          <a:prstGeom prst="round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5281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9;p14">
            <a:extLst>
              <a:ext uri="{FF2B5EF4-FFF2-40B4-BE49-F238E27FC236}">
                <a16:creationId xmlns:a16="http://schemas.microsoft.com/office/drawing/2014/main" id="{CCAD65FC-DD86-67F5-D1BB-6CEA8C31320E}"/>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The</a:t>
            </a:r>
            <a:r>
              <a:rPr lang="en-US" sz="3750" b="1" i="0" u="none" strike="noStrike" cap="none">
                <a:solidFill>
                  <a:srgbClr val="FFFFFF"/>
                </a:solidFill>
                <a:latin typeface="Urbanist"/>
                <a:ea typeface="Urbanist"/>
                <a:cs typeface="Urbanist"/>
                <a:sym typeface="Urbanist"/>
              </a:rPr>
              <a:t> </a:t>
            </a:r>
            <a:r>
              <a:rPr lang="en-US" sz="3750" b="1" i="0" u="none" strike="noStrike" cap="none">
                <a:solidFill>
                  <a:srgbClr val="76B900"/>
                </a:solidFill>
                <a:latin typeface="Urbanist"/>
                <a:ea typeface="Urbanist"/>
                <a:cs typeface="Urbanist"/>
                <a:sym typeface="Urbanist"/>
              </a:rPr>
              <a:t>Project</a:t>
            </a:r>
            <a:endParaRPr/>
          </a:p>
        </p:txBody>
      </p:sp>
      <p:sp>
        <p:nvSpPr>
          <p:cNvPr id="5" name="Google Shape;100;p14">
            <a:extLst>
              <a:ext uri="{FF2B5EF4-FFF2-40B4-BE49-F238E27FC236}">
                <a16:creationId xmlns:a16="http://schemas.microsoft.com/office/drawing/2014/main" id="{B5681029-9441-C5A2-85D9-CF41C97AADE6}"/>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95;p14">
            <a:extLst>
              <a:ext uri="{FF2B5EF4-FFF2-40B4-BE49-F238E27FC236}">
                <a16:creationId xmlns:a16="http://schemas.microsoft.com/office/drawing/2014/main" id="{F2976AB0-5FF9-2237-9F0A-2193EE456E6B}"/>
              </a:ext>
            </a:extLst>
          </p:cNvPr>
          <p:cNvSpPr txBox="1"/>
          <p:nvPr/>
        </p:nvSpPr>
        <p:spPr>
          <a:xfrm>
            <a:off x="844867" y="2610624"/>
            <a:ext cx="5276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latin typeface="Inter"/>
                <a:ea typeface="Inter"/>
                <a:cs typeface="Inter"/>
                <a:sym typeface="Inter"/>
              </a:rPr>
              <a:t>Extend the </a:t>
            </a:r>
            <a:r>
              <a:rPr lang="en-US" sz="1500" b="1" i="0" u="none" strike="noStrike" cap="none">
                <a:latin typeface="Inter"/>
                <a:ea typeface="Inter"/>
                <a:cs typeface="Inter"/>
                <a:sym typeface="Inter"/>
              </a:rPr>
              <a:t>Isaac Lab sensors library</a:t>
            </a:r>
            <a:r>
              <a:rPr lang="en-US" sz="1500" b="0" i="0" u="none" strike="noStrike" cap="none">
                <a:latin typeface="Inter"/>
                <a:ea typeface="Inter"/>
                <a:cs typeface="Inter"/>
                <a:sym typeface="Inter"/>
              </a:rPr>
              <a:t> with a custom ranger deck sensor tailored for navigation tasks.</a:t>
            </a:r>
            <a:endParaRPr/>
          </a:p>
        </p:txBody>
      </p:sp>
      <p:sp>
        <p:nvSpPr>
          <p:cNvPr id="7" name="Google Shape;94;p14">
            <a:extLst>
              <a:ext uri="{FF2B5EF4-FFF2-40B4-BE49-F238E27FC236}">
                <a16:creationId xmlns:a16="http://schemas.microsoft.com/office/drawing/2014/main" id="{E4525D10-5F5C-A4D2-E357-6FAE9A03F0FA}"/>
              </a:ext>
            </a:extLst>
          </p:cNvPr>
          <p:cNvSpPr txBox="1"/>
          <p:nvPr/>
        </p:nvSpPr>
        <p:spPr>
          <a:xfrm>
            <a:off x="581025" y="2333625"/>
            <a:ext cx="5540692" cy="276999"/>
          </a:xfrm>
          <a:prstGeom prst="rect">
            <a:avLst/>
          </a:prstGeom>
          <a:noFill/>
          <a:ln>
            <a:noFill/>
          </a:ln>
        </p:spPr>
        <p:txBody>
          <a:bodyPr spcFirstLastPara="1" wrap="square" lIns="0" tIns="0" rIns="0" bIns="0" anchor="t" anchorCtr="0">
            <a:spAutoFit/>
          </a:bodyPr>
          <a:lstStyle/>
          <a:p>
            <a:pPr marL="285750" marR="0" lvl="0" indent="-285750" algn="l" rtl="0">
              <a:spcBef>
                <a:spcPts val="0"/>
              </a:spcBef>
              <a:spcAft>
                <a:spcPts val="0"/>
              </a:spcAft>
              <a:buFont typeface="Wingdings" panose="05000000000000000000" pitchFamily="2" charset="2"/>
              <a:buChar char="Ø"/>
            </a:pPr>
            <a:r>
              <a:rPr lang="en-US" b="1" i="0" u="none" strike="noStrike" cap="none">
                <a:latin typeface="Urbanist"/>
                <a:ea typeface="Urbanist"/>
                <a:cs typeface="Urbanist"/>
                <a:sym typeface="Urbanist"/>
              </a:rPr>
              <a:t>Goal</a:t>
            </a:r>
            <a:endParaRPr/>
          </a:p>
        </p:txBody>
      </p:sp>
      <p:sp>
        <p:nvSpPr>
          <p:cNvPr id="8" name="Google Shape;96;p14">
            <a:extLst>
              <a:ext uri="{FF2B5EF4-FFF2-40B4-BE49-F238E27FC236}">
                <a16:creationId xmlns:a16="http://schemas.microsoft.com/office/drawing/2014/main" id="{BEE5F841-6C2D-FA6D-2604-C1DE5CEF2DBF}"/>
              </a:ext>
            </a:extLst>
          </p:cNvPr>
          <p:cNvSpPr txBox="1"/>
          <p:nvPr/>
        </p:nvSpPr>
        <p:spPr>
          <a:xfrm>
            <a:off x="581025" y="3733800"/>
            <a:ext cx="5540692" cy="276999"/>
          </a:xfrm>
          <a:prstGeom prst="rect">
            <a:avLst/>
          </a:prstGeom>
          <a:noFill/>
          <a:ln>
            <a:noFill/>
          </a:ln>
        </p:spPr>
        <p:txBody>
          <a:bodyPr spcFirstLastPara="1" wrap="square" lIns="0" tIns="0" rIns="0" bIns="0" anchor="t" anchorCtr="0">
            <a:spAutoFit/>
          </a:bodyPr>
          <a:lstStyle/>
          <a:p>
            <a:pPr marL="285750" marR="0" lvl="0" indent="-285750" algn="l" rtl="0">
              <a:spcBef>
                <a:spcPts val="0"/>
              </a:spcBef>
              <a:spcAft>
                <a:spcPts val="0"/>
              </a:spcAft>
              <a:buFont typeface="Wingdings" panose="05000000000000000000" pitchFamily="2" charset="2"/>
              <a:buChar char="Ø"/>
            </a:pPr>
            <a:r>
              <a:rPr lang="en-US" b="1" i="0" u="none" strike="noStrike" cap="none">
                <a:latin typeface="Urbanist"/>
                <a:ea typeface="Urbanist"/>
                <a:cs typeface="Urbanist"/>
                <a:sym typeface="Urbanist"/>
              </a:rPr>
              <a:t>Description</a:t>
            </a:r>
            <a:endParaRPr/>
          </a:p>
        </p:txBody>
      </p:sp>
      <p:sp>
        <p:nvSpPr>
          <p:cNvPr id="9" name="Google Shape;97;p14">
            <a:extLst>
              <a:ext uri="{FF2B5EF4-FFF2-40B4-BE49-F238E27FC236}">
                <a16:creationId xmlns:a16="http://schemas.microsoft.com/office/drawing/2014/main" id="{FC2B2741-14FE-17B5-0213-E6E02C4F0026}"/>
              </a:ext>
            </a:extLst>
          </p:cNvPr>
          <p:cNvSpPr txBox="1"/>
          <p:nvPr/>
        </p:nvSpPr>
        <p:spPr>
          <a:xfrm>
            <a:off x="844867" y="4010799"/>
            <a:ext cx="527685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latin typeface="Inter"/>
                <a:ea typeface="Inter"/>
                <a:cs typeface="Inter"/>
                <a:sym typeface="Inter"/>
              </a:rPr>
              <a:t>Create a custom software library to implement the Multi-Ranger Deck sensor within the Isaac Lab simulation environment, ensuring accurate environmental perception for drones.</a:t>
            </a:r>
            <a:endParaRPr/>
          </a:p>
        </p:txBody>
      </p:sp>
      <p:pic>
        <p:nvPicPr>
          <p:cNvPr id="10" name="Picture 9">
            <a:extLst>
              <a:ext uri="{FF2B5EF4-FFF2-40B4-BE49-F238E27FC236}">
                <a16:creationId xmlns:a16="http://schemas.microsoft.com/office/drawing/2014/main" id="{2ACF7B62-3B4C-2076-1117-D130D820E2E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82704" y="5553075"/>
            <a:ext cx="1273491" cy="954108"/>
          </a:xfrm>
          <a:prstGeom prst="rect">
            <a:avLst/>
          </a:prstGeom>
        </p:spPr>
      </p:pic>
      <p:pic>
        <p:nvPicPr>
          <p:cNvPr id="11" name="Picture 10">
            <a:extLst>
              <a:ext uri="{FF2B5EF4-FFF2-40B4-BE49-F238E27FC236}">
                <a16:creationId xmlns:a16="http://schemas.microsoft.com/office/drawing/2014/main" id="{5058AC5F-AD68-2C9F-AB97-41EFDFC7D61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388185" y="4776754"/>
            <a:ext cx="3151996" cy="776321"/>
          </a:xfrm>
          <a:prstGeom prst="rect">
            <a:avLst/>
          </a:prstGeom>
        </p:spPr>
      </p:pic>
      <p:pic>
        <p:nvPicPr>
          <p:cNvPr id="14" name="Picture 13">
            <a:extLst>
              <a:ext uri="{FF2B5EF4-FFF2-40B4-BE49-F238E27FC236}">
                <a16:creationId xmlns:a16="http://schemas.microsoft.com/office/drawing/2014/main" id="{11111169-B8C0-E7E0-0354-A465EA6CC6A3}"/>
              </a:ext>
            </a:extLst>
          </p:cNvPr>
          <p:cNvPicPr>
            <a:picLocks noChangeAspect="1"/>
          </p:cNvPicPr>
          <p:nvPr/>
        </p:nvPicPr>
        <p:blipFill>
          <a:blip r:embed="rId4"/>
          <a:stretch>
            <a:fillRect/>
          </a:stretch>
        </p:blipFill>
        <p:spPr>
          <a:xfrm>
            <a:off x="7471759" y="2025893"/>
            <a:ext cx="3068422" cy="2748403"/>
          </a:xfrm>
          <a:prstGeom prst="rect">
            <a:avLst/>
          </a:prstGeom>
        </p:spPr>
      </p:pic>
    </p:spTree>
    <p:extLst>
      <p:ext uri="{BB962C8B-B14F-4D97-AF65-F5344CB8AC3E}">
        <p14:creationId xmlns:p14="http://schemas.microsoft.com/office/powerpoint/2010/main" val="676447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54;p17" descr="image.png">
            <a:extLst>
              <a:ext uri="{FF2B5EF4-FFF2-40B4-BE49-F238E27FC236}">
                <a16:creationId xmlns:a16="http://schemas.microsoft.com/office/drawing/2014/main" id="{7CF899FE-5A3B-4FDA-0820-30B903D58DBD}"/>
              </a:ext>
            </a:extLst>
          </p:cNvPr>
          <p:cNvPicPr preferRelativeResize="0"/>
          <p:nvPr/>
        </p:nvPicPr>
        <p:blipFill rotWithShape="1">
          <a:blip r:embed="rId2">
            <a:alphaModFix/>
          </a:blip>
          <a:srcRect/>
          <a:stretch/>
        </p:blipFill>
        <p:spPr>
          <a:xfrm rot="5400000">
            <a:off x="633412" y="4034474"/>
            <a:ext cx="2419350" cy="2543175"/>
          </a:xfrm>
          <a:prstGeom prst="rect">
            <a:avLst/>
          </a:prstGeom>
          <a:noFill/>
          <a:ln>
            <a:noFill/>
          </a:ln>
        </p:spPr>
      </p:pic>
      <p:pic>
        <p:nvPicPr>
          <p:cNvPr id="6" name="Google Shape;154;p17" descr="image.png">
            <a:extLst>
              <a:ext uri="{FF2B5EF4-FFF2-40B4-BE49-F238E27FC236}">
                <a16:creationId xmlns:a16="http://schemas.microsoft.com/office/drawing/2014/main" id="{D32AC25A-2DF6-7E10-D739-11E3DF916BFE}"/>
              </a:ext>
            </a:extLst>
          </p:cNvPr>
          <p:cNvPicPr preferRelativeResize="0"/>
          <p:nvPr/>
        </p:nvPicPr>
        <p:blipFill rotWithShape="1">
          <a:blip r:embed="rId2">
            <a:alphaModFix/>
          </a:blip>
          <a:srcRect/>
          <a:stretch/>
        </p:blipFill>
        <p:spPr>
          <a:xfrm>
            <a:off x="581022" y="1457324"/>
            <a:ext cx="6456261" cy="1895476"/>
          </a:xfrm>
          <a:prstGeom prst="rect">
            <a:avLst/>
          </a:prstGeom>
          <a:noFill/>
          <a:ln>
            <a:noFill/>
          </a:ln>
        </p:spPr>
      </p:pic>
      <p:sp>
        <p:nvSpPr>
          <p:cNvPr id="21" name="Google Shape;125;p15">
            <a:extLst>
              <a:ext uri="{FF2B5EF4-FFF2-40B4-BE49-F238E27FC236}">
                <a16:creationId xmlns:a16="http://schemas.microsoft.com/office/drawing/2014/main" id="{EFFD8EDC-3EAF-451C-E73B-718FBDF0CCC3}"/>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How it works: </a:t>
            </a:r>
            <a:r>
              <a:rPr lang="en-US" sz="3750" b="1" i="0" u="none" strike="noStrike" cap="none">
                <a:solidFill>
                  <a:srgbClr val="76B900"/>
                </a:solidFill>
                <a:latin typeface="Urbanist"/>
                <a:ea typeface="Urbanist"/>
                <a:cs typeface="Urbanist"/>
                <a:sym typeface="Urbanist"/>
              </a:rPr>
              <a:t>Multi-Ranger Deck</a:t>
            </a:r>
            <a:endParaRPr/>
          </a:p>
        </p:txBody>
      </p:sp>
      <p:sp>
        <p:nvSpPr>
          <p:cNvPr id="22" name="Google Shape;126;p15">
            <a:extLst>
              <a:ext uri="{FF2B5EF4-FFF2-40B4-BE49-F238E27FC236}">
                <a16:creationId xmlns:a16="http://schemas.microsoft.com/office/drawing/2014/main" id="{8598F3B3-AF25-AB68-4E53-B90B3938E203}"/>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111;p15">
            <a:extLst>
              <a:ext uri="{FF2B5EF4-FFF2-40B4-BE49-F238E27FC236}">
                <a16:creationId xmlns:a16="http://schemas.microsoft.com/office/drawing/2014/main" id="{198E7CB0-1864-0A11-AD40-43F41FFB0E92}"/>
              </a:ext>
            </a:extLst>
          </p:cNvPr>
          <p:cNvSpPr txBox="1"/>
          <p:nvPr/>
        </p:nvSpPr>
        <p:spPr>
          <a:xfrm>
            <a:off x="747710" y="1666398"/>
            <a:ext cx="6597445" cy="147732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1" u="none" strike="noStrike" cap="none">
                <a:solidFill>
                  <a:srgbClr val="000000"/>
                </a:solidFill>
                <a:latin typeface="Inter"/>
                <a:ea typeface="Inter"/>
                <a:cs typeface="Inter"/>
                <a:sym typeface="Inter"/>
              </a:rPr>
              <a:t> "The </a:t>
            </a:r>
            <a:r>
              <a:rPr lang="en-US" sz="1600" b="0" i="1" u="none" strike="noStrike" cap="none" err="1">
                <a:solidFill>
                  <a:srgbClr val="000000"/>
                </a:solidFill>
                <a:latin typeface="Inter"/>
                <a:ea typeface="Inter"/>
                <a:cs typeface="Inter"/>
                <a:sym typeface="Inter"/>
              </a:rPr>
              <a:t>Crazyflie</a:t>
            </a:r>
            <a:r>
              <a:rPr lang="en-US" sz="1600" b="0" i="1" u="none" strike="noStrike" cap="none">
                <a:solidFill>
                  <a:srgbClr val="000000"/>
                </a:solidFill>
                <a:latin typeface="Inter"/>
                <a:ea typeface="Inter"/>
                <a:cs typeface="Inter"/>
                <a:sym typeface="Inter"/>
              </a:rPr>
              <a:t> Multi-ranger deck gives the </a:t>
            </a:r>
            <a:r>
              <a:rPr lang="en-US" sz="1600" b="0" i="1" u="none" strike="noStrike" cap="none" err="1">
                <a:solidFill>
                  <a:srgbClr val="000000"/>
                </a:solidFill>
                <a:latin typeface="Inter"/>
                <a:ea typeface="Inter"/>
                <a:cs typeface="Inter"/>
                <a:sym typeface="Inter"/>
              </a:rPr>
              <a:t>Crazyflie</a:t>
            </a:r>
            <a:r>
              <a:rPr lang="en-US" sz="1600" b="0" i="1" u="none" strike="noStrike" cap="none">
                <a:solidFill>
                  <a:srgbClr val="000000"/>
                </a:solidFill>
                <a:latin typeface="Inter"/>
                <a:ea typeface="Inter"/>
                <a:cs typeface="Inter"/>
                <a:sym typeface="Inter"/>
              </a:rPr>
              <a:t> 2.X the ability to detect objects around it. This is done by measuring the distance to objects in the following </a:t>
            </a:r>
            <a:r>
              <a:rPr lang="en-US" sz="1600" b="1" i="1" u="none" strike="noStrike" cap="none">
                <a:solidFill>
                  <a:srgbClr val="000000"/>
                </a:solidFill>
                <a:latin typeface="Inter"/>
                <a:ea typeface="Inter"/>
                <a:cs typeface="Inter"/>
                <a:sym typeface="Inter"/>
              </a:rPr>
              <a:t>5 directions: front/back/left/right/up</a:t>
            </a:r>
            <a:r>
              <a:rPr lang="en-US" sz="1600" b="0" i="1" u="none" strike="noStrike" cap="none">
                <a:solidFill>
                  <a:srgbClr val="000000"/>
                </a:solidFill>
                <a:latin typeface="Inter"/>
                <a:ea typeface="Inter"/>
                <a:cs typeface="Inter"/>
                <a:sym typeface="Inter"/>
              </a:rPr>
              <a:t> with mm precision up to 4 meters." </a:t>
            </a:r>
            <a:r>
              <a:rPr lang="en-US" sz="1200">
                <a:solidFill>
                  <a:srgbClr val="000000"/>
                </a:solidFill>
                <a:latin typeface="Inter"/>
                <a:ea typeface="Inter"/>
                <a:cs typeface="Inter"/>
                <a:sym typeface="Inter"/>
              </a:rPr>
              <a:t>[1]</a:t>
            </a:r>
            <a:endParaRPr lang="en-US" sz="1200"/>
          </a:p>
        </p:txBody>
      </p:sp>
      <p:pic>
        <p:nvPicPr>
          <p:cNvPr id="3" name="Google Shape;113;p15" descr="image.png">
            <a:extLst>
              <a:ext uri="{FF2B5EF4-FFF2-40B4-BE49-F238E27FC236}">
                <a16:creationId xmlns:a16="http://schemas.microsoft.com/office/drawing/2014/main" id="{B96EFDAB-A1FA-9CA9-0ECB-D2661DA0BC02}"/>
              </a:ext>
            </a:extLst>
          </p:cNvPr>
          <p:cNvPicPr preferRelativeResize="0"/>
          <p:nvPr/>
        </p:nvPicPr>
        <p:blipFill rotWithShape="1">
          <a:blip r:embed="rId3">
            <a:alphaModFix/>
          </a:blip>
          <a:srcRect/>
          <a:stretch/>
        </p:blipFill>
        <p:spPr>
          <a:xfrm>
            <a:off x="1681164" y="4420236"/>
            <a:ext cx="342900" cy="342900"/>
          </a:xfrm>
          <a:prstGeom prst="rect">
            <a:avLst/>
          </a:prstGeom>
          <a:noFill/>
          <a:ln>
            <a:noFill/>
          </a:ln>
        </p:spPr>
      </p:pic>
      <p:sp>
        <p:nvSpPr>
          <p:cNvPr id="24" name="Google Shape;114;p15">
            <a:extLst>
              <a:ext uri="{FF2B5EF4-FFF2-40B4-BE49-F238E27FC236}">
                <a16:creationId xmlns:a16="http://schemas.microsoft.com/office/drawing/2014/main" id="{3F3CA39E-CB0B-2543-F364-7EC4872C707E}"/>
              </a:ext>
            </a:extLst>
          </p:cNvPr>
          <p:cNvSpPr txBox="1"/>
          <p:nvPr/>
        </p:nvSpPr>
        <p:spPr>
          <a:xfrm>
            <a:off x="827486" y="4953636"/>
            <a:ext cx="2050256"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latin typeface="Urbanist"/>
                <a:ea typeface="Urbanist"/>
                <a:cs typeface="Urbanist"/>
                <a:sym typeface="Urbanist"/>
              </a:rPr>
              <a:t>5 Axes</a:t>
            </a:r>
            <a:endParaRPr/>
          </a:p>
        </p:txBody>
      </p:sp>
      <p:sp>
        <p:nvSpPr>
          <p:cNvPr id="25" name="Google Shape;115;p15">
            <a:extLst>
              <a:ext uri="{FF2B5EF4-FFF2-40B4-BE49-F238E27FC236}">
                <a16:creationId xmlns:a16="http://schemas.microsoft.com/office/drawing/2014/main" id="{B1B28273-783F-CFF0-6C48-113BDA0C0671}"/>
              </a:ext>
            </a:extLst>
          </p:cNvPr>
          <p:cNvSpPr txBox="1"/>
          <p:nvPr/>
        </p:nvSpPr>
        <p:spPr>
          <a:xfrm>
            <a:off x="876302" y="5420361"/>
            <a:ext cx="1952625" cy="73866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latin typeface="Inter"/>
                <a:ea typeface="Inter"/>
                <a:cs typeface="Inter"/>
                <a:sym typeface="Inter"/>
              </a:rPr>
              <a:t>Omnidirectional sensing</a:t>
            </a:r>
            <a:endParaRPr/>
          </a:p>
        </p:txBody>
      </p:sp>
      <p:pic>
        <p:nvPicPr>
          <p:cNvPr id="26" name="Google Shape;154;p17" descr="image.png">
            <a:extLst>
              <a:ext uri="{FF2B5EF4-FFF2-40B4-BE49-F238E27FC236}">
                <a16:creationId xmlns:a16="http://schemas.microsoft.com/office/drawing/2014/main" id="{1E0C64BA-8DD9-C676-A1D3-F05D6F3814CF}"/>
              </a:ext>
            </a:extLst>
          </p:cNvPr>
          <p:cNvPicPr preferRelativeResize="0"/>
          <p:nvPr/>
        </p:nvPicPr>
        <p:blipFill rotWithShape="1">
          <a:blip r:embed="rId2">
            <a:alphaModFix/>
          </a:blip>
          <a:srcRect/>
          <a:stretch/>
        </p:blipFill>
        <p:spPr>
          <a:xfrm rot="5400000">
            <a:off x="3471865" y="4034474"/>
            <a:ext cx="2419350" cy="2543175"/>
          </a:xfrm>
          <a:prstGeom prst="rect">
            <a:avLst/>
          </a:prstGeom>
          <a:noFill/>
          <a:ln>
            <a:noFill/>
          </a:ln>
        </p:spPr>
      </p:pic>
      <p:pic>
        <p:nvPicPr>
          <p:cNvPr id="27" name="Google Shape;116;p15" descr="image.png">
            <a:extLst>
              <a:ext uri="{FF2B5EF4-FFF2-40B4-BE49-F238E27FC236}">
                <a16:creationId xmlns:a16="http://schemas.microsoft.com/office/drawing/2014/main" id="{2C70CB6D-2A3E-F55D-3ABC-91268C5CFA6D}"/>
              </a:ext>
            </a:extLst>
          </p:cNvPr>
          <p:cNvPicPr preferRelativeResize="0"/>
          <p:nvPr/>
        </p:nvPicPr>
        <p:blipFill rotWithShape="1">
          <a:blip r:embed="rId4">
            <a:alphaModFix/>
          </a:blip>
          <a:srcRect/>
          <a:stretch/>
        </p:blipFill>
        <p:spPr>
          <a:xfrm>
            <a:off x="4510089" y="4420236"/>
            <a:ext cx="342900" cy="342900"/>
          </a:xfrm>
          <a:prstGeom prst="rect">
            <a:avLst/>
          </a:prstGeom>
          <a:noFill/>
          <a:ln>
            <a:noFill/>
          </a:ln>
        </p:spPr>
      </p:pic>
      <p:sp>
        <p:nvSpPr>
          <p:cNvPr id="28" name="Google Shape;117;p15">
            <a:extLst>
              <a:ext uri="{FF2B5EF4-FFF2-40B4-BE49-F238E27FC236}">
                <a16:creationId xmlns:a16="http://schemas.microsoft.com/office/drawing/2014/main" id="{2B182386-2392-58FF-0769-332C35F1BDAD}"/>
              </a:ext>
            </a:extLst>
          </p:cNvPr>
          <p:cNvSpPr txBox="1"/>
          <p:nvPr/>
        </p:nvSpPr>
        <p:spPr>
          <a:xfrm>
            <a:off x="3656411" y="4953636"/>
            <a:ext cx="2050256"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latin typeface="Urbanist"/>
                <a:ea typeface="Urbanist"/>
                <a:cs typeface="Urbanist"/>
                <a:sym typeface="Urbanist"/>
              </a:rPr>
              <a:t>4 Meters</a:t>
            </a:r>
            <a:endParaRPr/>
          </a:p>
        </p:txBody>
      </p:sp>
      <p:sp>
        <p:nvSpPr>
          <p:cNvPr id="29" name="Google Shape;118;p15">
            <a:extLst>
              <a:ext uri="{FF2B5EF4-FFF2-40B4-BE49-F238E27FC236}">
                <a16:creationId xmlns:a16="http://schemas.microsoft.com/office/drawing/2014/main" id="{459B74BB-6B4D-E1FB-0561-3DE9B6A0A333}"/>
              </a:ext>
            </a:extLst>
          </p:cNvPr>
          <p:cNvSpPr txBox="1"/>
          <p:nvPr/>
        </p:nvSpPr>
        <p:spPr>
          <a:xfrm>
            <a:off x="3705227" y="5420361"/>
            <a:ext cx="195262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latin typeface="Inter"/>
                <a:ea typeface="Inter"/>
                <a:cs typeface="Inter"/>
                <a:sym typeface="Inter"/>
              </a:rPr>
              <a:t>Maximum range</a:t>
            </a:r>
            <a:endParaRPr/>
          </a:p>
        </p:txBody>
      </p:sp>
      <p:pic>
        <p:nvPicPr>
          <p:cNvPr id="30" name="Google Shape;154;p17" descr="image.png">
            <a:extLst>
              <a:ext uri="{FF2B5EF4-FFF2-40B4-BE49-F238E27FC236}">
                <a16:creationId xmlns:a16="http://schemas.microsoft.com/office/drawing/2014/main" id="{1123C9C8-4147-7738-7EC7-536691296ECE}"/>
              </a:ext>
            </a:extLst>
          </p:cNvPr>
          <p:cNvPicPr preferRelativeResize="0"/>
          <p:nvPr/>
        </p:nvPicPr>
        <p:blipFill rotWithShape="1">
          <a:blip r:embed="rId2">
            <a:alphaModFix/>
          </a:blip>
          <a:srcRect/>
          <a:stretch/>
        </p:blipFill>
        <p:spPr>
          <a:xfrm rot="5400000">
            <a:off x="6310315" y="4034474"/>
            <a:ext cx="2419350" cy="2543175"/>
          </a:xfrm>
          <a:prstGeom prst="rect">
            <a:avLst/>
          </a:prstGeom>
          <a:noFill/>
          <a:ln>
            <a:noFill/>
          </a:ln>
        </p:spPr>
      </p:pic>
      <p:pic>
        <p:nvPicPr>
          <p:cNvPr id="31" name="Google Shape;154;p17" descr="image.png">
            <a:extLst>
              <a:ext uri="{FF2B5EF4-FFF2-40B4-BE49-F238E27FC236}">
                <a16:creationId xmlns:a16="http://schemas.microsoft.com/office/drawing/2014/main" id="{D18418F6-4BC0-6312-E29F-0D910F1EB45A}"/>
              </a:ext>
            </a:extLst>
          </p:cNvPr>
          <p:cNvPicPr preferRelativeResize="0"/>
          <p:nvPr/>
        </p:nvPicPr>
        <p:blipFill rotWithShape="1">
          <a:blip r:embed="rId2">
            <a:alphaModFix/>
          </a:blip>
          <a:srcRect/>
          <a:stretch/>
        </p:blipFill>
        <p:spPr>
          <a:xfrm rot="5400000">
            <a:off x="9129716" y="4034474"/>
            <a:ext cx="2419350" cy="2543175"/>
          </a:xfrm>
          <a:prstGeom prst="rect">
            <a:avLst/>
          </a:prstGeom>
          <a:noFill/>
          <a:ln>
            <a:noFill/>
          </a:ln>
        </p:spPr>
      </p:pic>
      <p:pic>
        <p:nvPicPr>
          <p:cNvPr id="32" name="Google Shape;119;p15" descr="image.png">
            <a:extLst>
              <a:ext uri="{FF2B5EF4-FFF2-40B4-BE49-F238E27FC236}">
                <a16:creationId xmlns:a16="http://schemas.microsoft.com/office/drawing/2014/main" id="{88293E70-D54A-BBEB-1864-7DA57E4A9326}"/>
              </a:ext>
            </a:extLst>
          </p:cNvPr>
          <p:cNvPicPr preferRelativeResize="0"/>
          <p:nvPr/>
        </p:nvPicPr>
        <p:blipFill rotWithShape="1">
          <a:blip r:embed="rId5">
            <a:alphaModFix/>
          </a:blip>
          <a:srcRect/>
          <a:stretch/>
        </p:blipFill>
        <p:spPr>
          <a:xfrm>
            <a:off x="7339014" y="4420236"/>
            <a:ext cx="342900" cy="342900"/>
          </a:xfrm>
          <a:prstGeom prst="rect">
            <a:avLst/>
          </a:prstGeom>
          <a:noFill/>
          <a:ln>
            <a:noFill/>
          </a:ln>
        </p:spPr>
      </p:pic>
      <p:sp>
        <p:nvSpPr>
          <p:cNvPr id="33" name="Google Shape;120;p15">
            <a:extLst>
              <a:ext uri="{FF2B5EF4-FFF2-40B4-BE49-F238E27FC236}">
                <a16:creationId xmlns:a16="http://schemas.microsoft.com/office/drawing/2014/main" id="{5251F28B-4D28-E76B-3A37-5C2A49124551}"/>
              </a:ext>
            </a:extLst>
          </p:cNvPr>
          <p:cNvSpPr txBox="1"/>
          <p:nvPr/>
        </p:nvSpPr>
        <p:spPr>
          <a:xfrm>
            <a:off x="6485336" y="4953636"/>
            <a:ext cx="2050256"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latin typeface="Urbanist"/>
                <a:ea typeface="Urbanist"/>
                <a:cs typeface="Urbanist"/>
                <a:sym typeface="Urbanist"/>
              </a:rPr>
              <a:t>mm Precision</a:t>
            </a:r>
            <a:endParaRPr/>
          </a:p>
        </p:txBody>
      </p:sp>
      <p:sp>
        <p:nvSpPr>
          <p:cNvPr id="34" name="Google Shape;121;p15">
            <a:extLst>
              <a:ext uri="{FF2B5EF4-FFF2-40B4-BE49-F238E27FC236}">
                <a16:creationId xmlns:a16="http://schemas.microsoft.com/office/drawing/2014/main" id="{544EFB03-54FC-1C0D-92E0-D3F9E6D11613}"/>
              </a:ext>
            </a:extLst>
          </p:cNvPr>
          <p:cNvSpPr txBox="1"/>
          <p:nvPr/>
        </p:nvSpPr>
        <p:spPr>
          <a:xfrm>
            <a:off x="6534152" y="5420361"/>
            <a:ext cx="195262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latin typeface="Inter"/>
                <a:ea typeface="Inter"/>
                <a:cs typeface="Inter"/>
                <a:sym typeface="Inter"/>
              </a:rPr>
              <a:t>High accuracy</a:t>
            </a:r>
            <a:endParaRPr/>
          </a:p>
        </p:txBody>
      </p:sp>
      <p:pic>
        <p:nvPicPr>
          <p:cNvPr id="35" name="Google Shape;122;p15" descr="image.png">
            <a:extLst>
              <a:ext uri="{FF2B5EF4-FFF2-40B4-BE49-F238E27FC236}">
                <a16:creationId xmlns:a16="http://schemas.microsoft.com/office/drawing/2014/main" id="{13D78DA8-16E5-F45D-9B3C-27B0734D45CD}"/>
              </a:ext>
            </a:extLst>
          </p:cNvPr>
          <p:cNvPicPr preferRelativeResize="0"/>
          <p:nvPr/>
        </p:nvPicPr>
        <p:blipFill rotWithShape="1">
          <a:blip r:embed="rId6">
            <a:alphaModFix/>
          </a:blip>
          <a:srcRect/>
          <a:stretch/>
        </p:blipFill>
        <p:spPr>
          <a:xfrm>
            <a:off x="10167939" y="4420236"/>
            <a:ext cx="342900" cy="342900"/>
          </a:xfrm>
          <a:prstGeom prst="rect">
            <a:avLst/>
          </a:prstGeom>
          <a:noFill/>
          <a:ln>
            <a:noFill/>
          </a:ln>
        </p:spPr>
      </p:pic>
      <p:sp>
        <p:nvSpPr>
          <p:cNvPr id="36" name="Google Shape;123;p15">
            <a:extLst>
              <a:ext uri="{FF2B5EF4-FFF2-40B4-BE49-F238E27FC236}">
                <a16:creationId xmlns:a16="http://schemas.microsoft.com/office/drawing/2014/main" id="{4D5CF041-0DBD-2DC1-F19B-6204551730B0}"/>
              </a:ext>
            </a:extLst>
          </p:cNvPr>
          <p:cNvSpPr txBox="1"/>
          <p:nvPr/>
        </p:nvSpPr>
        <p:spPr>
          <a:xfrm>
            <a:off x="9314261" y="4953636"/>
            <a:ext cx="2050256"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latin typeface="Urbanist"/>
                <a:ea typeface="Urbanist"/>
                <a:cs typeface="Urbanist"/>
                <a:sym typeface="Urbanist"/>
              </a:rPr>
              <a:t>VL53L1x</a:t>
            </a:r>
            <a:endParaRPr/>
          </a:p>
        </p:txBody>
      </p:sp>
      <p:sp>
        <p:nvSpPr>
          <p:cNvPr id="37" name="Google Shape;124;p15">
            <a:extLst>
              <a:ext uri="{FF2B5EF4-FFF2-40B4-BE49-F238E27FC236}">
                <a16:creationId xmlns:a16="http://schemas.microsoft.com/office/drawing/2014/main" id="{9DFC8F46-1120-49A2-78DF-4D0BD09A5E6C}"/>
              </a:ext>
            </a:extLst>
          </p:cNvPr>
          <p:cNvSpPr txBox="1"/>
          <p:nvPr/>
        </p:nvSpPr>
        <p:spPr>
          <a:xfrm>
            <a:off x="9363077" y="5420361"/>
            <a:ext cx="1952625" cy="36933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latin typeface="Inter"/>
                <a:ea typeface="Inter"/>
                <a:cs typeface="Inter"/>
                <a:sym typeface="Inter"/>
              </a:rPr>
              <a:t>5x ToF Sensors</a:t>
            </a:r>
            <a:endParaRPr/>
          </a:p>
        </p:txBody>
      </p:sp>
      <p:pic>
        <p:nvPicPr>
          <p:cNvPr id="5" name="Picture 4">
            <a:extLst>
              <a:ext uri="{FF2B5EF4-FFF2-40B4-BE49-F238E27FC236}">
                <a16:creationId xmlns:a16="http://schemas.microsoft.com/office/drawing/2014/main" id="{D6A2E89D-410D-008B-8099-D03CDA630A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90670" y="1407464"/>
            <a:ext cx="3050956" cy="2138071"/>
          </a:xfrm>
          <a:prstGeom prst="rect">
            <a:avLst/>
          </a:prstGeom>
        </p:spPr>
      </p:pic>
      <p:sp>
        <p:nvSpPr>
          <p:cNvPr id="4" name="Google Shape;115;p15">
            <a:extLst>
              <a:ext uri="{FF2B5EF4-FFF2-40B4-BE49-F238E27FC236}">
                <a16:creationId xmlns:a16="http://schemas.microsoft.com/office/drawing/2014/main" id="{4F3E696F-2C11-BE1F-5B72-F06CD4F244B0}"/>
              </a:ext>
            </a:extLst>
          </p:cNvPr>
          <p:cNvSpPr txBox="1"/>
          <p:nvPr/>
        </p:nvSpPr>
        <p:spPr>
          <a:xfrm>
            <a:off x="571499" y="3644464"/>
            <a:ext cx="1877061" cy="443198"/>
          </a:xfrm>
          <a:prstGeom prst="rect">
            <a:avLst/>
          </a:prstGeom>
          <a:noFill/>
          <a:ln>
            <a:noFill/>
          </a:ln>
        </p:spPr>
        <p:txBody>
          <a:bodyPr spcFirstLastPara="1" wrap="square" lIns="0" tIns="0" rIns="0" bIns="0" anchor="t" anchorCtr="0">
            <a:spAutoFit/>
          </a:bodyPr>
          <a:lstStyle/>
          <a:p>
            <a:pPr marL="0" marR="0" lvl="0" indent="0" rtl="0">
              <a:lnSpc>
                <a:spcPct val="160000"/>
              </a:lnSpc>
              <a:spcBef>
                <a:spcPts val="0"/>
              </a:spcBef>
              <a:spcAft>
                <a:spcPts val="0"/>
              </a:spcAft>
              <a:buNone/>
            </a:pPr>
            <a:r>
              <a:rPr lang="it-IT" b="1">
                <a:latin typeface="Inter"/>
              </a:rPr>
              <a:t>Data Sheet Sensor:</a:t>
            </a:r>
            <a:endParaRPr b="1">
              <a:latin typeface="Inter"/>
            </a:endParaRPr>
          </a:p>
        </p:txBody>
      </p:sp>
    </p:spTree>
    <p:extLst>
      <p:ext uri="{BB962C8B-B14F-4D97-AF65-F5344CB8AC3E}">
        <p14:creationId xmlns:p14="http://schemas.microsoft.com/office/powerpoint/2010/main" val="3315290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2BC0BA64-72B1-503F-3B8A-06833A9B71FE}"/>
              </a:ext>
            </a:extLst>
          </p:cNvPr>
          <p:cNvGrpSpPr/>
          <p:nvPr/>
        </p:nvGrpSpPr>
        <p:grpSpPr>
          <a:xfrm>
            <a:off x="581026" y="1784809"/>
            <a:ext cx="5514975" cy="3859676"/>
            <a:chOff x="570578" y="2327855"/>
            <a:chExt cx="5287297" cy="3521173"/>
          </a:xfrm>
        </p:grpSpPr>
        <p:sp>
          <p:nvSpPr>
            <p:cNvPr id="4" name="Google Shape;134;p16">
              <a:extLst>
                <a:ext uri="{FF2B5EF4-FFF2-40B4-BE49-F238E27FC236}">
                  <a16:creationId xmlns:a16="http://schemas.microsoft.com/office/drawing/2014/main" id="{05961461-3D57-7EE1-B11F-48DF6908C76E}"/>
                </a:ext>
              </a:extLst>
            </p:cNvPr>
            <p:cNvSpPr txBox="1"/>
            <p:nvPr/>
          </p:nvSpPr>
          <p:spPr>
            <a:xfrm>
              <a:off x="866774" y="2327855"/>
              <a:ext cx="4991099"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a:latin typeface="Inter"/>
                  <a:ea typeface="Inter"/>
                  <a:cs typeface="Inter"/>
                  <a:sym typeface="Inter"/>
                </a:rPr>
                <a:t>Mechanical:</a:t>
              </a:r>
              <a:r>
                <a:rPr lang="en-US" sz="1600" b="0" i="0" u="none" strike="noStrike" cap="none" dirty="0">
                  <a:latin typeface="Inter"/>
                  <a:ea typeface="Inter"/>
                  <a:cs typeface="Inter"/>
                  <a:sym typeface="Inter"/>
                </a:rPr>
                <a:t> Weight: 2.3g | Size (</a:t>
              </a:r>
              <a:r>
                <a:rPr lang="en-US" sz="1600" b="0" i="0" u="none" strike="noStrike" cap="none" dirty="0" err="1">
                  <a:latin typeface="Inter"/>
                  <a:ea typeface="Inter"/>
                  <a:cs typeface="Inter"/>
                  <a:sym typeface="Inter"/>
                </a:rPr>
                <a:t>WxHxD</a:t>
              </a:r>
              <a:r>
                <a:rPr lang="en-US" sz="1600" b="0" i="0" u="none" strike="noStrike" cap="none" dirty="0">
                  <a:latin typeface="Inter"/>
                  <a:ea typeface="Inter"/>
                  <a:cs typeface="Inter"/>
                  <a:sym typeface="Inter"/>
                </a:rPr>
                <a:t>): 35x35x5mm.</a:t>
              </a:r>
              <a:endParaRPr sz="2000" dirty="0"/>
            </a:p>
          </p:txBody>
        </p:sp>
        <p:sp>
          <p:nvSpPr>
            <p:cNvPr id="6" name="Google Shape;136;p16">
              <a:extLst>
                <a:ext uri="{FF2B5EF4-FFF2-40B4-BE49-F238E27FC236}">
                  <a16:creationId xmlns:a16="http://schemas.microsoft.com/office/drawing/2014/main" id="{DA585819-9B22-7FD3-7BDC-C9EA71F86A2F}"/>
                </a:ext>
              </a:extLst>
            </p:cNvPr>
            <p:cNvSpPr txBox="1"/>
            <p:nvPr/>
          </p:nvSpPr>
          <p:spPr>
            <a:xfrm>
              <a:off x="866775" y="2967037"/>
              <a:ext cx="4991100"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latin typeface="Inter"/>
                  <a:ea typeface="Inter"/>
                  <a:cs typeface="Inter"/>
                  <a:sym typeface="Inter"/>
                </a:rPr>
                <a:t>Emitter:</a:t>
              </a:r>
              <a:r>
                <a:rPr lang="en-US" sz="1600" b="0" i="0" u="none" strike="noStrike" cap="none">
                  <a:latin typeface="Inter"/>
                  <a:ea typeface="Inter"/>
                  <a:cs typeface="Inter"/>
                  <a:sym typeface="Inter"/>
                </a:rPr>
                <a:t> 940 nm invisible laser emitter (Class 1).</a:t>
              </a:r>
              <a:endParaRPr sz="2000"/>
            </a:p>
          </p:txBody>
        </p:sp>
        <p:sp>
          <p:nvSpPr>
            <p:cNvPr id="7" name="Google Shape;137;p16">
              <a:extLst>
                <a:ext uri="{FF2B5EF4-FFF2-40B4-BE49-F238E27FC236}">
                  <a16:creationId xmlns:a16="http://schemas.microsoft.com/office/drawing/2014/main" id="{8C99DE00-4F36-AE3E-BEC4-87373B77AB2F}"/>
                </a:ext>
              </a:extLst>
            </p:cNvPr>
            <p:cNvSpPr txBox="1"/>
            <p:nvPr/>
          </p:nvSpPr>
          <p:spPr>
            <a:xfrm>
              <a:off x="866773" y="3543941"/>
              <a:ext cx="4991100"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a:latin typeface="Inter"/>
                  <a:ea typeface="Inter"/>
                  <a:cs typeface="Inter"/>
                  <a:sym typeface="Inter"/>
                </a:rPr>
                <a:t>Receiver:</a:t>
              </a:r>
              <a:r>
                <a:rPr lang="en-US" sz="1600" b="0" i="0" u="none" strike="noStrike" cap="none" dirty="0">
                  <a:latin typeface="Inter"/>
                  <a:ea typeface="Inter"/>
                  <a:cs typeface="Inter"/>
                  <a:sym typeface="Inter"/>
                </a:rPr>
                <a:t> SPAD (single photon avalanche diode) receiving array with integrated lens.</a:t>
              </a:r>
              <a:endParaRPr sz="2000" dirty="0"/>
            </a:p>
          </p:txBody>
        </p:sp>
        <p:sp>
          <p:nvSpPr>
            <p:cNvPr id="8" name="Google Shape;138;p16">
              <a:extLst>
                <a:ext uri="{FF2B5EF4-FFF2-40B4-BE49-F238E27FC236}">
                  <a16:creationId xmlns:a16="http://schemas.microsoft.com/office/drawing/2014/main" id="{7D1F51FA-35ED-F544-7CF4-40CB9E8E6550}"/>
                </a:ext>
              </a:extLst>
            </p:cNvPr>
            <p:cNvSpPr txBox="1"/>
            <p:nvPr/>
          </p:nvSpPr>
          <p:spPr>
            <a:xfrm>
              <a:off x="866773" y="4427741"/>
              <a:ext cx="4991100"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latin typeface="Inter"/>
                  <a:ea typeface="Inter"/>
                  <a:cs typeface="Inter"/>
                  <a:sym typeface="Inter"/>
                </a:rPr>
                <a:t>Field of View:</a:t>
              </a:r>
              <a:r>
                <a:rPr lang="en-US" sz="1600" b="0" i="0" u="none" strike="noStrike" cap="none">
                  <a:latin typeface="Inter"/>
                  <a:ea typeface="Inter"/>
                  <a:cs typeface="Inter"/>
                  <a:sym typeface="Inter"/>
                </a:rPr>
                <a:t> 27° typical full field of view (FoV).</a:t>
              </a:r>
              <a:endParaRPr sz="2000"/>
            </a:p>
          </p:txBody>
        </p:sp>
        <p:sp>
          <p:nvSpPr>
            <p:cNvPr id="9" name="Google Shape;139;p16">
              <a:extLst>
                <a:ext uri="{FF2B5EF4-FFF2-40B4-BE49-F238E27FC236}">
                  <a16:creationId xmlns:a16="http://schemas.microsoft.com/office/drawing/2014/main" id="{0BB44CE0-6F29-32F0-A304-54DF78C5057F}"/>
                </a:ext>
              </a:extLst>
            </p:cNvPr>
            <p:cNvSpPr txBox="1"/>
            <p:nvPr/>
          </p:nvSpPr>
          <p:spPr>
            <a:xfrm>
              <a:off x="866773" y="5130221"/>
              <a:ext cx="4991100" cy="7188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latin typeface="Inter"/>
                  <a:ea typeface="Inter"/>
                  <a:cs typeface="Inter"/>
                  <a:sym typeface="Inter"/>
                </a:rPr>
                <a:t>ROI:</a:t>
              </a:r>
              <a:r>
                <a:rPr lang="en-US" sz="1600" b="0" i="0" u="none" strike="noStrike" cap="none">
                  <a:latin typeface="Inter"/>
                  <a:ea typeface="Inter"/>
                  <a:cs typeface="Inter"/>
                  <a:sym typeface="Inter"/>
                </a:rPr>
                <a:t> Programmable region of interest allows reduction of the sensor </a:t>
              </a:r>
              <a:r>
                <a:rPr lang="en-US" sz="1600" b="0" i="0" u="none" strike="noStrike" cap="none" err="1">
                  <a:latin typeface="Inter"/>
                  <a:ea typeface="Inter"/>
                  <a:cs typeface="Inter"/>
                  <a:sym typeface="Inter"/>
                </a:rPr>
                <a:t>FoV</a:t>
              </a:r>
              <a:r>
                <a:rPr lang="en-US" sz="1600" b="0" i="0" u="none" strike="noStrike" cap="none">
                  <a:latin typeface="Inter"/>
                  <a:ea typeface="Inter"/>
                  <a:cs typeface="Inter"/>
                  <a:sym typeface="Inter"/>
                </a:rPr>
                <a:t>. </a:t>
              </a:r>
              <a:r>
                <a:rPr lang="en-US" sz="1200" b="0" i="0" u="none" strike="noStrike" cap="none">
                  <a:latin typeface="Inter"/>
                  <a:ea typeface="Inter"/>
                  <a:cs typeface="Inter"/>
                  <a:sym typeface="Inter"/>
                </a:rPr>
                <a:t>[2][3]</a:t>
              </a:r>
              <a:endParaRPr sz="2000"/>
            </a:p>
          </p:txBody>
        </p:sp>
        <p:sp>
          <p:nvSpPr>
            <p:cNvPr id="10" name="Google Shape;140;p16">
              <a:extLst>
                <a:ext uri="{FF2B5EF4-FFF2-40B4-BE49-F238E27FC236}">
                  <a16:creationId xmlns:a16="http://schemas.microsoft.com/office/drawing/2014/main" id="{22A36C14-7E1F-4F40-43AB-CE3497F41E91}"/>
                </a:ext>
              </a:extLst>
            </p:cNvPr>
            <p:cNvSpPr txBox="1"/>
            <p:nvPr/>
          </p:nvSpPr>
          <p:spPr>
            <a:xfrm>
              <a:off x="570578" y="2348204"/>
              <a:ext cx="95250" cy="35940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11" name="Google Shape;141;p16">
              <a:extLst>
                <a:ext uri="{FF2B5EF4-FFF2-40B4-BE49-F238E27FC236}">
                  <a16:creationId xmlns:a16="http://schemas.microsoft.com/office/drawing/2014/main" id="{3CDA3F14-3160-282B-0312-FCE6243312C9}"/>
                </a:ext>
              </a:extLst>
            </p:cNvPr>
            <p:cNvSpPr txBox="1"/>
            <p:nvPr/>
          </p:nvSpPr>
          <p:spPr>
            <a:xfrm>
              <a:off x="581025" y="2967037"/>
              <a:ext cx="9525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2" name="Google Shape;142;p16">
              <a:extLst>
                <a:ext uri="{FF2B5EF4-FFF2-40B4-BE49-F238E27FC236}">
                  <a16:creationId xmlns:a16="http://schemas.microsoft.com/office/drawing/2014/main" id="{0A9A0C28-E3A0-AE6A-7CC4-DBBB418F45D5}"/>
                </a:ext>
              </a:extLst>
            </p:cNvPr>
            <p:cNvSpPr txBox="1"/>
            <p:nvPr/>
          </p:nvSpPr>
          <p:spPr>
            <a:xfrm>
              <a:off x="581025" y="2967037"/>
              <a:ext cx="95250" cy="35940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13" name="Google Shape;143;p16">
              <a:extLst>
                <a:ext uri="{FF2B5EF4-FFF2-40B4-BE49-F238E27FC236}">
                  <a16:creationId xmlns:a16="http://schemas.microsoft.com/office/drawing/2014/main" id="{973951ED-013E-C6C3-9FFF-FAABF06EC4AD}"/>
                </a:ext>
              </a:extLst>
            </p:cNvPr>
            <p:cNvSpPr txBox="1"/>
            <p:nvPr/>
          </p:nvSpPr>
          <p:spPr>
            <a:xfrm>
              <a:off x="581025" y="3595281"/>
              <a:ext cx="95250" cy="35940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14" name="Google Shape;144;p16">
              <a:extLst>
                <a:ext uri="{FF2B5EF4-FFF2-40B4-BE49-F238E27FC236}">
                  <a16:creationId xmlns:a16="http://schemas.microsoft.com/office/drawing/2014/main" id="{047EEF80-F411-A79C-F55B-7E2E58EF17A3}"/>
                </a:ext>
              </a:extLst>
            </p:cNvPr>
            <p:cNvSpPr txBox="1"/>
            <p:nvPr/>
          </p:nvSpPr>
          <p:spPr>
            <a:xfrm>
              <a:off x="581025" y="4472318"/>
              <a:ext cx="95250" cy="35940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15" name="Google Shape;145;p16">
              <a:extLst>
                <a:ext uri="{FF2B5EF4-FFF2-40B4-BE49-F238E27FC236}">
                  <a16:creationId xmlns:a16="http://schemas.microsoft.com/office/drawing/2014/main" id="{30984070-3870-DA6D-3942-E351FB7B5997}"/>
                </a:ext>
              </a:extLst>
            </p:cNvPr>
            <p:cNvSpPr txBox="1"/>
            <p:nvPr/>
          </p:nvSpPr>
          <p:spPr>
            <a:xfrm>
              <a:off x="581025" y="5130221"/>
              <a:ext cx="95250" cy="35940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grpSp>
      <p:sp>
        <p:nvSpPr>
          <p:cNvPr id="16" name="Google Shape;146;p16">
            <a:extLst>
              <a:ext uri="{FF2B5EF4-FFF2-40B4-BE49-F238E27FC236}">
                <a16:creationId xmlns:a16="http://schemas.microsoft.com/office/drawing/2014/main" id="{CEF356F5-9DA1-CD30-00E4-F9CF8CC322F2}"/>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Sensor</a:t>
            </a:r>
            <a:r>
              <a:rPr lang="en-US" sz="3750" b="1" i="0" u="none" strike="noStrike" cap="none">
                <a:solidFill>
                  <a:srgbClr val="FFFFFF"/>
                </a:solidFill>
                <a:latin typeface="Urbanist"/>
                <a:ea typeface="Urbanist"/>
                <a:cs typeface="Urbanist"/>
                <a:sym typeface="Urbanist"/>
              </a:rPr>
              <a:t> </a:t>
            </a:r>
            <a:r>
              <a:rPr lang="en-US" sz="3750" b="1" i="0" u="none" strike="noStrike" cap="none">
                <a:solidFill>
                  <a:srgbClr val="76B900"/>
                </a:solidFill>
                <a:latin typeface="Urbanist"/>
                <a:ea typeface="Urbanist"/>
                <a:cs typeface="Urbanist"/>
                <a:sym typeface="Urbanist"/>
              </a:rPr>
              <a:t>Specifications</a:t>
            </a:r>
            <a:endParaRPr/>
          </a:p>
        </p:txBody>
      </p:sp>
      <p:sp>
        <p:nvSpPr>
          <p:cNvPr id="17" name="Google Shape;147;p16">
            <a:extLst>
              <a:ext uri="{FF2B5EF4-FFF2-40B4-BE49-F238E27FC236}">
                <a16:creationId xmlns:a16="http://schemas.microsoft.com/office/drawing/2014/main" id="{49037CF4-7854-B7DF-50F7-B8AE4C75EB61}"/>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D0DCCE00-88AE-82CC-8730-F6FA3FE4129D}"/>
              </a:ext>
            </a:extLst>
          </p:cNvPr>
          <p:cNvPicPr>
            <a:picLocks noChangeAspect="1"/>
          </p:cNvPicPr>
          <p:nvPr/>
        </p:nvPicPr>
        <p:blipFill>
          <a:blip r:embed="rId2"/>
          <a:stretch>
            <a:fillRect/>
          </a:stretch>
        </p:blipFill>
        <p:spPr>
          <a:xfrm>
            <a:off x="7274322" y="1584892"/>
            <a:ext cx="3366928" cy="2544047"/>
          </a:xfrm>
          <a:prstGeom prst="rect">
            <a:avLst/>
          </a:prstGeom>
        </p:spPr>
      </p:pic>
      <p:pic>
        <p:nvPicPr>
          <p:cNvPr id="3" name="Immagine 3">
            <a:extLst>
              <a:ext uri="{FF2B5EF4-FFF2-40B4-BE49-F238E27FC236}">
                <a16:creationId xmlns:a16="http://schemas.microsoft.com/office/drawing/2014/main" id="{EC9ECDDA-5B92-DD3A-0E7C-AD89F4395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5494" y="4111499"/>
            <a:ext cx="5004583" cy="2192868"/>
          </a:xfrm>
          <a:prstGeom prst="rect">
            <a:avLst/>
          </a:prstGeom>
        </p:spPr>
      </p:pic>
      <p:sp>
        <p:nvSpPr>
          <p:cNvPr id="18" name="CasellaDiTesto 9">
            <a:extLst>
              <a:ext uri="{FF2B5EF4-FFF2-40B4-BE49-F238E27FC236}">
                <a16:creationId xmlns:a16="http://schemas.microsoft.com/office/drawing/2014/main" id="{36592CCB-7784-41B4-29DC-70F091DABBE2}"/>
              </a:ext>
            </a:extLst>
          </p:cNvPr>
          <p:cNvSpPr txBox="1"/>
          <p:nvPr/>
        </p:nvSpPr>
        <p:spPr>
          <a:xfrm>
            <a:off x="7181374" y="6243660"/>
            <a:ext cx="3552825" cy="276999"/>
          </a:xfrm>
          <a:prstGeom prst="rect">
            <a:avLst/>
          </a:prstGeom>
          <a:noFill/>
        </p:spPr>
        <p:txBody>
          <a:bodyPr wrap="square" lIns="91440" tIns="45720" rIns="91440" bIns="45720" rtlCol="0" anchor="t">
            <a:spAutoFit/>
          </a:bodyPr>
          <a:lstStyle/>
          <a:p>
            <a:r>
              <a:rPr lang="en-US" sz="1200">
                <a:solidFill>
                  <a:schemeClr val="tx1">
                    <a:lumMod val="95000"/>
                    <a:lumOff val="5000"/>
                  </a:schemeClr>
                </a:solidFill>
              </a:rPr>
              <a:t>Figure: 27° field of view (</a:t>
            </a:r>
            <a:r>
              <a:rPr lang="en-US" sz="1200" err="1">
                <a:solidFill>
                  <a:schemeClr val="tx1">
                    <a:lumMod val="95000"/>
                    <a:lumOff val="5000"/>
                  </a:schemeClr>
                </a:solidFill>
              </a:rPr>
              <a:t>FoV</a:t>
            </a:r>
            <a:r>
              <a:rPr lang="en-US" sz="1200">
                <a:solidFill>
                  <a:schemeClr val="tx1">
                    <a:lumMod val="95000"/>
                    <a:lumOff val="5000"/>
                  </a:schemeClr>
                </a:solidFill>
              </a:rPr>
              <a:t>) down to 15 </a:t>
            </a:r>
            <a:r>
              <a:rPr lang="en-US" sz="1000"/>
              <a:t>[3]</a:t>
            </a:r>
            <a:endParaRPr lang="it-IT" sz="1100"/>
          </a:p>
        </p:txBody>
      </p:sp>
    </p:spTree>
    <p:extLst>
      <p:ext uri="{BB962C8B-B14F-4D97-AF65-F5344CB8AC3E}">
        <p14:creationId xmlns:p14="http://schemas.microsoft.com/office/powerpoint/2010/main" val="332606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6;p17">
            <a:extLst>
              <a:ext uri="{FF2B5EF4-FFF2-40B4-BE49-F238E27FC236}">
                <a16:creationId xmlns:a16="http://schemas.microsoft.com/office/drawing/2014/main" id="{9D37833E-2B68-7AB8-AFB3-90D3475E3F4E}"/>
              </a:ext>
            </a:extLst>
          </p:cNvPr>
          <p:cNvSpPr txBox="1"/>
          <p:nvPr/>
        </p:nvSpPr>
        <p:spPr>
          <a:xfrm>
            <a:off x="6627034" y="1900369"/>
            <a:ext cx="167687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latin typeface="Urbanist"/>
                <a:ea typeface="Urbanist"/>
                <a:cs typeface="Urbanist"/>
                <a:sym typeface="Urbanist"/>
              </a:rPr>
              <a:t>Basic Principle</a:t>
            </a:r>
            <a:endParaRPr sz="2400"/>
          </a:p>
        </p:txBody>
      </p:sp>
      <p:sp>
        <p:nvSpPr>
          <p:cNvPr id="8" name="Google Shape;161;p17">
            <a:extLst>
              <a:ext uri="{FF2B5EF4-FFF2-40B4-BE49-F238E27FC236}">
                <a16:creationId xmlns:a16="http://schemas.microsoft.com/office/drawing/2014/main" id="{D93B50F2-EA06-3084-61BC-CA28293BE3A9}"/>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lvl="0"/>
            <a:r>
              <a:rPr lang="en-US" sz="3750" b="1" i="0" u="none" strike="noStrike" cap="none" dirty="0">
                <a:latin typeface="Urbanist"/>
                <a:ea typeface="Urbanist"/>
                <a:cs typeface="Urbanist"/>
                <a:sym typeface="Urbanist"/>
              </a:rPr>
              <a:t>Time of Flight – </a:t>
            </a:r>
            <a:r>
              <a:rPr lang="en-US" sz="3750" b="1" i="0" u="none" strike="noStrike" cap="none" dirty="0" err="1">
                <a:solidFill>
                  <a:srgbClr val="76B900"/>
                </a:solidFill>
                <a:latin typeface="Urbanist"/>
                <a:ea typeface="Urbanist"/>
                <a:cs typeface="Urbanist"/>
                <a:sym typeface="Urbanist"/>
              </a:rPr>
              <a:t>FlightSense</a:t>
            </a:r>
            <a:r>
              <a:rPr lang="en-US" sz="3750" b="1" dirty="0" err="1">
                <a:solidFill>
                  <a:srgbClr val="76B900"/>
                </a:solidFill>
                <a:latin typeface="Urbanist"/>
                <a:ea typeface="Urbanist"/>
                <a:cs typeface="Urbanist"/>
                <a:sym typeface="Urbanist"/>
              </a:rPr>
              <a:t>TM</a:t>
            </a:r>
            <a:r>
              <a:rPr lang="en-US" sz="3750" b="1" dirty="0">
                <a:solidFill>
                  <a:srgbClr val="76B900"/>
                </a:solidFill>
                <a:latin typeface="Urbanist"/>
                <a:ea typeface="Urbanist"/>
                <a:cs typeface="Urbanist"/>
                <a:sym typeface="Urbanist"/>
              </a:rPr>
              <a:t> </a:t>
            </a:r>
            <a:r>
              <a:rPr lang="en-US" sz="3750" b="1" i="0" u="none" strike="noStrike" cap="none" dirty="0">
                <a:solidFill>
                  <a:srgbClr val="76B900"/>
                </a:solidFill>
                <a:latin typeface="Urbanist"/>
                <a:ea typeface="Urbanist"/>
                <a:cs typeface="Urbanist"/>
                <a:sym typeface="Urbanist"/>
              </a:rPr>
              <a:t>Principle</a:t>
            </a:r>
            <a:endParaRPr dirty="0"/>
          </a:p>
        </p:txBody>
      </p:sp>
      <p:sp>
        <p:nvSpPr>
          <p:cNvPr id="9" name="Google Shape;162;p17">
            <a:extLst>
              <a:ext uri="{FF2B5EF4-FFF2-40B4-BE49-F238E27FC236}">
                <a16:creationId xmlns:a16="http://schemas.microsoft.com/office/drawing/2014/main" id="{07379B5D-CF92-7391-72A9-6118BD6960E5}"/>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2" name="Group 11">
            <a:extLst>
              <a:ext uri="{FF2B5EF4-FFF2-40B4-BE49-F238E27FC236}">
                <a16:creationId xmlns:a16="http://schemas.microsoft.com/office/drawing/2014/main" id="{6ABAD8B2-B5FF-E8B9-CFC2-791F956617CD}"/>
              </a:ext>
            </a:extLst>
          </p:cNvPr>
          <p:cNvGrpSpPr/>
          <p:nvPr/>
        </p:nvGrpSpPr>
        <p:grpSpPr>
          <a:xfrm>
            <a:off x="1541802" y="1447800"/>
            <a:ext cx="3505200" cy="2574507"/>
            <a:chOff x="1295731" y="1833965"/>
            <a:chExt cx="3070800" cy="2491925"/>
          </a:xfrm>
        </p:grpSpPr>
        <p:pic>
          <p:nvPicPr>
            <p:cNvPr id="2" name="Picture 1">
              <a:extLst>
                <a:ext uri="{FF2B5EF4-FFF2-40B4-BE49-F238E27FC236}">
                  <a16:creationId xmlns:a16="http://schemas.microsoft.com/office/drawing/2014/main" id="{E189C3C4-815C-4F24-AF46-D21715D72632}"/>
                </a:ext>
              </a:extLst>
            </p:cNvPr>
            <p:cNvPicPr>
              <a:picLocks noChangeAspect="1"/>
            </p:cNvPicPr>
            <p:nvPr/>
          </p:nvPicPr>
          <p:blipFill>
            <a:blip r:embed="rId2"/>
            <a:srcRect l="2484" t="14324" r="1361" b="1993"/>
            <a:stretch>
              <a:fillRect/>
            </a:stretch>
          </p:blipFill>
          <p:spPr>
            <a:xfrm>
              <a:off x="1370313" y="2207240"/>
              <a:ext cx="2921636" cy="2118650"/>
            </a:xfrm>
            <a:prstGeom prst="rect">
              <a:avLst/>
            </a:prstGeom>
          </p:spPr>
        </p:pic>
        <p:sp>
          <p:nvSpPr>
            <p:cNvPr id="10" name="Google Shape;110;p15">
              <a:extLst>
                <a:ext uri="{FF2B5EF4-FFF2-40B4-BE49-F238E27FC236}">
                  <a16:creationId xmlns:a16="http://schemas.microsoft.com/office/drawing/2014/main" id="{C18B0217-C254-1AAE-25B7-121175A7673E}"/>
                </a:ext>
              </a:extLst>
            </p:cNvPr>
            <p:cNvSpPr/>
            <p:nvPr/>
          </p:nvSpPr>
          <p:spPr>
            <a:xfrm>
              <a:off x="1295731" y="1833965"/>
              <a:ext cx="3070800" cy="460800"/>
            </a:xfrm>
            <a:prstGeom prst="rect">
              <a:avLst/>
            </a:prstGeom>
            <a:solidFill>
              <a:srgbClr val="76B900"/>
            </a:solidFill>
            <a:ln>
              <a:solidFill>
                <a:schemeClr val="tx1"/>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TextBox 10">
              <a:extLst>
                <a:ext uri="{FF2B5EF4-FFF2-40B4-BE49-F238E27FC236}">
                  <a16:creationId xmlns:a16="http://schemas.microsoft.com/office/drawing/2014/main" id="{9F6FF74D-887A-402D-99F9-D6AA89D0A995}"/>
                </a:ext>
              </a:extLst>
            </p:cNvPr>
            <p:cNvSpPr txBox="1"/>
            <p:nvPr/>
          </p:nvSpPr>
          <p:spPr>
            <a:xfrm>
              <a:off x="2103219" y="1941241"/>
              <a:ext cx="1455822" cy="327694"/>
            </a:xfrm>
            <a:prstGeom prst="rect">
              <a:avLst/>
            </a:prstGeom>
            <a:noFill/>
          </p:spPr>
          <p:txBody>
            <a:bodyPr wrap="square" rtlCol="0">
              <a:spAutoFit/>
            </a:bodyPr>
            <a:lstStyle/>
            <a:p>
              <a:r>
                <a:rPr lang="it-IT" sz="1600" b="1">
                  <a:solidFill>
                    <a:srgbClr val="FFFFFF"/>
                  </a:solidFill>
                  <a:latin typeface="Inter"/>
                  <a:ea typeface="Urbanist"/>
                  <a:cs typeface="Urbanist"/>
                </a:rPr>
                <a:t>Basic</a:t>
              </a:r>
              <a:r>
                <a:rPr lang="it-IT" sz="1600">
                  <a:latin typeface="Inter"/>
                </a:rPr>
                <a:t> </a:t>
              </a:r>
              <a:r>
                <a:rPr lang="it-IT" sz="1600" b="1">
                  <a:solidFill>
                    <a:srgbClr val="FFFFFF"/>
                  </a:solidFill>
                  <a:latin typeface="Inter"/>
                  <a:ea typeface="Urbanist"/>
                  <a:cs typeface="Urbanist"/>
                </a:rPr>
                <a:t>Principle</a:t>
              </a:r>
              <a:endParaRPr lang="en-GB" sz="1600" b="1">
                <a:solidFill>
                  <a:srgbClr val="FFFFFF"/>
                </a:solidFill>
                <a:latin typeface="Inter"/>
                <a:ea typeface="Urbanist"/>
                <a:cs typeface="Urbanist"/>
              </a:endParaRPr>
            </a:p>
          </p:txBody>
        </p:sp>
      </p:grpSp>
      <p:grpSp>
        <p:nvGrpSpPr>
          <p:cNvPr id="27" name="Group 26">
            <a:extLst>
              <a:ext uri="{FF2B5EF4-FFF2-40B4-BE49-F238E27FC236}">
                <a16:creationId xmlns:a16="http://schemas.microsoft.com/office/drawing/2014/main" id="{5CCA79F1-2C3A-540A-4E60-B103B8EB1E79}"/>
              </a:ext>
            </a:extLst>
          </p:cNvPr>
          <p:cNvGrpSpPr/>
          <p:nvPr/>
        </p:nvGrpSpPr>
        <p:grpSpPr>
          <a:xfrm>
            <a:off x="6627034" y="2297010"/>
            <a:ext cx="4420077" cy="3275595"/>
            <a:chOff x="6371748" y="2754634"/>
            <a:chExt cx="5540692" cy="1805070"/>
          </a:xfrm>
        </p:grpSpPr>
        <p:sp>
          <p:nvSpPr>
            <p:cNvPr id="6" name="Google Shape;157;p17">
              <a:extLst>
                <a:ext uri="{FF2B5EF4-FFF2-40B4-BE49-F238E27FC236}">
                  <a16:creationId xmlns:a16="http://schemas.microsoft.com/office/drawing/2014/main" id="{3D1B2BD0-8531-0822-BF9F-A08A7D723ABC}"/>
                </a:ext>
              </a:extLst>
            </p:cNvPr>
            <p:cNvSpPr txBox="1"/>
            <p:nvPr/>
          </p:nvSpPr>
          <p:spPr>
            <a:xfrm>
              <a:off x="6371748" y="2754634"/>
              <a:ext cx="5367968"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a:latin typeface="Inter"/>
                  <a:ea typeface="Inter"/>
                  <a:cs typeface="Inter"/>
                  <a:sym typeface="Inter"/>
                </a:rPr>
                <a:t>I</a:t>
              </a:r>
              <a:r>
                <a:rPr lang="en-US" sz="1600" b="0" i="0" u="none" strike="noStrike" cap="none">
                  <a:latin typeface="Inter"/>
                  <a:ea typeface="Inter"/>
                  <a:cs typeface="Inter"/>
                  <a:sym typeface="Inter"/>
                </a:rPr>
                <a:t>t measures the time it takes for a photon to bounce back.</a:t>
              </a:r>
              <a:endParaRPr sz="2000"/>
            </a:p>
          </p:txBody>
        </p:sp>
        <p:sp>
          <p:nvSpPr>
            <p:cNvPr id="40" name="Google Shape;157;p17">
              <a:extLst>
                <a:ext uri="{FF2B5EF4-FFF2-40B4-BE49-F238E27FC236}">
                  <a16:creationId xmlns:a16="http://schemas.microsoft.com/office/drawing/2014/main" id="{E0670ECF-5237-54A5-F6E9-B4257DBA8D6A}"/>
                </a:ext>
              </a:extLst>
            </p:cNvPr>
            <p:cNvSpPr txBox="1"/>
            <p:nvPr/>
          </p:nvSpPr>
          <p:spPr>
            <a:xfrm>
              <a:off x="6371748" y="3148588"/>
              <a:ext cx="5540692" cy="1411116"/>
            </a:xfrm>
            <a:prstGeom prst="rect">
              <a:avLst/>
            </a:prstGeom>
            <a:noFill/>
            <a:ln>
              <a:noFill/>
            </a:ln>
          </p:spPr>
          <p:txBody>
            <a:bodyPr spcFirstLastPara="1" wrap="square" lIns="0" tIns="0" rIns="0" bIns="0" anchor="t" anchorCtr="0">
              <a:spAutoFit/>
            </a:bodyPr>
            <a:lstStyle/>
            <a:p>
              <a:pPr>
                <a:lnSpc>
                  <a:spcPct val="160000"/>
                </a:lnSpc>
              </a:pPr>
              <a:r>
                <a:rPr lang="en-US" sz="1600" dirty="0">
                  <a:latin typeface="Inter"/>
                  <a:ea typeface="Inter"/>
                </a:rPr>
                <a:t>If the cone hits multiple objects at different distances, the histogram will show multiple peaks. The final measured</a:t>
              </a:r>
              <a:br>
                <a:rPr lang="en-US" sz="1600" dirty="0">
                  <a:latin typeface="Inter"/>
                  <a:ea typeface="Inter"/>
                </a:rPr>
              </a:br>
              <a:r>
                <a:rPr lang="en-US" sz="1600" dirty="0">
                  <a:latin typeface="Inter"/>
                  <a:ea typeface="Inter"/>
                </a:rPr>
                <a:t>distance is an average derived from these significant peaks </a:t>
              </a:r>
              <a:r>
                <a:rPr lang="en-US" sz="1000" dirty="0">
                  <a:latin typeface="Arial"/>
                  <a:ea typeface="+mn-lt"/>
                  <a:cs typeface="+mn-lt"/>
                </a:rPr>
                <a:t>[4]</a:t>
              </a:r>
              <a:endParaRPr lang="en-US" sz="1400" dirty="0"/>
            </a:p>
            <a:p>
              <a:pPr marL="0" marR="0" lvl="0" indent="0" algn="l" rtl="0">
                <a:lnSpc>
                  <a:spcPct val="160000"/>
                </a:lnSpc>
                <a:spcBef>
                  <a:spcPts val="0"/>
                </a:spcBef>
                <a:spcAft>
                  <a:spcPts val="0"/>
                </a:spcAft>
                <a:buNone/>
              </a:pPr>
              <a:endParaRPr sz="2400" dirty="0"/>
            </a:p>
          </p:txBody>
        </p:sp>
      </p:grpSp>
      <p:grpSp>
        <p:nvGrpSpPr>
          <p:cNvPr id="20" name="Group 19">
            <a:extLst>
              <a:ext uri="{FF2B5EF4-FFF2-40B4-BE49-F238E27FC236}">
                <a16:creationId xmlns:a16="http://schemas.microsoft.com/office/drawing/2014/main" id="{AB367EFD-DD97-0438-B45D-EAA60553F773}"/>
              </a:ext>
            </a:extLst>
          </p:cNvPr>
          <p:cNvGrpSpPr/>
          <p:nvPr/>
        </p:nvGrpSpPr>
        <p:grpSpPr>
          <a:xfrm>
            <a:off x="1303850" y="4321511"/>
            <a:ext cx="4784411" cy="2245525"/>
            <a:chOff x="941826" y="4411215"/>
            <a:chExt cx="4784411" cy="2245525"/>
          </a:xfrm>
        </p:grpSpPr>
        <p:pic>
          <p:nvPicPr>
            <p:cNvPr id="3" name="Picture 2">
              <a:extLst>
                <a:ext uri="{FF2B5EF4-FFF2-40B4-BE49-F238E27FC236}">
                  <a16:creationId xmlns:a16="http://schemas.microsoft.com/office/drawing/2014/main" id="{2897A094-FAE0-385E-9829-94676BA15CC5}"/>
                </a:ext>
              </a:extLst>
            </p:cNvPr>
            <p:cNvPicPr>
              <a:picLocks noChangeAspect="1"/>
            </p:cNvPicPr>
            <p:nvPr/>
          </p:nvPicPr>
          <p:blipFill>
            <a:blip r:embed="rId3"/>
            <a:stretch>
              <a:fillRect/>
            </a:stretch>
          </p:blipFill>
          <p:spPr>
            <a:xfrm>
              <a:off x="941826" y="4965110"/>
              <a:ext cx="996626" cy="1655430"/>
            </a:xfrm>
            <a:prstGeom prst="rect">
              <a:avLst/>
            </a:prstGeom>
          </p:spPr>
        </p:pic>
        <p:pic>
          <p:nvPicPr>
            <p:cNvPr id="15" name="Picture 14">
              <a:extLst>
                <a:ext uri="{FF2B5EF4-FFF2-40B4-BE49-F238E27FC236}">
                  <a16:creationId xmlns:a16="http://schemas.microsoft.com/office/drawing/2014/main" id="{F79DFECA-FC6A-C89F-6B5A-0D8DED76836A}"/>
                </a:ext>
              </a:extLst>
            </p:cNvPr>
            <p:cNvPicPr>
              <a:picLocks noChangeAspect="1"/>
            </p:cNvPicPr>
            <p:nvPr/>
          </p:nvPicPr>
          <p:blipFill>
            <a:blip r:embed="rId4"/>
            <a:stretch>
              <a:fillRect/>
            </a:stretch>
          </p:blipFill>
          <p:spPr>
            <a:xfrm>
              <a:off x="2477225" y="5014890"/>
              <a:ext cx="3249012" cy="1641850"/>
            </a:xfrm>
            <a:prstGeom prst="rect">
              <a:avLst/>
            </a:prstGeom>
          </p:spPr>
        </p:pic>
        <p:sp>
          <p:nvSpPr>
            <p:cNvPr id="16" name="Arrow: Right 15">
              <a:extLst>
                <a:ext uri="{FF2B5EF4-FFF2-40B4-BE49-F238E27FC236}">
                  <a16:creationId xmlns:a16="http://schemas.microsoft.com/office/drawing/2014/main" id="{2F7AFFEC-69C9-E6E4-DD43-56E53F507CAC}"/>
                </a:ext>
              </a:extLst>
            </p:cNvPr>
            <p:cNvSpPr/>
            <p:nvPr/>
          </p:nvSpPr>
          <p:spPr>
            <a:xfrm>
              <a:off x="1987403" y="5792825"/>
              <a:ext cx="440871" cy="361950"/>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1176CCAB-6C79-7A3B-7C4F-FB77CB7C6608}"/>
                </a:ext>
              </a:extLst>
            </p:cNvPr>
            <p:cNvGrpSpPr/>
            <p:nvPr/>
          </p:nvGrpSpPr>
          <p:grpSpPr>
            <a:xfrm>
              <a:off x="1207280" y="4411215"/>
              <a:ext cx="4518957" cy="460800"/>
              <a:chOff x="1207280" y="4534096"/>
              <a:chExt cx="4518957" cy="460800"/>
            </a:xfrm>
          </p:grpSpPr>
          <p:sp>
            <p:nvSpPr>
              <p:cNvPr id="19" name="Google Shape;110;p15">
                <a:extLst>
                  <a:ext uri="{FF2B5EF4-FFF2-40B4-BE49-F238E27FC236}">
                    <a16:creationId xmlns:a16="http://schemas.microsoft.com/office/drawing/2014/main" id="{57733053-892D-C880-C6A9-35050708E354}"/>
                  </a:ext>
                </a:extLst>
              </p:cNvPr>
              <p:cNvSpPr/>
              <p:nvPr/>
            </p:nvSpPr>
            <p:spPr>
              <a:xfrm>
                <a:off x="1207280" y="4534096"/>
                <a:ext cx="4518957" cy="460800"/>
              </a:xfrm>
              <a:prstGeom prst="rect">
                <a:avLst/>
              </a:prstGeom>
              <a:solidFill>
                <a:srgbClr val="76B900"/>
              </a:solidFill>
              <a:ln>
                <a:solidFill>
                  <a:schemeClr val="tx1"/>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 name="TextBox 20">
                <a:extLst>
                  <a:ext uri="{FF2B5EF4-FFF2-40B4-BE49-F238E27FC236}">
                    <a16:creationId xmlns:a16="http://schemas.microsoft.com/office/drawing/2014/main" id="{1D40173D-B3E2-C8EB-3B84-0BFC16BF6F4D}"/>
                  </a:ext>
                </a:extLst>
              </p:cNvPr>
              <p:cNvSpPr txBox="1"/>
              <p:nvPr/>
            </p:nvSpPr>
            <p:spPr>
              <a:xfrm>
                <a:off x="2898194" y="4595219"/>
                <a:ext cx="1137127" cy="338554"/>
              </a:xfrm>
              <a:prstGeom prst="rect">
                <a:avLst/>
              </a:prstGeom>
              <a:noFill/>
            </p:spPr>
            <p:txBody>
              <a:bodyPr wrap="square" rtlCol="0">
                <a:spAutoFit/>
              </a:bodyPr>
              <a:lstStyle/>
              <a:p>
                <a:r>
                  <a:rPr lang="it-IT" sz="1600" b="1">
                    <a:solidFill>
                      <a:srgbClr val="FFFFFF"/>
                    </a:solidFill>
                    <a:latin typeface="Inter"/>
                    <a:ea typeface="Urbanist"/>
                    <a:cs typeface="Urbanist"/>
                  </a:rPr>
                  <a:t>In Practice</a:t>
                </a:r>
                <a:endParaRPr lang="en-GB" sz="1600" b="1">
                  <a:solidFill>
                    <a:srgbClr val="FFFFFF"/>
                  </a:solidFill>
                  <a:latin typeface="Inter"/>
                  <a:ea typeface="Urbanist"/>
                  <a:cs typeface="Urbanist"/>
                </a:endParaRPr>
              </a:p>
            </p:txBody>
          </p:sp>
        </p:grpSp>
        <p:sp>
          <p:nvSpPr>
            <p:cNvPr id="23" name="Oval 22">
              <a:extLst>
                <a:ext uri="{FF2B5EF4-FFF2-40B4-BE49-F238E27FC236}">
                  <a16:creationId xmlns:a16="http://schemas.microsoft.com/office/drawing/2014/main" id="{2D82049B-0B49-DB1F-C313-BB2532E4F206}"/>
                </a:ext>
              </a:extLst>
            </p:cNvPr>
            <p:cNvSpPr/>
            <p:nvPr/>
          </p:nvSpPr>
          <p:spPr>
            <a:xfrm>
              <a:off x="1388127" y="4949162"/>
              <a:ext cx="326146" cy="32614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Rectangle: Rounded Corners 3">
            <a:extLst>
              <a:ext uri="{FF2B5EF4-FFF2-40B4-BE49-F238E27FC236}">
                <a16:creationId xmlns:a16="http://schemas.microsoft.com/office/drawing/2014/main" id="{AE4F2C19-02E2-7EDD-9569-576EA3210EAB}"/>
              </a:ext>
            </a:extLst>
          </p:cNvPr>
          <p:cNvSpPr/>
          <p:nvPr/>
        </p:nvSpPr>
        <p:spPr>
          <a:xfrm>
            <a:off x="141844" y="4018644"/>
            <a:ext cx="1168399" cy="114943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60000"/>
              </a:lnSpc>
            </a:pPr>
            <a:r>
              <a:rPr lang="en-US" sz="1100" b="1">
                <a:solidFill>
                  <a:srgbClr val="000000"/>
                </a:solidFill>
                <a:ea typeface="+mn-lt"/>
                <a:cs typeface="+mn-lt"/>
              </a:rPr>
              <a:t>97% of the optical power</a:t>
            </a:r>
            <a:r>
              <a:rPr lang="en-US" sz="1100">
                <a:solidFill>
                  <a:srgbClr val="000000"/>
                </a:solidFill>
                <a:ea typeface="+mn-lt"/>
                <a:cs typeface="+mn-lt"/>
              </a:rPr>
              <a:t> in a cone of 27°.</a:t>
            </a:r>
            <a:endParaRPr lang="en-US" sz="1100">
              <a:ea typeface="+mn-lt"/>
              <a:cs typeface="+mn-lt"/>
            </a:endParaRPr>
          </a:p>
        </p:txBody>
      </p:sp>
      <p:cxnSp>
        <p:nvCxnSpPr>
          <p:cNvPr id="13" name="Connector: Curved 12">
            <a:extLst>
              <a:ext uri="{FF2B5EF4-FFF2-40B4-BE49-F238E27FC236}">
                <a16:creationId xmlns:a16="http://schemas.microsoft.com/office/drawing/2014/main" id="{B5B9099F-9A17-2C0C-F956-81E2800DD8C0}"/>
              </a:ext>
            </a:extLst>
          </p:cNvPr>
          <p:cNvCxnSpPr/>
          <p:nvPr/>
        </p:nvCxnSpPr>
        <p:spPr>
          <a:xfrm flipH="1" flipV="1">
            <a:off x="1306285" y="4641272"/>
            <a:ext cx="435428" cy="336467"/>
          </a:xfrm>
          <a:prstGeom prst="curvedConnector3">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5306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9;p18">
            <a:extLst>
              <a:ext uri="{FF2B5EF4-FFF2-40B4-BE49-F238E27FC236}">
                <a16:creationId xmlns:a16="http://schemas.microsoft.com/office/drawing/2014/main" id="{772B6603-4202-FBC5-012D-A85BEB78EE7E}"/>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Physical Behavior vs </a:t>
            </a:r>
            <a:r>
              <a:rPr lang="en-US" sz="3750" b="1" i="0" u="none" strike="noStrike" cap="none">
                <a:solidFill>
                  <a:srgbClr val="76B900"/>
                </a:solidFill>
                <a:latin typeface="Urbanist"/>
                <a:ea typeface="Urbanist"/>
                <a:cs typeface="Urbanist"/>
                <a:sym typeface="Urbanist"/>
              </a:rPr>
              <a:t>Simulation Gap</a:t>
            </a:r>
            <a:endParaRPr/>
          </a:p>
        </p:txBody>
      </p:sp>
      <p:sp>
        <p:nvSpPr>
          <p:cNvPr id="3" name="Google Shape;180;p18">
            <a:extLst>
              <a:ext uri="{FF2B5EF4-FFF2-40B4-BE49-F238E27FC236}">
                <a16:creationId xmlns:a16="http://schemas.microsoft.com/office/drawing/2014/main" id="{9D40A053-F5A1-70CA-84D9-9FDF11CA2456}"/>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3DA8853A-C5EA-CF07-04BC-7C23F584EDEF}"/>
              </a:ext>
            </a:extLst>
          </p:cNvPr>
          <p:cNvSpPr txBox="1"/>
          <p:nvPr/>
        </p:nvSpPr>
        <p:spPr>
          <a:xfrm>
            <a:off x="2222184" y="1548282"/>
            <a:ext cx="8299127" cy="86177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lr>
                <a:srgbClr val="8C0707"/>
              </a:buClr>
            </a:pPr>
            <a:r>
              <a:rPr lang="en-US" sz="1600" dirty="0">
                <a:latin typeface="Inter"/>
              </a:rPr>
              <a:t>One ray do not simulate the actual behavior of the sensor</a:t>
            </a:r>
          </a:p>
          <a:p>
            <a:pPr>
              <a:buClr>
                <a:srgbClr val="8C0707"/>
              </a:buClr>
            </a:pPr>
            <a:endParaRPr lang="en-US" dirty="0">
              <a:solidFill>
                <a:schemeClr val="tx1"/>
              </a:solidFill>
            </a:endParaRPr>
          </a:p>
          <a:p>
            <a:pPr>
              <a:buClr>
                <a:srgbClr val="8C0707"/>
              </a:buClr>
            </a:pPr>
            <a:r>
              <a:rPr lang="en-US" sz="1600" dirty="0">
                <a:latin typeface="Inter"/>
              </a:rPr>
              <a:t>We need to fill the Real-to-Sim Gap</a:t>
            </a:r>
          </a:p>
        </p:txBody>
      </p:sp>
      <p:sp>
        <p:nvSpPr>
          <p:cNvPr id="7" name="TextBox 6">
            <a:extLst>
              <a:ext uri="{FF2B5EF4-FFF2-40B4-BE49-F238E27FC236}">
                <a16:creationId xmlns:a16="http://schemas.microsoft.com/office/drawing/2014/main" id="{28B59FCE-D242-A25E-52BF-14E6D635D952}"/>
              </a:ext>
            </a:extLst>
          </p:cNvPr>
          <p:cNvSpPr txBox="1"/>
          <p:nvPr/>
        </p:nvSpPr>
        <p:spPr>
          <a:xfrm>
            <a:off x="1897719" y="1548282"/>
            <a:ext cx="324465"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sp>
        <p:nvSpPr>
          <p:cNvPr id="8" name="TextBox 7">
            <a:extLst>
              <a:ext uri="{FF2B5EF4-FFF2-40B4-BE49-F238E27FC236}">
                <a16:creationId xmlns:a16="http://schemas.microsoft.com/office/drawing/2014/main" id="{E29E4707-E64B-D01D-EC35-306FE6CB6591}"/>
              </a:ext>
            </a:extLst>
          </p:cNvPr>
          <p:cNvSpPr txBox="1"/>
          <p:nvPr/>
        </p:nvSpPr>
        <p:spPr>
          <a:xfrm>
            <a:off x="1897718" y="2102280"/>
            <a:ext cx="324465"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sp>
        <p:nvSpPr>
          <p:cNvPr id="9" name="TextBox 8">
            <a:extLst>
              <a:ext uri="{FF2B5EF4-FFF2-40B4-BE49-F238E27FC236}">
                <a16:creationId xmlns:a16="http://schemas.microsoft.com/office/drawing/2014/main" id="{F7F93DCB-C8FA-A279-41AA-0F3DA46666AB}"/>
              </a:ext>
            </a:extLst>
          </p:cNvPr>
          <p:cNvSpPr txBox="1"/>
          <p:nvPr/>
        </p:nvSpPr>
        <p:spPr>
          <a:xfrm>
            <a:off x="3351787" y="2686848"/>
            <a:ext cx="55609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Urbanist"/>
              </a:rPr>
              <a:t>Practical example: Generation of a map</a:t>
            </a:r>
            <a:r>
              <a:rPr lang="en-US" b="1" dirty="0">
                <a:latin typeface="Urbanist"/>
                <a:ea typeface="Calibri"/>
                <a:cs typeface="Calibri"/>
              </a:rPr>
              <a:t> </a:t>
            </a:r>
            <a:r>
              <a:rPr lang="en-US" sz="1050" dirty="0">
                <a:latin typeface="Calibri"/>
                <a:ea typeface="Calibri"/>
                <a:cs typeface="Calibri"/>
              </a:rPr>
              <a:t>[5]</a:t>
            </a:r>
            <a:endParaRPr lang="en-US" sz="1400" dirty="0">
              <a:latin typeface="Calibri"/>
              <a:ea typeface="Calibri"/>
              <a:cs typeface="Calibri"/>
            </a:endParaRPr>
          </a:p>
        </p:txBody>
      </p:sp>
      <p:pic>
        <p:nvPicPr>
          <p:cNvPr id="10" name="Picture 9" descr="A screenshot of a computer&#10;&#10;AI-generated content may be incorrect.">
            <a:extLst>
              <a:ext uri="{FF2B5EF4-FFF2-40B4-BE49-F238E27FC236}">
                <a16:creationId xmlns:a16="http://schemas.microsoft.com/office/drawing/2014/main" id="{214B289D-AE3D-07A7-4F24-CAB4FBEC065C}"/>
              </a:ext>
            </a:extLst>
          </p:cNvPr>
          <p:cNvPicPr>
            <a:picLocks noChangeAspect="1"/>
          </p:cNvPicPr>
          <p:nvPr/>
        </p:nvPicPr>
        <p:blipFill>
          <a:blip r:embed="rId3"/>
          <a:srcRect r="173"/>
          <a:stretch>
            <a:fillRect/>
          </a:stretch>
        </p:blipFill>
        <p:spPr>
          <a:xfrm>
            <a:off x="7016745" y="3429000"/>
            <a:ext cx="3948747" cy="2325462"/>
          </a:xfrm>
          <a:prstGeom prst="rect">
            <a:avLst/>
          </a:prstGeom>
        </p:spPr>
      </p:pic>
      <p:pic>
        <p:nvPicPr>
          <p:cNvPr id="11" name="Picture 10" descr="A robot on the floor&#10;&#10;AI-generated content may be incorrect.">
            <a:extLst>
              <a:ext uri="{FF2B5EF4-FFF2-40B4-BE49-F238E27FC236}">
                <a16:creationId xmlns:a16="http://schemas.microsoft.com/office/drawing/2014/main" id="{08774021-5F67-1DC3-2849-0702F126B82C}"/>
              </a:ext>
            </a:extLst>
          </p:cNvPr>
          <p:cNvPicPr>
            <a:picLocks noChangeAspect="1"/>
          </p:cNvPicPr>
          <p:nvPr/>
        </p:nvPicPr>
        <p:blipFill>
          <a:blip r:embed="rId4"/>
          <a:srcRect r="-361" b="-629"/>
          <a:stretch>
            <a:fillRect/>
          </a:stretch>
        </p:blipFill>
        <p:spPr>
          <a:xfrm>
            <a:off x="1397780" y="3429000"/>
            <a:ext cx="3944300" cy="2311501"/>
          </a:xfrm>
          <a:prstGeom prst="rect">
            <a:avLst/>
          </a:prstGeom>
        </p:spPr>
      </p:pic>
      <p:sp>
        <p:nvSpPr>
          <p:cNvPr id="12" name="TextBox 11">
            <a:extLst>
              <a:ext uri="{FF2B5EF4-FFF2-40B4-BE49-F238E27FC236}">
                <a16:creationId xmlns:a16="http://schemas.microsoft.com/office/drawing/2014/main" id="{513926ED-64BF-CD3B-856F-1902A5F744B0}"/>
              </a:ext>
            </a:extLst>
          </p:cNvPr>
          <p:cNvSpPr txBox="1"/>
          <p:nvPr/>
        </p:nvSpPr>
        <p:spPr>
          <a:xfrm>
            <a:off x="1258259" y="5858883"/>
            <a:ext cx="434304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Inter"/>
              </a:rPr>
              <a:t>Expected map would approximate to red lines</a:t>
            </a:r>
          </a:p>
        </p:txBody>
      </p:sp>
      <p:cxnSp>
        <p:nvCxnSpPr>
          <p:cNvPr id="13" name="Straight Arrow Connector 12">
            <a:extLst>
              <a:ext uri="{FF2B5EF4-FFF2-40B4-BE49-F238E27FC236}">
                <a16:creationId xmlns:a16="http://schemas.microsoft.com/office/drawing/2014/main" id="{0E4EFEC8-0C41-120A-CD84-BC78314B3E97}"/>
              </a:ext>
            </a:extLst>
          </p:cNvPr>
          <p:cNvCxnSpPr/>
          <p:nvPr/>
        </p:nvCxnSpPr>
        <p:spPr bwMode="auto">
          <a:xfrm>
            <a:off x="6183710" y="3468289"/>
            <a:ext cx="7255" cy="2610756"/>
          </a:xfrm>
          <a:prstGeom prst="straightConnector1">
            <a:avLst/>
          </a:prstGeom>
          <a:solidFill>
            <a:srgbClr val="00B8FF"/>
          </a:solidFill>
          <a:ln w="38100" cap="flat" cmpd="sng" algn="ctr">
            <a:solidFill>
              <a:srgbClr val="92D05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 name="TextBox 13">
            <a:extLst>
              <a:ext uri="{FF2B5EF4-FFF2-40B4-BE49-F238E27FC236}">
                <a16:creationId xmlns:a16="http://schemas.microsoft.com/office/drawing/2014/main" id="{92550647-A366-1802-DD06-5CA5270C1D1A}"/>
              </a:ext>
            </a:extLst>
          </p:cNvPr>
          <p:cNvSpPr txBox="1"/>
          <p:nvPr/>
        </p:nvSpPr>
        <p:spPr>
          <a:xfrm>
            <a:off x="6650546" y="5858883"/>
            <a:ext cx="43430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Inter"/>
              </a:rPr>
              <a:t>In practice, we get an average when multiple</a:t>
            </a:r>
          </a:p>
          <a:p>
            <a:pPr algn="ctr"/>
            <a:r>
              <a:rPr lang="en-US" sz="1600">
                <a:latin typeface="Inter"/>
              </a:rPr>
              <a:t>objects are present in the FoV</a:t>
            </a:r>
          </a:p>
        </p:txBody>
      </p:sp>
    </p:spTree>
    <p:extLst>
      <p:ext uri="{BB962C8B-B14F-4D97-AF65-F5344CB8AC3E}">
        <p14:creationId xmlns:p14="http://schemas.microsoft.com/office/powerpoint/2010/main" val="407877205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16898-83BD-8FBF-99ED-D4848DA7612A}"/>
            </a:ext>
          </a:extLst>
        </p:cNvPr>
        <p:cNvGrpSpPr/>
        <p:nvPr/>
      </p:nvGrpSpPr>
      <p:grpSpPr>
        <a:xfrm>
          <a:off x="0" y="0"/>
          <a:ext cx="0" cy="0"/>
          <a:chOff x="0" y="0"/>
          <a:chExt cx="0" cy="0"/>
        </a:xfrm>
      </p:grpSpPr>
      <p:sp>
        <p:nvSpPr>
          <p:cNvPr id="5" name="Google Shape;169;p18">
            <a:extLst>
              <a:ext uri="{FF2B5EF4-FFF2-40B4-BE49-F238E27FC236}">
                <a16:creationId xmlns:a16="http://schemas.microsoft.com/office/drawing/2014/main" id="{6F8F4F55-CD9C-EDA9-158E-A3C3A2A56FCE}"/>
              </a:ext>
            </a:extLst>
          </p:cNvPr>
          <p:cNvSpPr txBox="1"/>
          <p:nvPr/>
        </p:nvSpPr>
        <p:spPr>
          <a:xfrm>
            <a:off x="581025" y="1931183"/>
            <a:ext cx="245714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latin typeface="Inter"/>
                <a:ea typeface="Urbanist"/>
                <a:cs typeface="Urbanist"/>
                <a:sym typeface="Urbanist"/>
              </a:rPr>
              <a:t>The Real 2 Sim Gap:</a:t>
            </a:r>
            <a:endParaRPr sz="2400" dirty="0">
              <a:latin typeface="Inter"/>
            </a:endParaRPr>
          </a:p>
        </p:txBody>
      </p:sp>
      <p:sp>
        <p:nvSpPr>
          <p:cNvPr id="13" name="Google Shape;179;p18">
            <a:extLst>
              <a:ext uri="{FF2B5EF4-FFF2-40B4-BE49-F238E27FC236}">
                <a16:creationId xmlns:a16="http://schemas.microsoft.com/office/drawing/2014/main" id="{1C1C1D0D-549C-7AC9-FF3B-3514E8FB544A}"/>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Physical Behavior vs </a:t>
            </a:r>
            <a:r>
              <a:rPr lang="en-US" sz="3750" b="1" i="0" u="none" strike="noStrike" cap="none">
                <a:solidFill>
                  <a:srgbClr val="76B900"/>
                </a:solidFill>
                <a:latin typeface="Urbanist"/>
                <a:ea typeface="Urbanist"/>
                <a:cs typeface="Urbanist"/>
                <a:sym typeface="Urbanist"/>
              </a:rPr>
              <a:t>Simulation Gap</a:t>
            </a:r>
            <a:endParaRPr/>
          </a:p>
        </p:txBody>
      </p:sp>
      <p:sp>
        <p:nvSpPr>
          <p:cNvPr id="14" name="Google Shape;180;p18">
            <a:extLst>
              <a:ext uri="{FF2B5EF4-FFF2-40B4-BE49-F238E27FC236}">
                <a16:creationId xmlns:a16="http://schemas.microsoft.com/office/drawing/2014/main" id="{AE8332C1-92A4-6058-1FD5-16F5C2C9D789}"/>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 name="TextBox 16">
            <a:extLst>
              <a:ext uri="{FF2B5EF4-FFF2-40B4-BE49-F238E27FC236}">
                <a16:creationId xmlns:a16="http://schemas.microsoft.com/office/drawing/2014/main" id="{32220F89-D6F4-D2F6-B2A0-7FBEFAB87280}"/>
              </a:ext>
            </a:extLst>
          </p:cNvPr>
          <p:cNvSpPr txBox="1"/>
          <p:nvPr/>
        </p:nvSpPr>
        <p:spPr>
          <a:xfrm>
            <a:off x="669332" y="2316832"/>
            <a:ext cx="5239228"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Inter"/>
              </a:rPr>
              <a:t>Rays distributed on the surface of </a:t>
            </a:r>
            <a:r>
              <a:rPr lang="en-US" sz="1600" b="1" dirty="0">
                <a:latin typeface="Inter"/>
              </a:rPr>
              <a:t>2 Concentric cones </a:t>
            </a:r>
            <a:r>
              <a:rPr lang="en-US" sz="1600" dirty="0">
                <a:latin typeface="Inter"/>
              </a:rPr>
              <a:t>and </a:t>
            </a:r>
            <a:br>
              <a:rPr lang="en-US" sz="1600" dirty="0">
                <a:latin typeface="Inter"/>
              </a:rPr>
            </a:br>
            <a:r>
              <a:rPr lang="en-US" sz="1600" b="1" dirty="0">
                <a:latin typeface="Inter"/>
              </a:rPr>
              <a:t>1 central ray</a:t>
            </a:r>
            <a:r>
              <a:rPr lang="en-US" sz="1600" dirty="0">
                <a:latin typeface="Inter"/>
              </a:rPr>
              <a:t> receive distance measures.</a:t>
            </a:r>
            <a:br>
              <a:rPr lang="en-US" sz="1600" dirty="0">
                <a:latin typeface="Inter"/>
              </a:rPr>
            </a:br>
            <a:endParaRPr lang="en-US" sz="1600" dirty="0">
              <a:latin typeface="Inter"/>
            </a:endParaRPr>
          </a:p>
          <a:p>
            <a:r>
              <a:rPr lang="en-US" sz="1600" dirty="0">
                <a:latin typeface="Inter"/>
              </a:rPr>
              <a:t>The final output is a </a:t>
            </a:r>
            <a:r>
              <a:rPr lang="en-US" sz="1600" b="1" dirty="0">
                <a:latin typeface="Inter"/>
              </a:rPr>
              <a:t>weighted average </a:t>
            </a:r>
            <a:r>
              <a:rPr lang="en-US" sz="1600" dirty="0">
                <a:latin typeface="Inter"/>
              </a:rPr>
              <a:t>with higher weights given to central beams.</a:t>
            </a:r>
          </a:p>
          <a:p>
            <a:endParaRPr lang="en-US" sz="1600" dirty="0">
              <a:latin typeface="Inter"/>
            </a:endParaRPr>
          </a:p>
          <a:p>
            <a:r>
              <a:rPr lang="en-US" sz="1600" dirty="0">
                <a:latin typeface="Inter"/>
              </a:rPr>
              <a:t>Rays number can be variated.</a:t>
            </a:r>
          </a:p>
          <a:p>
            <a:endParaRPr lang="en-US" sz="1600" dirty="0">
              <a:latin typeface="Inter"/>
            </a:endParaRPr>
          </a:p>
          <a:p>
            <a:r>
              <a:rPr lang="en-US" sz="1600" dirty="0" err="1">
                <a:latin typeface="Inter"/>
              </a:rPr>
              <a:t>FoV</a:t>
            </a:r>
            <a:r>
              <a:rPr lang="en-US" sz="1600" dirty="0">
                <a:latin typeface="Inter"/>
              </a:rPr>
              <a:t> can take whatever value, and cones will adapt (27°-15° is physical limit).</a:t>
            </a:r>
          </a:p>
        </p:txBody>
      </p:sp>
      <p:pic>
        <p:nvPicPr>
          <p:cNvPr id="2" name="Picture 3">
            <a:extLst>
              <a:ext uri="{FF2B5EF4-FFF2-40B4-BE49-F238E27FC236}">
                <a16:creationId xmlns:a16="http://schemas.microsoft.com/office/drawing/2014/main" id="{800B314C-DCD7-6161-EFC6-314F1B06AC83}"/>
              </a:ext>
            </a:extLst>
          </p:cNvPr>
          <p:cNvPicPr>
            <a:picLocks noChangeAspect="1"/>
          </p:cNvPicPr>
          <p:nvPr/>
        </p:nvPicPr>
        <p:blipFill>
          <a:blip r:embed="rId2"/>
          <a:stretch>
            <a:fillRect/>
          </a:stretch>
        </p:blipFill>
        <p:spPr>
          <a:xfrm>
            <a:off x="6803588" y="1931183"/>
            <a:ext cx="4157070" cy="3727658"/>
          </a:xfrm>
          <a:prstGeom prst="rect">
            <a:avLst/>
          </a:prstGeom>
        </p:spPr>
      </p:pic>
      <p:sp>
        <p:nvSpPr>
          <p:cNvPr id="4" name="CasellaDiTesto 4">
            <a:extLst>
              <a:ext uri="{FF2B5EF4-FFF2-40B4-BE49-F238E27FC236}">
                <a16:creationId xmlns:a16="http://schemas.microsoft.com/office/drawing/2014/main" id="{2E0A4EA5-A83F-B99E-BBF6-499CE07B043E}"/>
              </a:ext>
            </a:extLst>
          </p:cNvPr>
          <p:cNvSpPr txBox="1"/>
          <p:nvPr/>
        </p:nvSpPr>
        <p:spPr>
          <a:xfrm>
            <a:off x="737113" y="5029986"/>
            <a:ext cx="4157070" cy="338554"/>
          </a:xfrm>
          <a:prstGeom prst="rect">
            <a:avLst/>
          </a:prstGeom>
          <a:noFill/>
        </p:spPr>
        <p:txBody>
          <a:bodyPr wrap="square" rtlCol="0">
            <a:spAutoFit/>
          </a:bodyPr>
          <a:lstStyle/>
          <a:p>
            <a:pPr>
              <a:buClr>
                <a:srgbClr val="FF0000"/>
              </a:buClr>
            </a:pPr>
            <a:r>
              <a:rPr lang="it-IT" sz="1600" dirty="0">
                <a:latin typeface="Inter"/>
              </a:rPr>
              <a:t>This physical choices are important for the code</a:t>
            </a:r>
          </a:p>
        </p:txBody>
      </p:sp>
      <p:sp>
        <p:nvSpPr>
          <p:cNvPr id="8" name="TextBox 7">
            <a:extLst>
              <a:ext uri="{FF2B5EF4-FFF2-40B4-BE49-F238E27FC236}">
                <a16:creationId xmlns:a16="http://schemas.microsoft.com/office/drawing/2014/main" id="{3D8DA4CD-C74C-4AAE-2AD0-B9B6544563C2}"/>
              </a:ext>
            </a:extLst>
          </p:cNvPr>
          <p:cNvSpPr txBox="1"/>
          <p:nvPr/>
        </p:nvSpPr>
        <p:spPr>
          <a:xfrm>
            <a:off x="422481" y="5029986"/>
            <a:ext cx="403122"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sp>
        <p:nvSpPr>
          <p:cNvPr id="10" name="TextBox 9">
            <a:extLst>
              <a:ext uri="{FF2B5EF4-FFF2-40B4-BE49-F238E27FC236}">
                <a16:creationId xmlns:a16="http://schemas.microsoft.com/office/drawing/2014/main" id="{92F66F8F-16F5-3EA8-F49E-FB6ADF63D9B2}"/>
              </a:ext>
            </a:extLst>
          </p:cNvPr>
          <p:cNvSpPr txBox="1"/>
          <p:nvPr/>
        </p:nvSpPr>
        <p:spPr>
          <a:xfrm>
            <a:off x="423709" y="2316832"/>
            <a:ext cx="314632" cy="369332"/>
          </a:xfrm>
          <a:prstGeom prst="rect">
            <a:avLst/>
          </a:prstGeom>
          <a:noFill/>
        </p:spPr>
        <p:txBody>
          <a:bodyPr wrap="square">
            <a:spAutoFit/>
          </a:bodyPr>
          <a:lstStyle/>
          <a:p>
            <a:r>
              <a:rPr lang="en-US" sz="1800" b="0" i="0" u="none" strike="noStrike" cap="none">
                <a:ln>
                  <a:solidFill>
                    <a:srgbClr val="00B050"/>
                  </a:solidFill>
                </a:ln>
                <a:solidFill>
                  <a:srgbClr val="00B050"/>
                </a:solidFill>
                <a:latin typeface="Arial"/>
                <a:ea typeface="Arial"/>
                <a:cs typeface="Arial"/>
                <a:sym typeface="Arial"/>
              </a:rPr>
              <a:t></a:t>
            </a:r>
            <a:endParaRPr lang="en-GB">
              <a:ln>
                <a:solidFill>
                  <a:srgbClr val="00B050"/>
                </a:solidFill>
              </a:ln>
              <a:solidFill>
                <a:srgbClr val="00B050"/>
              </a:solidFill>
            </a:endParaRPr>
          </a:p>
        </p:txBody>
      </p:sp>
      <p:sp>
        <p:nvSpPr>
          <p:cNvPr id="11" name="TextBox 10">
            <a:extLst>
              <a:ext uri="{FF2B5EF4-FFF2-40B4-BE49-F238E27FC236}">
                <a16:creationId xmlns:a16="http://schemas.microsoft.com/office/drawing/2014/main" id="{E3737FD0-1C02-1C3F-A4E1-AC90CC04154D}"/>
              </a:ext>
            </a:extLst>
          </p:cNvPr>
          <p:cNvSpPr txBox="1"/>
          <p:nvPr/>
        </p:nvSpPr>
        <p:spPr>
          <a:xfrm>
            <a:off x="423709" y="3038020"/>
            <a:ext cx="314632"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sp>
        <p:nvSpPr>
          <p:cNvPr id="12" name="TextBox 11">
            <a:extLst>
              <a:ext uri="{FF2B5EF4-FFF2-40B4-BE49-F238E27FC236}">
                <a16:creationId xmlns:a16="http://schemas.microsoft.com/office/drawing/2014/main" id="{82FA7130-C394-9F2C-5302-44C457262D4E}"/>
              </a:ext>
            </a:extLst>
          </p:cNvPr>
          <p:cNvSpPr txBox="1"/>
          <p:nvPr/>
        </p:nvSpPr>
        <p:spPr>
          <a:xfrm>
            <a:off x="423709" y="3795012"/>
            <a:ext cx="314632"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sp>
        <p:nvSpPr>
          <p:cNvPr id="15" name="TextBox 14">
            <a:extLst>
              <a:ext uri="{FF2B5EF4-FFF2-40B4-BE49-F238E27FC236}">
                <a16:creationId xmlns:a16="http://schemas.microsoft.com/office/drawing/2014/main" id="{6D695038-99F1-C319-3D43-6A9DB42B9B2D}"/>
              </a:ext>
            </a:extLst>
          </p:cNvPr>
          <p:cNvSpPr txBox="1"/>
          <p:nvPr/>
        </p:nvSpPr>
        <p:spPr>
          <a:xfrm>
            <a:off x="422481" y="4272994"/>
            <a:ext cx="314632"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spTree>
    <p:extLst>
      <p:ext uri="{BB962C8B-B14F-4D97-AF65-F5344CB8AC3E}">
        <p14:creationId xmlns:p14="http://schemas.microsoft.com/office/powerpoint/2010/main" val="1217655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9FCD8-592B-767F-3A80-A8EB7E661EDA}"/>
            </a:ext>
          </a:extLst>
        </p:cNvPr>
        <p:cNvGrpSpPr/>
        <p:nvPr/>
      </p:nvGrpSpPr>
      <p:grpSpPr>
        <a:xfrm>
          <a:off x="0" y="0"/>
          <a:ext cx="0" cy="0"/>
          <a:chOff x="0" y="0"/>
          <a:chExt cx="0" cy="0"/>
        </a:xfrm>
      </p:grpSpPr>
      <p:sp>
        <p:nvSpPr>
          <p:cNvPr id="17" name="Google Shape;226;p20">
            <a:extLst>
              <a:ext uri="{FF2B5EF4-FFF2-40B4-BE49-F238E27FC236}">
                <a16:creationId xmlns:a16="http://schemas.microsoft.com/office/drawing/2014/main" id="{DD132485-27DA-43EB-A944-F96CD1522361}"/>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Code</a:t>
            </a:r>
            <a:r>
              <a:rPr lang="en-US" sz="3750" b="1" i="0" u="none" strike="noStrike" cap="none">
                <a:solidFill>
                  <a:srgbClr val="FFFFFF"/>
                </a:solidFill>
                <a:latin typeface="Urbanist"/>
                <a:ea typeface="Urbanist"/>
                <a:cs typeface="Urbanist"/>
                <a:sym typeface="Urbanist"/>
              </a:rPr>
              <a:t> </a:t>
            </a:r>
            <a:r>
              <a:rPr lang="en-US" sz="3750" b="1" i="0" u="none" strike="noStrike" cap="none">
                <a:solidFill>
                  <a:srgbClr val="76B900"/>
                </a:solidFill>
                <a:latin typeface="Urbanist"/>
                <a:ea typeface="Urbanist"/>
                <a:cs typeface="Urbanist"/>
                <a:sym typeface="Urbanist"/>
              </a:rPr>
              <a:t>Structure</a:t>
            </a:r>
            <a:endParaRPr/>
          </a:p>
        </p:txBody>
      </p:sp>
      <p:sp>
        <p:nvSpPr>
          <p:cNvPr id="18" name="Google Shape;227;p20">
            <a:extLst>
              <a:ext uri="{FF2B5EF4-FFF2-40B4-BE49-F238E27FC236}">
                <a16:creationId xmlns:a16="http://schemas.microsoft.com/office/drawing/2014/main" id="{59A81322-DAE5-B561-59A4-00055E7BE16A}"/>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 name="Google Shape;218;p20">
            <a:extLst>
              <a:ext uri="{FF2B5EF4-FFF2-40B4-BE49-F238E27FC236}">
                <a16:creationId xmlns:a16="http://schemas.microsoft.com/office/drawing/2014/main" id="{C2CCEB3E-DE0D-D94A-071F-03D4B0EA1D95}"/>
              </a:ext>
            </a:extLst>
          </p:cNvPr>
          <p:cNvSpPr txBox="1"/>
          <p:nvPr/>
        </p:nvSpPr>
        <p:spPr>
          <a:xfrm>
            <a:off x="8129587" y="3657600"/>
            <a:ext cx="1685925"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FFFFFF"/>
                </a:solidFill>
                <a:latin typeface="Inter"/>
                <a:ea typeface="Inter"/>
                <a:cs typeface="Inter"/>
                <a:sym typeface="Inter"/>
              </a:rPr>
              <a:t>MultiMeshrRayCaster()</a:t>
            </a:r>
            <a:endParaRPr/>
          </a:p>
        </p:txBody>
      </p:sp>
      <p:sp>
        <p:nvSpPr>
          <p:cNvPr id="20" name="Google Shape;219;p20">
            <a:extLst>
              <a:ext uri="{FF2B5EF4-FFF2-40B4-BE49-F238E27FC236}">
                <a16:creationId xmlns:a16="http://schemas.microsoft.com/office/drawing/2014/main" id="{3D4994F3-A39D-8D19-D092-8514FD50BB40}"/>
              </a:ext>
            </a:extLst>
          </p:cNvPr>
          <p:cNvSpPr txBox="1"/>
          <p:nvPr/>
        </p:nvSpPr>
        <p:spPr>
          <a:xfrm>
            <a:off x="8634412" y="3867150"/>
            <a:ext cx="67627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chemeClr val="bg1"/>
                </a:solidFill>
                <a:latin typeface="Inter"/>
                <a:ea typeface="Inter"/>
                <a:cs typeface="Inter"/>
                <a:sym typeface="Inter"/>
              </a:rPr>
              <a:t>Base Class</a:t>
            </a:r>
            <a:endParaRPr>
              <a:solidFill>
                <a:schemeClr val="bg1"/>
              </a:solidFill>
            </a:endParaRPr>
          </a:p>
        </p:txBody>
      </p:sp>
      <p:pic>
        <p:nvPicPr>
          <p:cNvPr id="2" name="Picture 1">
            <a:extLst>
              <a:ext uri="{FF2B5EF4-FFF2-40B4-BE49-F238E27FC236}">
                <a16:creationId xmlns:a16="http://schemas.microsoft.com/office/drawing/2014/main" id="{22C6F0A4-DCFE-CF15-1BFA-7D9D81016E95}"/>
              </a:ext>
            </a:extLst>
          </p:cNvPr>
          <p:cNvPicPr>
            <a:picLocks noChangeAspect="1"/>
          </p:cNvPicPr>
          <p:nvPr/>
        </p:nvPicPr>
        <p:blipFill>
          <a:blip r:embed="rId2"/>
          <a:stretch>
            <a:fillRect/>
          </a:stretch>
        </p:blipFill>
        <p:spPr>
          <a:xfrm>
            <a:off x="5533237" y="1528031"/>
            <a:ext cx="5933732" cy="5159134"/>
          </a:xfrm>
          <a:prstGeom prst="rect">
            <a:avLst/>
          </a:prstGeom>
        </p:spPr>
      </p:pic>
      <p:sp>
        <p:nvSpPr>
          <p:cNvPr id="27" name="Parentesi graffa aperta 6">
            <a:extLst>
              <a:ext uri="{FF2B5EF4-FFF2-40B4-BE49-F238E27FC236}">
                <a16:creationId xmlns:a16="http://schemas.microsoft.com/office/drawing/2014/main" id="{589D72D1-D5D9-13B0-28CE-508977EAC578}"/>
              </a:ext>
            </a:extLst>
          </p:cNvPr>
          <p:cNvSpPr/>
          <p:nvPr/>
        </p:nvSpPr>
        <p:spPr bwMode="auto">
          <a:xfrm>
            <a:off x="6965193" y="1564598"/>
            <a:ext cx="204828" cy="3471672"/>
          </a:xfrm>
          <a:prstGeom prst="leftBrac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sng" strike="noStrike" cap="none" normalizeH="0" baseline="0">
              <a:ln>
                <a:noFill/>
              </a:ln>
              <a:solidFill>
                <a:schemeClr val="tx1"/>
              </a:solidFill>
              <a:effectLst/>
              <a:latin typeface="Arial" charset="0"/>
            </a:endParaRPr>
          </a:p>
        </p:txBody>
      </p:sp>
      <p:grpSp>
        <p:nvGrpSpPr>
          <p:cNvPr id="32" name="Group 31">
            <a:extLst>
              <a:ext uri="{FF2B5EF4-FFF2-40B4-BE49-F238E27FC236}">
                <a16:creationId xmlns:a16="http://schemas.microsoft.com/office/drawing/2014/main" id="{CDE89B81-A87D-F56C-874D-79A32286A90F}"/>
              </a:ext>
            </a:extLst>
          </p:cNvPr>
          <p:cNvGrpSpPr/>
          <p:nvPr/>
        </p:nvGrpSpPr>
        <p:grpSpPr>
          <a:xfrm>
            <a:off x="566443" y="1888837"/>
            <a:ext cx="5634016" cy="825029"/>
            <a:chOff x="615199" y="1647929"/>
            <a:chExt cx="5634016" cy="825029"/>
          </a:xfrm>
        </p:grpSpPr>
        <p:sp>
          <p:nvSpPr>
            <p:cNvPr id="3" name="Google Shape;224;p20">
              <a:extLst>
                <a:ext uri="{FF2B5EF4-FFF2-40B4-BE49-F238E27FC236}">
                  <a16:creationId xmlns:a16="http://schemas.microsoft.com/office/drawing/2014/main" id="{C394CCF0-557C-AC1E-7D4F-9277B86D8D0F}"/>
                </a:ext>
              </a:extLst>
            </p:cNvPr>
            <p:cNvSpPr txBox="1"/>
            <p:nvPr/>
          </p:nvSpPr>
          <p:spPr>
            <a:xfrm>
              <a:off x="615199" y="1647929"/>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dirty="0">
                  <a:ln>
                    <a:solidFill>
                      <a:srgbClr val="00B050"/>
                    </a:solidFill>
                  </a:ln>
                  <a:solidFill>
                    <a:srgbClr val="00B050"/>
                  </a:solidFill>
                  <a:latin typeface="Arial"/>
                  <a:ea typeface="Arial"/>
                  <a:cs typeface="Arial"/>
                  <a:sym typeface="Arial"/>
                </a:rPr>
                <a:t></a:t>
              </a:r>
              <a:endParaRPr dirty="0"/>
            </a:p>
          </p:txBody>
        </p:sp>
        <p:sp>
          <p:nvSpPr>
            <p:cNvPr id="28" name="Google Shape;213;p20">
              <a:extLst>
                <a:ext uri="{FF2B5EF4-FFF2-40B4-BE49-F238E27FC236}">
                  <a16:creationId xmlns:a16="http://schemas.microsoft.com/office/drawing/2014/main" id="{E9B0997B-679A-4205-0E6B-AC773442F54E}"/>
                </a:ext>
              </a:extLst>
            </p:cNvPr>
            <p:cNvSpPr txBox="1"/>
            <p:nvPr/>
          </p:nvSpPr>
          <p:spPr>
            <a:xfrm>
              <a:off x="972365" y="1734294"/>
              <a:ext cx="5276850" cy="738664"/>
            </a:xfrm>
            <a:prstGeom prst="rect">
              <a:avLst/>
            </a:prstGeom>
            <a:noFill/>
            <a:ln>
              <a:noFill/>
            </a:ln>
          </p:spPr>
          <p:txBody>
            <a:bodyPr spcFirstLastPara="1" wrap="square" lIns="0" tIns="0" rIns="0" bIns="0" anchor="t" anchorCtr="0">
              <a:spAutoFit/>
            </a:bodyPr>
            <a:lstStyle/>
            <a:p>
              <a:r>
                <a:rPr lang="it-IT" sz="1600" dirty="0">
                  <a:solidFill>
                    <a:srgbClr val="00B050"/>
                  </a:solidFill>
                  <a:latin typeface="Inter"/>
                  <a:ea typeface="Inter"/>
                </a:rPr>
                <a:t>Our code </a:t>
              </a:r>
              <a:r>
                <a:rPr lang="it-IT" sz="1600" dirty="0">
                  <a:latin typeface="Inter"/>
                </a:rPr>
                <a:t>extends the base class; it’s the «brain» that customizes</a:t>
              </a:r>
              <a:br>
                <a:rPr lang="it-IT" sz="1600" dirty="0">
                  <a:latin typeface="Inter"/>
                </a:rPr>
              </a:br>
              <a:r>
                <a:rPr lang="it-IT" sz="1600" dirty="0">
                  <a:latin typeface="Inter"/>
                </a:rPr>
                <a:t>the sensor’s behavior</a:t>
              </a:r>
              <a:endParaRPr lang="en-US" sz="1600" dirty="0">
                <a:latin typeface="Inter"/>
              </a:endParaRPr>
            </a:p>
          </p:txBody>
        </p:sp>
      </p:grpSp>
      <p:grpSp>
        <p:nvGrpSpPr>
          <p:cNvPr id="31" name="Group 30">
            <a:extLst>
              <a:ext uri="{FF2B5EF4-FFF2-40B4-BE49-F238E27FC236}">
                <a16:creationId xmlns:a16="http://schemas.microsoft.com/office/drawing/2014/main" id="{9F703BD5-BAE5-CE7D-1D4F-A6E558A302EA}"/>
              </a:ext>
            </a:extLst>
          </p:cNvPr>
          <p:cNvGrpSpPr/>
          <p:nvPr/>
        </p:nvGrpSpPr>
        <p:grpSpPr>
          <a:xfrm>
            <a:off x="581025" y="4350973"/>
            <a:ext cx="5773297" cy="1370594"/>
            <a:chOff x="628522" y="2396960"/>
            <a:chExt cx="5620693" cy="1370594"/>
          </a:xfrm>
        </p:grpSpPr>
        <p:sp>
          <p:nvSpPr>
            <p:cNvPr id="15" name="Google Shape;224;p20">
              <a:extLst>
                <a:ext uri="{FF2B5EF4-FFF2-40B4-BE49-F238E27FC236}">
                  <a16:creationId xmlns:a16="http://schemas.microsoft.com/office/drawing/2014/main" id="{D45DBFB5-D8DD-1FB1-B32B-1B5FC2B494A5}"/>
                </a:ext>
              </a:extLst>
            </p:cNvPr>
            <p:cNvSpPr txBox="1"/>
            <p:nvPr/>
          </p:nvSpPr>
          <p:spPr>
            <a:xfrm>
              <a:off x="628522" y="2396960"/>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30" name="Google Shape;213;p20">
              <a:extLst>
                <a:ext uri="{FF2B5EF4-FFF2-40B4-BE49-F238E27FC236}">
                  <a16:creationId xmlns:a16="http://schemas.microsoft.com/office/drawing/2014/main" id="{33656500-D839-3E0B-C280-4D948A2721A4}"/>
                </a:ext>
              </a:extLst>
            </p:cNvPr>
            <p:cNvSpPr txBox="1"/>
            <p:nvPr/>
          </p:nvSpPr>
          <p:spPr>
            <a:xfrm>
              <a:off x="972365" y="2505670"/>
              <a:ext cx="5276850" cy="1261884"/>
            </a:xfrm>
            <a:prstGeom prst="rect">
              <a:avLst/>
            </a:prstGeom>
            <a:noFill/>
            <a:ln>
              <a:noFill/>
            </a:ln>
          </p:spPr>
          <p:txBody>
            <a:bodyPr spcFirstLastPara="1" wrap="square" lIns="0" tIns="0" rIns="0" bIns="0" anchor="t" anchorCtr="0">
              <a:spAutoFit/>
            </a:bodyPr>
            <a:lstStyle/>
            <a:p>
              <a:pPr>
                <a:buClr>
                  <a:srgbClr val="C80000"/>
                </a:buClr>
              </a:pPr>
              <a:r>
                <a:rPr lang="en-US" sz="1600" u="sng" dirty="0">
                  <a:latin typeface="Inter"/>
                  <a:ea typeface="Inter"/>
                </a:rPr>
                <a:t>Benefits:​</a:t>
              </a:r>
            </a:p>
            <a:p>
              <a:pPr marL="342900" lvl="0" indent="-342900">
                <a:buFont typeface="Arial"/>
                <a:buChar char="•"/>
              </a:pPr>
              <a:r>
                <a:rPr lang="en-US" sz="1600" dirty="0">
                  <a:latin typeface="Inter"/>
                  <a:ea typeface="Inter"/>
                </a:rPr>
                <a:t>Dynamic mesh detection​</a:t>
              </a:r>
            </a:p>
            <a:p>
              <a:pPr marL="342900" indent="-342900">
                <a:buFont typeface="Arial"/>
                <a:buChar char="•"/>
              </a:pPr>
              <a:r>
                <a:rPr lang="en-US" sz="1600" dirty="0">
                  <a:latin typeface="Inter"/>
                  <a:ea typeface="Inter"/>
                </a:rPr>
                <a:t>Multimesh detection (cones, sphere, costume meshes </a:t>
              </a:r>
              <a:r>
                <a:rPr lang="en-US" sz="1600" dirty="0" err="1">
                  <a:latin typeface="Inter"/>
                  <a:ea typeface="Inter"/>
                </a:rPr>
                <a:t>ecc</a:t>
              </a:r>
              <a:r>
                <a:rPr lang="en-US" sz="1600" dirty="0">
                  <a:latin typeface="Inter"/>
                  <a:ea typeface="Inter"/>
                </a:rPr>
                <a:t>.)</a:t>
              </a:r>
            </a:p>
            <a:p>
              <a:pPr marL="342900" lvl="0" indent="-342900">
                <a:buFont typeface="Arial"/>
                <a:buChar char="•"/>
              </a:pPr>
              <a:r>
                <a:rPr lang="en-US" sz="1600" dirty="0">
                  <a:latin typeface="Inter"/>
                  <a:ea typeface="Inter"/>
                </a:rPr>
                <a:t>Ease of usage​</a:t>
              </a:r>
            </a:p>
            <a:p>
              <a:pPr marL="342900" lvl="0" indent="-342900">
                <a:buFont typeface="Arial"/>
                <a:buChar char="•"/>
              </a:pPr>
              <a:r>
                <a:rPr lang="en-US" sz="1600" dirty="0">
                  <a:latin typeface="Inter"/>
                  <a:ea typeface="Inter"/>
                </a:rPr>
                <a:t>GPU-Accelerated Parallelization</a:t>
              </a:r>
              <a:r>
                <a:rPr lang="en-US" dirty="0">
                  <a:solidFill>
                    <a:srgbClr val="000000"/>
                  </a:solidFill>
                  <a:latin typeface="Arial"/>
                  <a:ea typeface="Arial"/>
                  <a:cs typeface="Arial"/>
                </a:rPr>
                <a:t>.</a:t>
              </a:r>
            </a:p>
          </p:txBody>
        </p:sp>
      </p:grpSp>
      <p:grpSp>
        <p:nvGrpSpPr>
          <p:cNvPr id="33" name="Group 32">
            <a:extLst>
              <a:ext uri="{FF2B5EF4-FFF2-40B4-BE49-F238E27FC236}">
                <a16:creationId xmlns:a16="http://schemas.microsoft.com/office/drawing/2014/main" id="{073B3674-E95D-A2D4-89E9-3732730ADB01}"/>
              </a:ext>
            </a:extLst>
          </p:cNvPr>
          <p:cNvGrpSpPr/>
          <p:nvPr/>
        </p:nvGrpSpPr>
        <p:grpSpPr>
          <a:xfrm>
            <a:off x="581025" y="3052305"/>
            <a:ext cx="4961427" cy="819763"/>
            <a:chOff x="580630" y="1647381"/>
            <a:chExt cx="5858221" cy="819763"/>
          </a:xfrm>
        </p:grpSpPr>
        <p:sp>
          <p:nvSpPr>
            <p:cNvPr id="34" name="Google Shape;224;p20">
              <a:extLst>
                <a:ext uri="{FF2B5EF4-FFF2-40B4-BE49-F238E27FC236}">
                  <a16:creationId xmlns:a16="http://schemas.microsoft.com/office/drawing/2014/main" id="{EC1A0472-5626-229B-4C98-ED9B494964F4}"/>
                </a:ext>
              </a:extLst>
            </p:cNvPr>
            <p:cNvSpPr txBox="1"/>
            <p:nvPr/>
          </p:nvSpPr>
          <p:spPr>
            <a:xfrm>
              <a:off x="580630" y="1647381"/>
              <a:ext cx="95249" cy="393954"/>
            </a:xfrm>
            <a:prstGeom prst="rect">
              <a:avLst/>
            </a:prstGeom>
            <a:noFill/>
            <a:ln>
              <a:noFill/>
            </a:ln>
          </p:spPr>
          <p:txBody>
            <a:bodyPr spcFirstLastPara="1" wrap="square" lIns="0" tIns="0" rIns="0" bIns="0" anchor="t" anchorCtr="0">
              <a:spAutoFit/>
            </a:bodyPr>
            <a:lstStyle/>
            <a:p>
              <a:pPr lvl="0">
                <a:lnSpc>
                  <a:spcPct val="160000"/>
                </a:lnSpc>
              </a:pPr>
              <a:r>
                <a:rPr lang="en-US" sz="1600" dirty="0">
                  <a:ln>
                    <a:solidFill>
                      <a:srgbClr val="00B050"/>
                    </a:solidFill>
                  </a:ln>
                  <a:solidFill>
                    <a:srgbClr val="00B050"/>
                  </a:solidFill>
                  <a:latin typeface="Arial"/>
                  <a:ea typeface="Arial"/>
                  <a:cs typeface="Arial"/>
                  <a:sym typeface="Arial"/>
                </a:rPr>
                <a:t></a:t>
              </a:r>
              <a:endParaRPr dirty="0"/>
            </a:p>
          </p:txBody>
        </p:sp>
        <p:sp>
          <p:nvSpPr>
            <p:cNvPr id="35" name="Google Shape;213;p20">
              <a:extLst>
                <a:ext uri="{FF2B5EF4-FFF2-40B4-BE49-F238E27FC236}">
                  <a16:creationId xmlns:a16="http://schemas.microsoft.com/office/drawing/2014/main" id="{BA2039A9-92F6-1FAD-F6D9-406AC959A4C8}"/>
                </a:ext>
              </a:extLst>
            </p:cNvPr>
            <p:cNvSpPr txBox="1"/>
            <p:nvPr/>
          </p:nvSpPr>
          <p:spPr>
            <a:xfrm>
              <a:off x="972365" y="1728480"/>
              <a:ext cx="5466486" cy="738664"/>
            </a:xfrm>
            <a:prstGeom prst="rect">
              <a:avLst/>
            </a:prstGeom>
            <a:noFill/>
            <a:ln>
              <a:noFill/>
            </a:ln>
          </p:spPr>
          <p:txBody>
            <a:bodyPr spcFirstLastPara="1" wrap="square" lIns="0" tIns="0" rIns="0" bIns="0" anchor="t" anchorCtr="0">
              <a:spAutoFit/>
            </a:bodyPr>
            <a:lstStyle/>
            <a:p>
              <a:pPr>
                <a:buClr>
                  <a:srgbClr val="FF0000"/>
                </a:buClr>
              </a:pPr>
              <a:r>
                <a:rPr lang="it-IT" sz="1600" dirty="0">
                  <a:solidFill>
                    <a:srgbClr val="0070C0"/>
                  </a:solidFill>
                  <a:latin typeface="Inter"/>
                  <a:ea typeface="Inter"/>
                </a:rPr>
                <a:t>Isaac Lab</a:t>
              </a:r>
              <a:r>
                <a:rPr lang="it-IT" sz="1600" dirty="0">
                  <a:latin typeface="Inter"/>
                  <a:ea typeface="Inter"/>
                </a:rPr>
                <a:t>, </a:t>
              </a:r>
              <a:r>
                <a:rPr lang="en-US" sz="1600" dirty="0">
                  <a:latin typeface="Inter"/>
                  <a:ea typeface="Inter"/>
                </a:rPr>
                <a:t>using the </a:t>
              </a:r>
              <a:r>
                <a:rPr lang="en-US" sz="1600" dirty="0" err="1">
                  <a:solidFill>
                    <a:srgbClr val="FF0000"/>
                  </a:solidFill>
                  <a:latin typeface="Inter"/>
                  <a:ea typeface="Inter"/>
                </a:rPr>
                <a:t>MultiMeshRayCaster</a:t>
              </a:r>
              <a:r>
                <a:rPr lang="en-US" sz="1600" dirty="0">
                  <a:latin typeface="Inter"/>
                  <a:ea typeface="Inter"/>
                </a:rPr>
                <a:t> class, provides the infrastructure (ability to interact with meshes and compute everything in parallel on the GPU).</a:t>
              </a:r>
            </a:p>
          </p:txBody>
        </p:sp>
      </p:grpSp>
      <p:sp>
        <p:nvSpPr>
          <p:cNvPr id="36" name="Parentesi graffa aperta 5">
            <a:extLst>
              <a:ext uri="{FF2B5EF4-FFF2-40B4-BE49-F238E27FC236}">
                <a16:creationId xmlns:a16="http://schemas.microsoft.com/office/drawing/2014/main" id="{26DDF25A-0FDC-7B48-D5AF-4A8BC86E95DD}"/>
              </a:ext>
            </a:extLst>
          </p:cNvPr>
          <p:cNvSpPr/>
          <p:nvPr/>
        </p:nvSpPr>
        <p:spPr bwMode="auto">
          <a:xfrm>
            <a:off x="5340197" y="5956615"/>
            <a:ext cx="193040" cy="650240"/>
          </a:xfrm>
          <a:prstGeom prst="leftBrac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sng"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636194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201;p19">
            <a:extLst>
              <a:ext uri="{FF2B5EF4-FFF2-40B4-BE49-F238E27FC236}">
                <a16:creationId xmlns:a16="http://schemas.microsoft.com/office/drawing/2014/main" id="{662718F9-6712-5195-F0CA-89316CD5DF9F}"/>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How the 5 Cones </a:t>
            </a:r>
            <a:r>
              <a:rPr lang="en-US" sz="3750" b="1" i="0" u="none" strike="noStrike" cap="none">
                <a:solidFill>
                  <a:srgbClr val="76B900"/>
                </a:solidFill>
                <a:latin typeface="Urbanist"/>
                <a:ea typeface="Urbanist"/>
                <a:cs typeface="Urbanist"/>
                <a:sym typeface="Urbanist"/>
              </a:rPr>
              <a:t>Were Created</a:t>
            </a:r>
            <a:endParaRPr/>
          </a:p>
        </p:txBody>
      </p:sp>
      <p:sp>
        <p:nvSpPr>
          <p:cNvPr id="14" name="Google Shape;202;p19">
            <a:extLst>
              <a:ext uri="{FF2B5EF4-FFF2-40B4-BE49-F238E27FC236}">
                <a16:creationId xmlns:a16="http://schemas.microsoft.com/office/drawing/2014/main" id="{C3670674-9D04-D809-A58D-5B0639844F95}"/>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9" name="Google Shape;154;p17" descr="image.png">
            <a:extLst>
              <a:ext uri="{FF2B5EF4-FFF2-40B4-BE49-F238E27FC236}">
                <a16:creationId xmlns:a16="http://schemas.microsoft.com/office/drawing/2014/main" id="{32C605A9-B36B-C507-2B1F-C3359F187DEA}"/>
              </a:ext>
            </a:extLst>
          </p:cNvPr>
          <p:cNvPicPr preferRelativeResize="0"/>
          <p:nvPr/>
        </p:nvPicPr>
        <p:blipFill rotWithShape="1">
          <a:blip r:embed="rId2">
            <a:alphaModFix/>
          </a:blip>
          <a:srcRect/>
          <a:stretch/>
        </p:blipFill>
        <p:spPr>
          <a:xfrm>
            <a:off x="5300879" y="1743517"/>
            <a:ext cx="6447317" cy="1663873"/>
          </a:xfrm>
          <a:prstGeom prst="rect">
            <a:avLst/>
          </a:prstGeom>
          <a:noFill/>
          <a:ln>
            <a:noFill/>
          </a:ln>
        </p:spPr>
      </p:pic>
      <p:pic>
        <p:nvPicPr>
          <p:cNvPr id="52" name="Google Shape;154;p17" descr="image.png">
            <a:extLst>
              <a:ext uri="{FF2B5EF4-FFF2-40B4-BE49-F238E27FC236}">
                <a16:creationId xmlns:a16="http://schemas.microsoft.com/office/drawing/2014/main" id="{DADA56A2-908C-5881-B12A-7C70468548D8}"/>
              </a:ext>
            </a:extLst>
          </p:cNvPr>
          <p:cNvPicPr preferRelativeResize="0"/>
          <p:nvPr/>
        </p:nvPicPr>
        <p:blipFill rotWithShape="1">
          <a:blip r:embed="rId2">
            <a:alphaModFix/>
          </a:blip>
          <a:srcRect/>
          <a:stretch/>
        </p:blipFill>
        <p:spPr>
          <a:xfrm>
            <a:off x="5325305" y="3948133"/>
            <a:ext cx="5009183" cy="2119997"/>
          </a:xfrm>
          <a:prstGeom prst="rect">
            <a:avLst/>
          </a:prstGeom>
          <a:noFill/>
          <a:ln>
            <a:noFill/>
          </a:ln>
        </p:spPr>
      </p:pic>
      <p:pic>
        <p:nvPicPr>
          <p:cNvPr id="37" name="Immagine 17">
            <a:extLst>
              <a:ext uri="{FF2B5EF4-FFF2-40B4-BE49-F238E27FC236}">
                <a16:creationId xmlns:a16="http://schemas.microsoft.com/office/drawing/2014/main" id="{08B0F178-29B4-CCB0-7E57-63B2B2F91B17}"/>
              </a:ext>
            </a:extLst>
          </p:cNvPr>
          <p:cNvPicPr>
            <a:picLocks noChangeAspect="1"/>
          </p:cNvPicPr>
          <p:nvPr/>
        </p:nvPicPr>
        <p:blipFill>
          <a:blip r:embed="rId3"/>
          <a:stretch>
            <a:fillRect/>
          </a:stretch>
        </p:blipFill>
        <p:spPr>
          <a:xfrm>
            <a:off x="10295822" y="1996315"/>
            <a:ext cx="1243287" cy="1158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8" name="CasellaDiTesto 10">
            <a:extLst>
              <a:ext uri="{FF2B5EF4-FFF2-40B4-BE49-F238E27FC236}">
                <a16:creationId xmlns:a16="http://schemas.microsoft.com/office/drawing/2014/main" id="{00701EF0-2AC5-5646-B941-816EB227EC9B}"/>
              </a:ext>
            </a:extLst>
          </p:cNvPr>
          <p:cNvSpPr txBox="1"/>
          <p:nvPr/>
        </p:nvSpPr>
        <p:spPr>
          <a:xfrm>
            <a:off x="5415915" y="1876426"/>
            <a:ext cx="4790125" cy="815608"/>
          </a:xfrm>
          <a:prstGeom prst="rect">
            <a:avLst/>
          </a:prstGeom>
          <a:noFill/>
        </p:spPr>
        <p:txBody>
          <a:bodyPr wrap="square" rtlCol="0">
            <a:spAutoFit/>
          </a:bodyPr>
          <a:lstStyle/>
          <a:p>
            <a:r>
              <a:rPr lang="it-IT" sz="1600">
                <a:latin typeface="Inter"/>
              </a:rPr>
              <a:t>Defines the geometry for every sensor: 10 ray for each sensor (50 rays)</a:t>
            </a:r>
          </a:p>
          <a:p>
            <a:endParaRPr lang="it-IT" sz="1500">
              <a:latin typeface="Inter"/>
              <a:ea typeface="Inter"/>
            </a:endParaRPr>
          </a:p>
        </p:txBody>
      </p:sp>
      <p:sp>
        <p:nvSpPr>
          <p:cNvPr id="40" name="CasellaDiTesto 13">
            <a:extLst>
              <a:ext uri="{FF2B5EF4-FFF2-40B4-BE49-F238E27FC236}">
                <a16:creationId xmlns:a16="http://schemas.microsoft.com/office/drawing/2014/main" id="{E9D5D932-748B-D29F-1B3C-9AF7D252FDCD}"/>
              </a:ext>
            </a:extLst>
          </p:cNvPr>
          <p:cNvSpPr txBox="1"/>
          <p:nvPr/>
        </p:nvSpPr>
        <p:spPr>
          <a:xfrm>
            <a:off x="5415915" y="2660957"/>
            <a:ext cx="4484838" cy="553998"/>
          </a:xfrm>
          <a:prstGeom prst="rect">
            <a:avLst/>
          </a:prstGeom>
          <a:noFill/>
        </p:spPr>
        <p:txBody>
          <a:bodyPr wrap="square" rtlCol="0">
            <a:spAutoFit/>
          </a:bodyPr>
          <a:lstStyle/>
          <a:p>
            <a:r>
              <a:rPr lang="en-US" sz="1500">
                <a:latin typeface="Inter"/>
                <a:ea typeface="Inter"/>
              </a:rPr>
              <a:t>The algorithm automatically splits in 1 central ray, 1/3 inner rays and 2/3 outer rays.</a:t>
            </a:r>
            <a:endParaRPr lang="it-IT" sz="1500">
              <a:latin typeface="Inter"/>
              <a:ea typeface="Inter"/>
            </a:endParaRPr>
          </a:p>
        </p:txBody>
      </p:sp>
      <p:grpSp>
        <p:nvGrpSpPr>
          <p:cNvPr id="7" name="Group 6">
            <a:extLst>
              <a:ext uri="{FF2B5EF4-FFF2-40B4-BE49-F238E27FC236}">
                <a16:creationId xmlns:a16="http://schemas.microsoft.com/office/drawing/2014/main" id="{C8BD4A7A-BCED-94DF-1B8F-783F35A71177}"/>
              </a:ext>
            </a:extLst>
          </p:cNvPr>
          <p:cNvGrpSpPr/>
          <p:nvPr/>
        </p:nvGrpSpPr>
        <p:grpSpPr>
          <a:xfrm>
            <a:off x="5578689" y="3969844"/>
            <a:ext cx="4600508" cy="2328842"/>
            <a:chOff x="6620883" y="3713644"/>
            <a:chExt cx="4600508" cy="2328842"/>
          </a:xfrm>
        </p:grpSpPr>
        <p:sp>
          <p:nvSpPr>
            <p:cNvPr id="48" name="CasellaDiTesto 13">
              <a:extLst>
                <a:ext uri="{FF2B5EF4-FFF2-40B4-BE49-F238E27FC236}">
                  <a16:creationId xmlns:a16="http://schemas.microsoft.com/office/drawing/2014/main" id="{1B45F5AF-784F-FD6D-20FD-F676325F74BA}"/>
                </a:ext>
              </a:extLst>
            </p:cNvPr>
            <p:cNvSpPr txBox="1"/>
            <p:nvPr/>
          </p:nvSpPr>
          <p:spPr>
            <a:xfrm>
              <a:off x="6736553" y="3749551"/>
              <a:ext cx="4484838" cy="2292935"/>
            </a:xfrm>
            <a:prstGeom prst="rect">
              <a:avLst/>
            </a:prstGeom>
            <a:noFill/>
          </p:spPr>
          <p:txBody>
            <a:bodyPr wrap="square" rtlCol="0">
              <a:spAutoFit/>
            </a:bodyPr>
            <a:lstStyle/>
            <a:p>
              <a:pPr>
                <a:buClr>
                  <a:srgbClr val="C80000"/>
                </a:buClr>
              </a:pPr>
              <a:r>
                <a:rPr lang="en-US" sz="1600">
                  <a:latin typeface="Inter"/>
                </a:rPr>
                <a:t>Gets the 50 impact points from the GPU</a:t>
              </a:r>
            </a:p>
            <a:p>
              <a:endParaRPr lang="en-US" sz="1600"/>
            </a:p>
            <a:p>
              <a:pPr>
                <a:buClr>
                  <a:srgbClr val="C80000"/>
                </a:buClr>
              </a:pPr>
              <a:r>
                <a:rPr lang="en-US" sz="1600">
                  <a:latin typeface="Inter"/>
                </a:rPr>
                <a:t>Transforms the 50 points into 5 distances using a </a:t>
              </a:r>
              <a:r>
                <a:rPr lang="en-US" sz="1600" b="1">
                  <a:latin typeface="Inter"/>
                </a:rPr>
                <a:t>weighted average</a:t>
              </a:r>
            </a:p>
            <a:p>
              <a:endParaRPr lang="en-US" sz="1600"/>
            </a:p>
            <a:p>
              <a:pPr>
                <a:buClr>
                  <a:srgbClr val="C80000"/>
                </a:buClr>
              </a:pPr>
              <a:r>
                <a:rPr lang="en-US" sz="1600">
                  <a:latin typeface="Inter"/>
                </a:rPr>
                <a:t>Returns a</a:t>
              </a:r>
              <a:r>
                <a:rPr lang="en-US" sz="1600"/>
                <a:t> </a:t>
              </a:r>
              <a:r>
                <a:rPr lang="en-US" sz="1600" b="1">
                  <a:latin typeface="Inter"/>
                </a:rPr>
                <a:t>Tensor</a:t>
              </a:r>
              <a:r>
                <a:rPr lang="en-US" sz="1600"/>
                <a:t> </a:t>
              </a:r>
              <a:r>
                <a:rPr lang="en-US" sz="1600">
                  <a:latin typeface="Inter"/>
                </a:rPr>
                <a:t>(N, 5). A table where each row is a drone and the 5 columns are the distances in the 5 directions</a:t>
              </a:r>
            </a:p>
            <a:p>
              <a:endParaRPr lang="it-IT" sz="1500">
                <a:latin typeface="Inter"/>
                <a:ea typeface="Inter"/>
              </a:endParaRPr>
            </a:p>
          </p:txBody>
        </p:sp>
        <p:sp>
          <p:nvSpPr>
            <p:cNvPr id="49" name="Google Shape;197;p19">
              <a:extLst>
                <a:ext uri="{FF2B5EF4-FFF2-40B4-BE49-F238E27FC236}">
                  <a16:creationId xmlns:a16="http://schemas.microsoft.com/office/drawing/2014/main" id="{A66C906F-1AD4-96CB-E36D-2154D0FA91C3}"/>
                </a:ext>
              </a:extLst>
            </p:cNvPr>
            <p:cNvSpPr txBox="1"/>
            <p:nvPr/>
          </p:nvSpPr>
          <p:spPr>
            <a:xfrm>
              <a:off x="6620883" y="3713644"/>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50" name="Google Shape;197;p19">
              <a:extLst>
                <a:ext uri="{FF2B5EF4-FFF2-40B4-BE49-F238E27FC236}">
                  <a16:creationId xmlns:a16="http://schemas.microsoft.com/office/drawing/2014/main" id="{441339D3-081D-5A50-2582-43A07CC2DA4C}"/>
                </a:ext>
              </a:extLst>
            </p:cNvPr>
            <p:cNvSpPr txBox="1"/>
            <p:nvPr/>
          </p:nvSpPr>
          <p:spPr>
            <a:xfrm>
              <a:off x="6620883" y="4204768"/>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51" name="Google Shape;197;p19">
              <a:extLst>
                <a:ext uri="{FF2B5EF4-FFF2-40B4-BE49-F238E27FC236}">
                  <a16:creationId xmlns:a16="http://schemas.microsoft.com/office/drawing/2014/main" id="{7A4F70B4-EBA5-2481-5364-86ECA6497805}"/>
                </a:ext>
              </a:extLst>
            </p:cNvPr>
            <p:cNvSpPr txBox="1"/>
            <p:nvPr/>
          </p:nvSpPr>
          <p:spPr>
            <a:xfrm>
              <a:off x="6620883" y="4930064"/>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grpSp>
      <p:pic>
        <p:nvPicPr>
          <p:cNvPr id="16" name="Picture 15">
            <a:extLst>
              <a:ext uri="{FF2B5EF4-FFF2-40B4-BE49-F238E27FC236}">
                <a16:creationId xmlns:a16="http://schemas.microsoft.com/office/drawing/2014/main" id="{450FD213-64C9-51D0-9EF4-070182FFDBF1}"/>
              </a:ext>
            </a:extLst>
          </p:cNvPr>
          <p:cNvPicPr>
            <a:picLocks noChangeAspect="1"/>
          </p:cNvPicPr>
          <p:nvPr/>
        </p:nvPicPr>
        <p:blipFill>
          <a:blip r:embed="rId4"/>
          <a:stretch>
            <a:fillRect/>
          </a:stretch>
        </p:blipFill>
        <p:spPr>
          <a:xfrm>
            <a:off x="1186352" y="1804536"/>
            <a:ext cx="2636284" cy="2678750"/>
          </a:xfrm>
          <a:prstGeom prst="rect">
            <a:avLst/>
          </a:prstGeom>
        </p:spPr>
      </p:pic>
      <p:grpSp>
        <p:nvGrpSpPr>
          <p:cNvPr id="8" name="Group 7">
            <a:extLst>
              <a:ext uri="{FF2B5EF4-FFF2-40B4-BE49-F238E27FC236}">
                <a16:creationId xmlns:a16="http://schemas.microsoft.com/office/drawing/2014/main" id="{63A34218-7654-01A0-36AE-7D2980D90A3C}"/>
              </a:ext>
            </a:extLst>
          </p:cNvPr>
          <p:cNvGrpSpPr/>
          <p:nvPr/>
        </p:nvGrpSpPr>
        <p:grpSpPr>
          <a:xfrm>
            <a:off x="581025" y="4709981"/>
            <a:ext cx="3910105" cy="1358149"/>
            <a:chOff x="317499" y="4614334"/>
            <a:chExt cx="3947584" cy="1295690"/>
          </a:xfrm>
        </p:grpSpPr>
        <p:sp>
          <p:nvSpPr>
            <p:cNvPr id="3" name="TextBox 2">
              <a:extLst>
                <a:ext uri="{FF2B5EF4-FFF2-40B4-BE49-F238E27FC236}">
                  <a16:creationId xmlns:a16="http://schemas.microsoft.com/office/drawing/2014/main" id="{D6CC7C7C-A390-01DB-82E5-82405D2441F2}"/>
                </a:ext>
              </a:extLst>
            </p:cNvPr>
            <p:cNvSpPr txBox="1"/>
            <p:nvPr/>
          </p:nvSpPr>
          <p:spPr>
            <a:xfrm>
              <a:off x="317500" y="4614334"/>
              <a:ext cx="26458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00B050"/>
                  </a:solidFill>
                  <a:latin typeface="Arial"/>
                </a:rPr>
                <a:t></a:t>
              </a:r>
              <a:r>
                <a:rPr lang="en-US" sz="1600">
                  <a:solidFill>
                    <a:srgbClr val="00B050"/>
                  </a:solidFill>
                  <a:latin typeface="Arial"/>
                </a:rPr>
                <a:t> </a:t>
              </a:r>
              <a:endParaRPr lang="en-US"/>
            </a:p>
            <a:p>
              <a:pPr algn="ctr"/>
              <a:endParaRPr lang="en-US"/>
            </a:p>
          </p:txBody>
        </p:sp>
        <p:sp>
          <p:nvSpPr>
            <p:cNvPr id="4" name="TextBox 3">
              <a:extLst>
                <a:ext uri="{FF2B5EF4-FFF2-40B4-BE49-F238E27FC236}">
                  <a16:creationId xmlns:a16="http://schemas.microsoft.com/office/drawing/2014/main" id="{B7A440EA-12A1-CBC1-65F8-50F8D7DBD79C}"/>
                </a:ext>
              </a:extLst>
            </p:cNvPr>
            <p:cNvSpPr txBox="1"/>
            <p:nvPr/>
          </p:nvSpPr>
          <p:spPr>
            <a:xfrm>
              <a:off x="582083" y="4614334"/>
              <a:ext cx="3683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err="1">
                  <a:solidFill>
                    <a:schemeClr val="accent5">
                      <a:lumMod val="60000"/>
                      <a:lumOff val="40000"/>
                    </a:schemeClr>
                  </a:solidFill>
                  <a:latin typeface="Intel"/>
                  <a:cs typeface="Arial"/>
                </a:rPr>
                <a:t>ray_starts</a:t>
              </a:r>
              <a:r>
                <a:rPr lang="en-US" sz="1600" dirty="0">
                  <a:latin typeface="Arial"/>
                  <a:cs typeface="Arial"/>
                </a:rPr>
                <a:t> </a:t>
              </a:r>
              <a:r>
                <a:rPr lang="en-US" sz="1600" dirty="0">
                  <a:solidFill>
                    <a:schemeClr val="dk1"/>
                  </a:solidFill>
                  <a:latin typeface="Inter"/>
                </a:rPr>
                <a:t>coordinate of the ray origin.</a:t>
              </a:r>
            </a:p>
            <a:p>
              <a:pPr algn="ctr"/>
              <a:endParaRPr lang="en-US" dirty="0"/>
            </a:p>
          </p:txBody>
        </p:sp>
        <p:sp>
          <p:nvSpPr>
            <p:cNvPr id="5" name="TextBox 4">
              <a:extLst>
                <a:ext uri="{FF2B5EF4-FFF2-40B4-BE49-F238E27FC236}">
                  <a16:creationId xmlns:a16="http://schemas.microsoft.com/office/drawing/2014/main" id="{0E90501E-660D-B781-3115-90C7AD113D91}"/>
                </a:ext>
              </a:extLst>
            </p:cNvPr>
            <p:cNvSpPr txBox="1"/>
            <p:nvPr/>
          </p:nvSpPr>
          <p:spPr>
            <a:xfrm>
              <a:off x="317499" y="5048250"/>
              <a:ext cx="26458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00B050"/>
                  </a:solidFill>
                  <a:latin typeface="Arial"/>
                </a:rPr>
                <a:t></a:t>
              </a:r>
              <a:r>
                <a:rPr lang="en-US" sz="1600">
                  <a:solidFill>
                    <a:srgbClr val="00B050"/>
                  </a:solidFill>
                  <a:latin typeface="Arial"/>
                </a:rPr>
                <a:t> </a:t>
              </a:r>
              <a:endParaRPr lang="en-US"/>
            </a:p>
            <a:p>
              <a:pPr algn="ctr"/>
              <a:endParaRPr lang="en-US"/>
            </a:p>
          </p:txBody>
        </p:sp>
        <p:sp>
          <p:nvSpPr>
            <p:cNvPr id="6" name="TextBox 5">
              <a:extLst>
                <a:ext uri="{FF2B5EF4-FFF2-40B4-BE49-F238E27FC236}">
                  <a16:creationId xmlns:a16="http://schemas.microsoft.com/office/drawing/2014/main" id="{5E135DC7-FB2C-7977-0914-D9D364037399}"/>
                </a:ext>
              </a:extLst>
            </p:cNvPr>
            <p:cNvSpPr txBox="1"/>
            <p:nvPr/>
          </p:nvSpPr>
          <p:spPr>
            <a:xfrm>
              <a:off x="561467" y="5026451"/>
              <a:ext cx="3683000" cy="584775"/>
            </a:xfrm>
            <a:prstGeom prst="rect">
              <a:avLst/>
            </a:prstGeom>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err="1">
                  <a:solidFill>
                    <a:schemeClr val="accent4"/>
                  </a:solidFill>
                  <a:latin typeface="Intel"/>
                  <a:cs typeface="Arial"/>
                </a:rPr>
                <a:t>ray_dirs</a:t>
              </a:r>
              <a:r>
                <a:rPr lang="en-US" sz="1600" dirty="0">
                  <a:latin typeface="Arial"/>
                  <a:cs typeface="Arial"/>
                </a:rPr>
                <a:t> </a:t>
              </a:r>
              <a:r>
                <a:rPr lang="en-US" sz="1600" dirty="0">
                  <a:latin typeface="Inter"/>
                </a:rPr>
                <a:t>unit vector of the direction.</a:t>
              </a:r>
            </a:p>
            <a:p>
              <a:pPr algn="ctr"/>
              <a:endParaRPr lang="en-US" sz="1600" dirty="0">
                <a:latin typeface="Inter"/>
              </a:endParaRPr>
            </a:p>
          </p:txBody>
        </p:sp>
      </p:grpSp>
    </p:spTree>
    <p:extLst>
      <p:ext uri="{BB962C8B-B14F-4D97-AF65-F5344CB8AC3E}">
        <p14:creationId xmlns:p14="http://schemas.microsoft.com/office/powerpoint/2010/main" val="3415678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243;p21">
            <a:extLst>
              <a:ext uri="{FF2B5EF4-FFF2-40B4-BE49-F238E27FC236}">
                <a16:creationId xmlns:a16="http://schemas.microsoft.com/office/drawing/2014/main" id="{F1E03F09-3943-31CC-271A-C971D49E2924}"/>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1:</a:t>
            </a:r>
            <a:r>
              <a:rPr lang="en-US" sz="3750" b="1" i="0" u="none" strike="noStrike" cap="none">
                <a:solidFill>
                  <a:srgbClr val="FFFFFF"/>
                </a:solidFill>
                <a:latin typeface="Urbanist"/>
                <a:ea typeface="Urbanist"/>
                <a:cs typeface="Urbanist"/>
                <a:sym typeface="Urbanist"/>
              </a:rPr>
              <a:t> </a:t>
            </a:r>
            <a:r>
              <a:rPr lang="en-US" sz="3750" b="1" i="0" u="none" strike="noStrike" cap="none">
                <a:solidFill>
                  <a:srgbClr val="76B900"/>
                </a:solidFill>
                <a:latin typeface="Urbanist"/>
                <a:ea typeface="Urbanist"/>
                <a:cs typeface="Urbanist"/>
                <a:sym typeface="Urbanist"/>
              </a:rPr>
              <a:t>Parallelization &amp; Validation</a:t>
            </a:r>
            <a:endParaRPr/>
          </a:p>
        </p:txBody>
      </p:sp>
      <p:sp>
        <p:nvSpPr>
          <p:cNvPr id="13" name="Google Shape;244;p21">
            <a:extLst>
              <a:ext uri="{FF2B5EF4-FFF2-40B4-BE49-F238E27FC236}">
                <a16:creationId xmlns:a16="http://schemas.microsoft.com/office/drawing/2014/main" id="{1C2771CB-F199-C8C4-8C54-B16FB73E9120}"/>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 name="Google Shape;154;p17" descr="image.png">
            <a:extLst>
              <a:ext uri="{FF2B5EF4-FFF2-40B4-BE49-F238E27FC236}">
                <a16:creationId xmlns:a16="http://schemas.microsoft.com/office/drawing/2014/main" id="{C4E0A742-A383-9DBB-67D5-A690E34093CE}"/>
              </a:ext>
            </a:extLst>
          </p:cNvPr>
          <p:cNvPicPr preferRelativeResize="0"/>
          <p:nvPr/>
        </p:nvPicPr>
        <p:blipFill rotWithShape="1">
          <a:blip r:embed="rId2">
            <a:alphaModFix/>
          </a:blip>
          <a:srcRect/>
          <a:stretch/>
        </p:blipFill>
        <p:spPr>
          <a:xfrm rot="5400000">
            <a:off x="1067752" y="3639279"/>
            <a:ext cx="2362199" cy="3335655"/>
          </a:xfrm>
          <a:prstGeom prst="rect">
            <a:avLst/>
          </a:prstGeom>
          <a:noFill/>
          <a:ln>
            <a:noFill/>
          </a:ln>
        </p:spPr>
      </p:pic>
      <p:sp>
        <p:nvSpPr>
          <p:cNvPr id="15" name="Google Shape;237;p21">
            <a:extLst>
              <a:ext uri="{FF2B5EF4-FFF2-40B4-BE49-F238E27FC236}">
                <a16:creationId xmlns:a16="http://schemas.microsoft.com/office/drawing/2014/main" id="{AB45B02B-6E09-CD53-5C27-92A554E0DF4A}"/>
              </a:ext>
            </a:extLst>
          </p:cNvPr>
          <p:cNvSpPr txBox="1"/>
          <p:nvPr/>
        </p:nvSpPr>
        <p:spPr>
          <a:xfrm>
            <a:off x="767443" y="4313784"/>
            <a:ext cx="304038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latin typeface="Urbanist"/>
                <a:ea typeface="Urbanist"/>
                <a:cs typeface="Urbanist"/>
                <a:sym typeface="Urbanist"/>
              </a:rPr>
              <a:t>Isaac Lab Parallelism</a:t>
            </a:r>
            <a:endParaRPr/>
          </a:p>
        </p:txBody>
      </p:sp>
      <p:sp>
        <p:nvSpPr>
          <p:cNvPr id="16" name="Google Shape;238;p21">
            <a:extLst>
              <a:ext uri="{FF2B5EF4-FFF2-40B4-BE49-F238E27FC236}">
                <a16:creationId xmlns:a16="http://schemas.microsoft.com/office/drawing/2014/main" id="{7DD716B7-D0F7-23D0-92ED-9295AEA12EEB}"/>
              </a:ext>
            </a:extLst>
          </p:cNvPr>
          <p:cNvSpPr txBox="1"/>
          <p:nvPr/>
        </p:nvSpPr>
        <p:spPr>
          <a:xfrm>
            <a:off x="766244" y="4583673"/>
            <a:ext cx="2958281" cy="137883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0" i="0" u="none" strike="noStrike" cap="none">
                <a:latin typeface="Inter"/>
                <a:ea typeface="Inter"/>
                <a:cs typeface="Inter"/>
                <a:sym typeface="Inter"/>
              </a:rPr>
              <a:t>Test showing the operation of both the sensor measurement and the parallelization, a core feature of the Isaac Lab simulation environment.</a:t>
            </a:r>
            <a:endParaRPr lang="en-US" sz="1400"/>
          </a:p>
        </p:txBody>
      </p:sp>
      <p:pic>
        <p:nvPicPr>
          <p:cNvPr id="19" name="Google Shape;154;p17" descr="image.png">
            <a:extLst>
              <a:ext uri="{FF2B5EF4-FFF2-40B4-BE49-F238E27FC236}">
                <a16:creationId xmlns:a16="http://schemas.microsoft.com/office/drawing/2014/main" id="{96CE24B6-9C7D-640A-B62A-5ADD9427CE77}"/>
              </a:ext>
            </a:extLst>
          </p:cNvPr>
          <p:cNvPicPr preferRelativeResize="0"/>
          <p:nvPr/>
        </p:nvPicPr>
        <p:blipFill rotWithShape="1">
          <a:blip r:embed="rId2">
            <a:alphaModFix/>
          </a:blip>
          <a:srcRect/>
          <a:stretch/>
        </p:blipFill>
        <p:spPr>
          <a:xfrm rot="5400000">
            <a:off x="4839651" y="3639279"/>
            <a:ext cx="2362202" cy="3335655"/>
          </a:xfrm>
          <a:prstGeom prst="rect">
            <a:avLst/>
          </a:prstGeom>
          <a:noFill/>
          <a:ln>
            <a:noFill/>
          </a:ln>
        </p:spPr>
      </p:pic>
      <p:sp>
        <p:nvSpPr>
          <p:cNvPr id="20" name="Google Shape;239;p21">
            <a:extLst>
              <a:ext uri="{FF2B5EF4-FFF2-40B4-BE49-F238E27FC236}">
                <a16:creationId xmlns:a16="http://schemas.microsoft.com/office/drawing/2014/main" id="{DEA7280A-DD85-66E6-47E2-F809CB18B17B}"/>
              </a:ext>
            </a:extLst>
          </p:cNvPr>
          <p:cNvSpPr txBox="1"/>
          <p:nvPr/>
        </p:nvSpPr>
        <p:spPr>
          <a:xfrm>
            <a:off x="4639129" y="4313785"/>
            <a:ext cx="304038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latin typeface="Urbanist"/>
                <a:ea typeface="Urbanist"/>
                <a:cs typeface="Urbanist"/>
                <a:sym typeface="Urbanist"/>
              </a:rPr>
              <a:t>Expected vs Measured</a:t>
            </a:r>
            <a:endParaRPr/>
          </a:p>
        </p:txBody>
      </p:sp>
      <p:sp>
        <p:nvSpPr>
          <p:cNvPr id="21" name="Google Shape;240;p21">
            <a:extLst>
              <a:ext uri="{FF2B5EF4-FFF2-40B4-BE49-F238E27FC236}">
                <a16:creationId xmlns:a16="http://schemas.microsoft.com/office/drawing/2014/main" id="{6797E806-5CB7-BF53-9781-B7B1D283727C}"/>
              </a:ext>
            </a:extLst>
          </p:cNvPr>
          <p:cNvSpPr txBox="1"/>
          <p:nvPr/>
        </p:nvSpPr>
        <p:spPr>
          <a:xfrm>
            <a:off x="4639130" y="4683458"/>
            <a:ext cx="2895600"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0" i="0" u="none" strike="noStrike" cap="none">
                <a:latin typeface="Inter"/>
                <a:ea typeface="Inter"/>
                <a:cs typeface="Inter"/>
                <a:sym typeface="Inter"/>
              </a:rPr>
              <a:t>Comparison between theoretical distance (concrete walls) and the simulated </a:t>
            </a:r>
            <a:r>
              <a:rPr lang="en-US" sz="1400" b="0" i="0" u="none" strike="noStrike" cap="none" err="1">
                <a:latin typeface="Inter"/>
                <a:ea typeface="Inter"/>
                <a:cs typeface="Inter"/>
                <a:sym typeface="Inter"/>
              </a:rPr>
              <a:t>ToF</a:t>
            </a:r>
            <a:r>
              <a:rPr lang="en-US" sz="1400" b="0" i="0" u="none" strike="noStrike" cap="none">
                <a:latin typeface="Inter"/>
                <a:ea typeface="Inter"/>
                <a:cs typeface="Inter"/>
                <a:sym typeface="Inter"/>
              </a:rPr>
              <a:t> measurement.</a:t>
            </a:r>
            <a:endParaRPr lang="en-US" sz="1400"/>
          </a:p>
        </p:txBody>
      </p:sp>
      <p:pic>
        <p:nvPicPr>
          <p:cNvPr id="22" name="Google Shape;154;p17" descr="image.png">
            <a:extLst>
              <a:ext uri="{FF2B5EF4-FFF2-40B4-BE49-F238E27FC236}">
                <a16:creationId xmlns:a16="http://schemas.microsoft.com/office/drawing/2014/main" id="{EF9C326D-DB40-3BCA-C9F7-CB18E401B290}"/>
              </a:ext>
            </a:extLst>
          </p:cNvPr>
          <p:cNvPicPr preferRelativeResize="0"/>
          <p:nvPr/>
        </p:nvPicPr>
        <p:blipFill rotWithShape="1">
          <a:blip r:embed="rId2">
            <a:alphaModFix/>
          </a:blip>
          <a:srcRect/>
          <a:stretch/>
        </p:blipFill>
        <p:spPr>
          <a:xfrm rot="5400000">
            <a:off x="8611551" y="3639279"/>
            <a:ext cx="2362202" cy="3335655"/>
          </a:xfrm>
          <a:prstGeom prst="rect">
            <a:avLst/>
          </a:prstGeom>
          <a:noFill/>
          <a:ln>
            <a:noFill/>
          </a:ln>
        </p:spPr>
      </p:pic>
      <p:sp>
        <p:nvSpPr>
          <p:cNvPr id="23" name="Google Shape;241;p21">
            <a:extLst>
              <a:ext uri="{FF2B5EF4-FFF2-40B4-BE49-F238E27FC236}">
                <a16:creationId xmlns:a16="http://schemas.microsoft.com/office/drawing/2014/main" id="{C2766B94-67BC-EACD-A93E-D068D21E1ABD}"/>
              </a:ext>
            </a:extLst>
          </p:cNvPr>
          <p:cNvSpPr txBox="1"/>
          <p:nvPr/>
        </p:nvSpPr>
        <p:spPr>
          <a:xfrm>
            <a:off x="8347529" y="4313785"/>
            <a:ext cx="304038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latin typeface="Urbanist"/>
                <a:ea typeface="Urbanist"/>
                <a:cs typeface="Urbanist"/>
                <a:sym typeface="Urbanist"/>
              </a:rPr>
              <a:t>Error Tracking</a:t>
            </a:r>
            <a:endParaRPr/>
          </a:p>
        </p:txBody>
      </p:sp>
      <p:sp>
        <p:nvSpPr>
          <p:cNvPr id="24" name="Google Shape;242;p21">
            <a:extLst>
              <a:ext uri="{FF2B5EF4-FFF2-40B4-BE49-F238E27FC236}">
                <a16:creationId xmlns:a16="http://schemas.microsoft.com/office/drawing/2014/main" id="{8820B370-9C0B-FC57-BD12-0F6B4BCC94E2}"/>
              </a:ext>
            </a:extLst>
          </p:cNvPr>
          <p:cNvSpPr txBox="1"/>
          <p:nvPr/>
        </p:nvSpPr>
        <p:spPr>
          <a:xfrm>
            <a:off x="8344852" y="4683458"/>
            <a:ext cx="2895600"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latin typeface="Inter"/>
                <a:ea typeface="Inter"/>
                <a:cs typeface="Inter"/>
                <a:sym typeface="Inter"/>
              </a:rPr>
              <a:t>Error in millimeters plotted across all 5 directions (Front, Back, Left, Right, Down).</a:t>
            </a:r>
            <a:endParaRPr sz="2000"/>
          </a:p>
        </p:txBody>
      </p:sp>
      <p:grpSp>
        <p:nvGrpSpPr>
          <p:cNvPr id="31" name="Group 30">
            <a:extLst>
              <a:ext uri="{FF2B5EF4-FFF2-40B4-BE49-F238E27FC236}">
                <a16:creationId xmlns:a16="http://schemas.microsoft.com/office/drawing/2014/main" id="{AFC27C9A-95A3-F5BE-0B26-70DF7FF291B4}"/>
              </a:ext>
            </a:extLst>
          </p:cNvPr>
          <p:cNvGrpSpPr/>
          <p:nvPr/>
        </p:nvGrpSpPr>
        <p:grpSpPr>
          <a:xfrm>
            <a:off x="5468256" y="1719433"/>
            <a:ext cx="4662313" cy="1672011"/>
            <a:chOff x="3542649" y="1629272"/>
            <a:chExt cx="6005224" cy="1333668"/>
          </a:xfrm>
        </p:grpSpPr>
        <p:sp>
          <p:nvSpPr>
            <p:cNvPr id="25" name="TextBox 24">
              <a:extLst>
                <a:ext uri="{FF2B5EF4-FFF2-40B4-BE49-F238E27FC236}">
                  <a16:creationId xmlns:a16="http://schemas.microsoft.com/office/drawing/2014/main" id="{A2D46960-6F2D-8604-4148-09380459D380}"/>
                </a:ext>
              </a:extLst>
            </p:cNvPr>
            <p:cNvSpPr txBox="1"/>
            <p:nvPr/>
          </p:nvSpPr>
          <p:spPr>
            <a:xfrm>
              <a:off x="3542649" y="1660905"/>
              <a:ext cx="363794" cy="289676"/>
            </a:xfrm>
            <a:prstGeom prst="rect">
              <a:avLst/>
            </a:prstGeom>
            <a:noFill/>
          </p:spPr>
          <p:txBody>
            <a:bodyPr wrap="square">
              <a:spAutoFit/>
            </a:bodyPr>
            <a:lstStyle/>
            <a:p>
              <a:r>
                <a:rPr lang="en-US" dirty="0">
                  <a:ln>
                    <a:solidFill>
                      <a:srgbClr val="00B050"/>
                    </a:solidFill>
                  </a:ln>
                  <a:solidFill>
                    <a:srgbClr val="00B050"/>
                  </a:solidFill>
                  <a:latin typeface="Arial"/>
                  <a:ea typeface="Arial"/>
                  <a:cs typeface="Arial"/>
                  <a:sym typeface="Arial"/>
                </a:rPr>
                <a:t></a:t>
              </a:r>
              <a:endParaRPr lang="en-GB" dirty="0"/>
            </a:p>
          </p:txBody>
        </p:sp>
        <p:sp>
          <p:nvSpPr>
            <p:cNvPr id="26" name="CasellaDiTesto 8">
              <a:extLst>
                <a:ext uri="{FF2B5EF4-FFF2-40B4-BE49-F238E27FC236}">
                  <a16:creationId xmlns:a16="http://schemas.microsoft.com/office/drawing/2014/main" id="{EF8CCD6A-2D29-1E96-6EFF-583A0EEE59C4}"/>
                </a:ext>
              </a:extLst>
            </p:cNvPr>
            <p:cNvSpPr txBox="1"/>
            <p:nvPr/>
          </p:nvSpPr>
          <p:spPr>
            <a:xfrm>
              <a:off x="3840706" y="1629272"/>
              <a:ext cx="5267694" cy="319145"/>
            </a:xfrm>
            <a:prstGeom prst="rect">
              <a:avLst/>
            </a:prstGeom>
            <a:noFill/>
          </p:spPr>
          <p:txBody>
            <a:bodyPr wrap="square" rtlCol="0">
              <a:spAutoFit/>
            </a:bodyPr>
            <a:lstStyle/>
            <a:p>
              <a:r>
                <a:rPr lang="it-IT" sz="1600" b="1" dirty="0">
                  <a:latin typeface="Inter"/>
                </a:rPr>
                <a:t>Accuracy</a:t>
              </a:r>
              <a:r>
                <a:rPr lang="it-IT" sz="2000" dirty="0">
                  <a:solidFill>
                    <a:schemeClr val="tx1"/>
                  </a:solidFill>
                </a:rPr>
                <a:t> </a:t>
              </a:r>
              <a:r>
                <a:rPr lang="it-IT" sz="1600" dirty="0">
                  <a:latin typeface="Inter"/>
                </a:rPr>
                <a:t>of measurements</a:t>
              </a:r>
            </a:p>
          </p:txBody>
        </p:sp>
        <p:sp>
          <p:nvSpPr>
            <p:cNvPr id="27" name="Segnaposto testo 4">
              <a:extLst>
                <a:ext uri="{FF2B5EF4-FFF2-40B4-BE49-F238E27FC236}">
                  <a16:creationId xmlns:a16="http://schemas.microsoft.com/office/drawing/2014/main" id="{A60402AE-2567-22B5-DFA1-B571A8592EE8}"/>
                </a:ext>
              </a:extLst>
            </p:cNvPr>
            <p:cNvSpPr txBox="1">
              <a:spLocks/>
            </p:cNvSpPr>
            <p:nvPr/>
          </p:nvSpPr>
          <p:spPr>
            <a:xfrm>
              <a:off x="3852390" y="2023347"/>
              <a:ext cx="5695483" cy="289676"/>
            </a:xfrm>
          </p:spPr>
          <p:txBody>
            <a:bodyPr>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en-GB" sz="1600" dirty="0">
                  <a:latin typeface="Inter"/>
                </a:rPr>
                <a:t>4 drone spawn with their respective sensors</a:t>
              </a:r>
            </a:p>
            <a:p>
              <a:pPr defTabSz="914400"/>
              <a:endParaRPr lang="it-IT" sz="1600" kern="0" dirty="0"/>
            </a:p>
          </p:txBody>
        </p:sp>
        <p:sp>
          <p:nvSpPr>
            <p:cNvPr id="28" name="CasellaDiTesto 12">
              <a:extLst>
                <a:ext uri="{FF2B5EF4-FFF2-40B4-BE49-F238E27FC236}">
                  <a16:creationId xmlns:a16="http://schemas.microsoft.com/office/drawing/2014/main" id="{CBD48DC5-9BB1-514F-DEF7-18DBF32057AE}"/>
                </a:ext>
              </a:extLst>
            </p:cNvPr>
            <p:cNvSpPr txBox="1"/>
            <p:nvPr/>
          </p:nvSpPr>
          <p:spPr>
            <a:xfrm>
              <a:off x="3909889" y="2504286"/>
              <a:ext cx="4713001" cy="458654"/>
            </a:xfrm>
            <a:prstGeom prst="rect">
              <a:avLst/>
            </a:prstGeom>
            <a:noFill/>
          </p:spPr>
          <p:txBody>
            <a:bodyPr wrap="square" rtlCol="0">
              <a:spAutoFit/>
            </a:bodyPr>
            <a:lstStyle/>
            <a:p>
              <a:r>
                <a:rPr lang="en-GB" sz="1600" dirty="0">
                  <a:latin typeface="Inter"/>
                </a:rPr>
                <a:t>Plotted the different measurements of all the sensors</a:t>
              </a:r>
            </a:p>
          </p:txBody>
        </p:sp>
        <p:sp>
          <p:nvSpPr>
            <p:cNvPr id="29" name="TextBox 28">
              <a:extLst>
                <a:ext uri="{FF2B5EF4-FFF2-40B4-BE49-F238E27FC236}">
                  <a16:creationId xmlns:a16="http://schemas.microsoft.com/office/drawing/2014/main" id="{8B905AF6-BA5D-631E-56AC-5A16A5CD989D}"/>
                </a:ext>
              </a:extLst>
            </p:cNvPr>
            <p:cNvSpPr txBox="1"/>
            <p:nvPr/>
          </p:nvSpPr>
          <p:spPr>
            <a:xfrm>
              <a:off x="3542649" y="2012964"/>
              <a:ext cx="363794" cy="289676"/>
            </a:xfrm>
            <a:prstGeom prst="rect">
              <a:avLst/>
            </a:prstGeom>
            <a:noFill/>
          </p:spPr>
          <p:txBody>
            <a:bodyPr wrap="square">
              <a:spAutoFit/>
            </a:bodyPr>
            <a:lstStyle/>
            <a:p>
              <a:r>
                <a:rPr lang="en-US" dirty="0">
                  <a:ln>
                    <a:solidFill>
                      <a:srgbClr val="00B050"/>
                    </a:solidFill>
                  </a:ln>
                  <a:solidFill>
                    <a:srgbClr val="00B050"/>
                  </a:solidFill>
                  <a:latin typeface="Arial"/>
                  <a:ea typeface="Arial"/>
                  <a:cs typeface="Arial"/>
                  <a:sym typeface="Arial"/>
                </a:rPr>
                <a:t></a:t>
              </a:r>
              <a:endParaRPr lang="en-GB" dirty="0"/>
            </a:p>
          </p:txBody>
        </p:sp>
        <p:sp>
          <p:nvSpPr>
            <p:cNvPr id="30" name="TextBox 29">
              <a:extLst>
                <a:ext uri="{FF2B5EF4-FFF2-40B4-BE49-F238E27FC236}">
                  <a16:creationId xmlns:a16="http://schemas.microsoft.com/office/drawing/2014/main" id="{F547E317-2E11-1DEA-0BFF-F2CD32AC23CA}"/>
                </a:ext>
              </a:extLst>
            </p:cNvPr>
            <p:cNvSpPr txBox="1"/>
            <p:nvPr/>
          </p:nvSpPr>
          <p:spPr>
            <a:xfrm>
              <a:off x="3542649" y="2496426"/>
              <a:ext cx="363794" cy="289676"/>
            </a:xfrm>
            <a:prstGeom prst="rect">
              <a:avLst/>
            </a:prstGeom>
            <a:noFill/>
          </p:spPr>
          <p:txBody>
            <a:bodyPr wrap="square">
              <a:spAutoFit/>
            </a:bodyPr>
            <a:lstStyle/>
            <a:p>
              <a:r>
                <a:rPr lang="en-US" dirty="0">
                  <a:ln>
                    <a:solidFill>
                      <a:srgbClr val="00B050"/>
                    </a:solidFill>
                  </a:ln>
                  <a:solidFill>
                    <a:srgbClr val="00B050"/>
                  </a:solidFill>
                  <a:latin typeface="Arial"/>
                  <a:ea typeface="Arial"/>
                  <a:cs typeface="Arial"/>
                  <a:sym typeface="Arial"/>
                </a:rPr>
                <a:t></a:t>
              </a:r>
              <a:endParaRPr lang="en-GB" dirty="0"/>
            </a:p>
          </p:txBody>
        </p:sp>
      </p:grpSp>
      <p:pic>
        <p:nvPicPr>
          <p:cNvPr id="18" name="Picture 17">
            <a:extLst>
              <a:ext uri="{FF2B5EF4-FFF2-40B4-BE49-F238E27FC236}">
                <a16:creationId xmlns:a16="http://schemas.microsoft.com/office/drawing/2014/main" id="{DAF7B1DF-0B6C-C7E2-9B49-198ECEA01A2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1024" y="1588320"/>
            <a:ext cx="3771900" cy="2237341"/>
          </a:xfrm>
          <a:prstGeom prst="rect">
            <a:avLst/>
          </a:prstGeom>
        </p:spPr>
      </p:pic>
    </p:spTree>
    <p:extLst>
      <p:ext uri="{BB962C8B-B14F-4D97-AF65-F5344CB8AC3E}">
        <p14:creationId xmlns:p14="http://schemas.microsoft.com/office/powerpoint/2010/main" val="2901173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3;p21">
            <a:extLst>
              <a:ext uri="{FF2B5EF4-FFF2-40B4-BE49-F238E27FC236}">
                <a16:creationId xmlns:a16="http://schemas.microsoft.com/office/drawing/2014/main" id="{8FD4006E-3B46-490F-F9E2-68A78F98D04F}"/>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1: </a:t>
            </a:r>
            <a:r>
              <a:rPr lang="en-US" sz="3750" b="1">
                <a:solidFill>
                  <a:srgbClr val="76B900"/>
                </a:solidFill>
                <a:latin typeface="Urbanist"/>
                <a:ea typeface="Urbanist"/>
                <a:cs typeface="Urbanist"/>
                <a:sym typeface="Urbanist"/>
              </a:rPr>
              <a:t>Results</a:t>
            </a:r>
            <a:endParaRPr/>
          </a:p>
        </p:txBody>
      </p:sp>
      <p:sp>
        <p:nvSpPr>
          <p:cNvPr id="5" name="Google Shape;244;p21">
            <a:extLst>
              <a:ext uri="{FF2B5EF4-FFF2-40B4-BE49-F238E27FC236}">
                <a16:creationId xmlns:a16="http://schemas.microsoft.com/office/drawing/2014/main" id="{7541170F-DA43-7DA9-8B78-062BF2CF6AD2}"/>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Immagine 28">
            <a:extLst>
              <a:ext uri="{FF2B5EF4-FFF2-40B4-BE49-F238E27FC236}">
                <a16:creationId xmlns:a16="http://schemas.microsoft.com/office/drawing/2014/main" id="{4C5FBE71-EBAB-CB4A-B7BB-A3DAF4B7A026}"/>
              </a:ext>
            </a:extLst>
          </p:cNvPr>
          <p:cNvPicPr>
            <a:picLocks noChangeAspect="1"/>
          </p:cNvPicPr>
          <p:nvPr/>
        </p:nvPicPr>
        <p:blipFill>
          <a:blip r:embed="rId2">
            <a:extLst>
              <a:ext uri="{28A0092B-C50C-407E-A947-70E740481C1C}">
                <a14:useLocalDpi xmlns:a14="http://schemas.microsoft.com/office/drawing/2010/main" val="0"/>
              </a:ext>
            </a:extLst>
          </a:blip>
          <a:srcRect l="32708" t="1104" r="33329" b="57528"/>
          <a:stretch>
            <a:fillRect/>
          </a:stretch>
        </p:blipFill>
        <p:spPr>
          <a:xfrm>
            <a:off x="4791172" y="1430337"/>
            <a:ext cx="3406566" cy="2489526"/>
          </a:xfrm>
          <a:prstGeom prst="rect">
            <a:avLst/>
          </a:prstGeom>
        </p:spPr>
      </p:pic>
      <p:pic>
        <p:nvPicPr>
          <p:cNvPr id="8" name="Immagine 29">
            <a:extLst>
              <a:ext uri="{FF2B5EF4-FFF2-40B4-BE49-F238E27FC236}">
                <a16:creationId xmlns:a16="http://schemas.microsoft.com/office/drawing/2014/main" id="{51F27D61-B159-A88D-9F1E-A49830A0C6D9}"/>
              </a:ext>
            </a:extLst>
          </p:cNvPr>
          <p:cNvPicPr>
            <a:picLocks noChangeAspect="1"/>
          </p:cNvPicPr>
          <p:nvPr/>
        </p:nvPicPr>
        <p:blipFill>
          <a:blip r:embed="rId2">
            <a:extLst>
              <a:ext uri="{28A0092B-C50C-407E-A947-70E740481C1C}">
                <a14:useLocalDpi xmlns:a14="http://schemas.microsoft.com/office/drawing/2010/main" val="0"/>
              </a:ext>
            </a:extLst>
          </a:blip>
          <a:srcRect t="45490" r="66378" b="10355"/>
          <a:stretch>
            <a:fillRect/>
          </a:stretch>
        </p:blipFill>
        <p:spPr>
          <a:xfrm>
            <a:off x="4948182" y="3919863"/>
            <a:ext cx="3282950" cy="2586935"/>
          </a:xfrm>
          <a:prstGeom prst="rect">
            <a:avLst/>
          </a:prstGeom>
        </p:spPr>
      </p:pic>
      <p:pic>
        <p:nvPicPr>
          <p:cNvPr id="9" name="Immagine 13">
            <a:extLst>
              <a:ext uri="{FF2B5EF4-FFF2-40B4-BE49-F238E27FC236}">
                <a16:creationId xmlns:a16="http://schemas.microsoft.com/office/drawing/2014/main" id="{7FC9873E-91B8-42B6-B3C0-ADD8D10FE6C4}"/>
              </a:ext>
            </a:extLst>
          </p:cNvPr>
          <p:cNvPicPr>
            <a:picLocks noChangeAspect="1"/>
          </p:cNvPicPr>
          <p:nvPr/>
        </p:nvPicPr>
        <p:blipFill>
          <a:blip r:embed="rId2">
            <a:extLst>
              <a:ext uri="{28A0092B-C50C-407E-A947-70E740481C1C}">
                <a14:useLocalDpi xmlns:a14="http://schemas.microsoft.com/office/drawing/2010/main" val="0"/>
              </a:ext>
            </a:extLst>
          </a:blip>
          <a:srcRect l="66037" b="55896"/>
          <a:stretch>
            <a:fillRect/>
          </a:stretch>
        </p:blipFill>
        <p:spPr>
          <a:xfrm>
            <a:off x="8204409" y="1429639"/>
            <a:ext cx="3406566" cy="2654208"/>
          </a:xfrm>
          <a:prstGeom prst="rect">
            <a:avLst/>
          </a:prstGeom>
        </p:spPr>
      </p:pic>
      <p:pic>
        <p:nvPicPr>
          <p:cNvPr id="12" name="Immagine 27">
            <a:extLst>
              <a:ext uri="{FF2B5EF4-FFF2-40B4-BE49-F238E27FC236}">
                <a16:creationId xmlns:a16="http://schemas.microsoft.com/office/drawing/2014/main" id="{3E4772CC-0DBA-EA94-7B5C-8F4B90574621}"/>
              </a:ext>
            </a:extLst>
          </p:cNvPr>
          <p:cNvPicPr>
            <a:picLocks noChangeAspect="1"/>
          </p:cNvPicPr>
          <p:nvPr/>
        </p:nvPicPr>
        <p:blipFill>
          <a:blip r:embed="rId2">
            <a:extLst>
              <a:ext uri="{28A0092B-C50C-407E-A947-70E740481C1C}">
                <a14:useLocalDpi xmlns:a14="http://schemas.microsoft.com/office/drawing/2010/main" val="0"/>
              </a:ext>
            </a:extLst>
          </a:blip>
          <a:srcRect l="33117" t="46947" r="33261" b="11072"/>
          <a:stretch>
            <a:fillRect/>
          </a:stretch>
        </p:blipFill>
        <p:spPr>
          <a:xfrm>
            <a:off x="8235794" y="4002204"/>
            <a:ext cx="3343795" cy="2505134"/>
          </a:xfrm>
          <a:prstGeom prst="rect">
            <a:avLst/>
          </a:prstGeom>
        </p:spPr>
      </p:pic>
      <p:pic>
        <p:nvPicPr>
          <p:cNvPr id="6" name="Immagine 28">
            <a:extLst>
              <a:ext uri="{FF2B5EF4-FFF2-40B4-BE49-F238E27FC236}">
                <a16:creationId xmlns:a16="http://schemas.microsoft.com/office/drawing/2014/main" id="{BA6FC105-9169-9201-EB3E-9137DE851580}"/>
              </a:ext>
            </a:extLst>
          </p:cNvPr>
          <p:cNvPicPr>
            <a:picLocks noChangeAspect="1"/>
          </p:cNvPicPr>
          <p:nvPr/>
        </p:nvPicPr>
        <p:blipFill>
          <a:blip r:embed="rId2">
            <a:extLst>
              <a:ext uri="{28A0092B-C50C-407E-A947-70E740481C1C}">
                <a14:useLocalDpi xmlns:a14="http://schemas.microsoft.com/office/drawing/2010/main" val="0"/>
              </a:ext>
            </a:extLst>
          </a:blip>
          <a:srcRect l="38205" t="44063" r="38244" b="53563"/>
          <a:stretch>
            <a:fillRect/>
          </a:stretch>
        </p:blipFill>
        <p:spPr>
          <a:xfrm>
            <a:off x="467906" y="5697961"/>
            <a:ext cx="4485686" cy="338694"/>
          </a:xfrm>
          <a:prstGeom prst="rect">
            <a:avLst/>
          </a:prstGeom>
        </p:spPr>
      </p:pic>
      <p:pic>
        <p:nvPicPr>
          <p:cNvPr id="7" name="Immagine 6">
            <a:extLst>
              <a:ext uri="{FF2B5EF4-FFF2-40B4-BE49-F238E27FC236}">
                <a16:creationId xmlns:a16="http://schemas.microsoft.com/office/drawing/2014/main" id="{305A89F9-49C5-E697-9440-82E0E83A4251}"/>
              </a:ext>
            </a:extLst>
          </p:cNvPr>
          <p:cNvPicPr>
            <a:picLocks noChangeAspect="1"/>
          </p:cNvPicPr>
          <p:nvPr/>
        </p:nvPicPr>
        <p:blipFill>
          <a:blip r:embed="rId3">
            <a:extLst>
              <a:ext uri="{28A0092B-C50C-407E-A947-70E740481C1C}">
                <a14:useLocalDpi xmlns:a14="http://schemas.microsoft.com/office/drawing/2010/main" val="0"/>
              </a:ext>
            </a:extLst>
          </a:blip>
          <a:srcRect l="2543" r="69452" b="54678"/>
          <a:stretch>
            <a:fillRect/>
          </a:stretch>
        </p:blipFill>
        <p:spPr>
          <a:xfrm>
            <a:off x="581025" y="1560244"/>
            <a:ext cx="4262155" cy="4138665"/>
          </a:xfrm>
          <a:prstGeom prst="rect">
            <a:avLst/>
          </a:prstGeom>
        </p:spPr>
      </p:pic>
    </p:spTree>
    <p:extLst>
      <p:ext uri="{BB962C8B-B14F-4D97-AF65-F5344CB8AC3E}">
        <p14:creationId xmlns:p14="http://schemas.microsoft.com/office/powerpoint/2010/main" val="4187885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43;p21">
            <a:extLst>
              <a:ext uri="{FF2B5EF4-FFF2-40B4-BE49-F238E27FC236}">
                <a16:creationId xmlns:a16="http://schemas.microsoft.com/office/drawing/2014/main" id="{5C267B33-4031-CE1B-8FAB-E39A328B41C1}"/>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1: </a:t>
            </a:r>
            <a:r>
              <a:rPr lang="en-US" sz="3750" b="1">
                <a:solidFill>
                  <a:srgbClr val="76B900"/>
                </a:solidFill>
                <a:latin typeface="Urbanist"/>
                <a:ea typeface="Urbanist"/>
                <a:cs typeface="Urbanist"/>
                <a:sym typeface="Urbanist"/>
              </a:rPr>
              <a:t>Results</a:t>
            </a:r>
            <a:endParaRPr/>
          </a:p>
        </p:txBody>
      </p:sp>
      <p:sp>
        <p:nvSpPr>
          <p:cNvPr id="5" name="Google Shape;244;p21">
            <a:extLst>
              <a:ext uri="{FF2B5EF4-FFF2-40B4-BE49-F238E27FC236}">
                <a16:creationId xmlns:a16="http://schemas.microsoft.com/office/drawing/2014/main" id="{D23A546E-4BAD-95C4-E6C0-17D4AF6C0BC1}"/>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9DFAD9AF-879C-7886-2F41-F337A1C21C1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585283" y="1689873"/>
            <a:ext cx="9021434" cy="4734586"/>
          </a:xfrm>
          <a:prstGeom prst="rect">
            <a:avLst/>
          </a:prstGeom>
        </p:spPr>
      </p:pic>
    </p:spTree>
    <p:extLst>
      <p:ext uri="{BB962C8B-B14F-4D97-AF65-F5344CB8AC3E}">
        <p14:creationId xmlns:p14="http://schemas.microsoft.com/office/powerpoint/2010/main" val="161282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51;p22">
            <a:extLst>
              <a:ext uri="{FF2B5EF4-FFF2-40B4-BE49-F238E27FC236}">
                <a16:creationId xmlns:a16="http://schemas.microsoft.com/office/drawing/2014/main" id="{34070319-446B-0041-43FF-AB33FFE118D7}"/>
              </a:ext>
            </a:extLst>
          </p:cNvPr>
          <p:cNvSpPr txBox="1"/>
          <p:nvPr/>
        </p:nvSpPr>
        <p:spPr>
          <a:xfrm>
            <a:off x="747634" y="1569696"/>
            <a:ext cx="2214556" cy="2771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latin typeface="Inter"/>
                <a:ea typeface="Urbanist"/>
                <a:cs typeface="Urbanist"/>
                <a:sym typeface="Urbanist"/>
              </a:rPr>
              <a:t>Stairs Environment</a:t>
            </a:r>
            <a:endParaRPr sz="2400">
              <a:latin typeface="Inter"/>
            </a:endParaRPr>
          </a:p>
        </p:txBody>
      </p:sp>
      <p:sp>
        <p:nvSpPr>
          <p:cNvPr id="14" name="Google Shape;264;p22">
            <a:extLst>
              <a:ext uri="{FF2B5EF4-FFF2-40B4-BE49-F238E27FC236}">
                <a16:creationId xmlns:a16="http://schemas.microsoft.com/office/drawing/2014/main" id="{E6351FE0-51BD-42FE-399A-FEA8A1D0AB3F}"/>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2: </a:t>
            </a:r>
            <a:r>
              <a:rPr lang="en-US" sz="3750" b="1" i="0" u="none" strike="noStrike" cap="none">
                <a:solidFill>
                  <a:srgbClr val="76B900"/>
                </a:solidFill>
                <a:latin typeface="Urbanist"/>
                <a:ea typeface="Urbanist"/>
                <a:cs typeface="Urbanist"/>
                <a:sym typeface="Urbanist"/>
              </a:rPr>
              <a:t>Flight Controller</a:t>
            </a:r>
            <a:endParaRPr/>
          </a:p>
        </p:txBody>
      </p:sp>
      <p:sp>
        <p:nvSpPr>
          <p:cNvPr id="15" name="Google Shape;265;p22">
            <a:extLst>
              <a:ext uri="{FF2B5EF4-FFF2-40B4-BE49-F238E27FC236}">
                <a16:creationId xmlns:a16="http://schemas.microsoft.com/office/drawing/2014/main" id="{93EF75BA-0F39-BFEA-4F41-E298F7714243}"/>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 name="Google Shape;154;p17" descr="image.png">
            <a:extLst>
              <a:ext uri="{FF2B5EF4-FFF2-40B4-BE49-F238E27FC236}">
                <a16:creationId xmlns:a16="http://schemas.microsoft.com/office/drawing/2014/main" id="{ECF597E9-D2B5-F678-1F50-A951FCF63A1A}"/>
              </a:ext>
            </a:extLst>
          </p:cNvPr>
          <p:cNvPicPr preferRelativeResize="0"/>
          <p:nvPr/>
        </p:nvPicPr>
        <p:blipFill rotWithShape="1">
          <a:blip r:embed="rId2">
            <a:alphaModFix/>
          </a:blip>
          <a:srcRect/>
          <a:stretch/>
        </p:blipFill>
        <p:spPr>
          <a:xfrm rot="5400000">
            <a:off x="7323442" y="1907954"/>
            <a:ext cx="4703641" cy="3903634"/>
          </a:xfrm>
          <a:prstGeom prst="rect">
            <a:avLst/>
          </a:prstGeom>
          <a:noFill/>
          <a:ln>
            <a:noFill/>
          </a:ln>
        </p:spPr>
      </p:pic>
      <p:sp>
        <p:nvSpPr>
          <p:cNvPr id="25" name="Google Shape;255;p22">
            <a:extLst>
              <a:ext uri="{FF2B5EF4-FFF2-40B4-BE49-F238E27FC236}">
                <a16:creationId xmlns:a16="http://schemas.microsoft.com/office/drawing/2014/main" id="{7A3F83AB-5CA2-3753-5B40-5BC11A188A7B}"/>
              </a:ext>
            </a:extLst>
          </p:cNvPr>
          <p:cNvSpPr txBox="1"/>
          <p:nvPr/>
        </p:nvSpPr>
        <p:spPr>
          <a:xfrm>
            <a:off x="7860742" y="1666491"/>
            <a:ext cx="2171616"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76B900"/>
                </a:solidFill>
                <a:latin typeface="Inter"/>
                <a:ea typeface="Inter"/>
                <a:cs typeface="Inter"/>
                <a:sym typeface="Inter"/>
              </a:rPr>
              <a:t>Control Scheme Loop</a:t>
            </a:r>
            <a:endParaRPr sz="2800" dirty="0"/>
          </a:p>
        </p:txBody>
      </p:sp>
      <p:grpSp>
        <p:nvGrpSpPr>
          <p:cNvPr id="34" name="Group 33">
            <a:extLst>
              <a:ext uri="{FF2B5EF4-FFF2-40B4-BE49-F238E27FC236}">
                <a16:creationId xmlns:a16="http://schemas.microsoft.com/office/drawing/2014/main" id="{14505EA0-6036-BCB0-ECA0-D526027B8A3C}"/>
              </a:ext>
            </a:extLst>
          </p:cNvPr>
          <p:cNvGrpSpPr/>
          <p:nvPr/>
        </p:nvGrpSpPr>
        <p:grpSpPr>
          <a:xfrm>
            <a:off x="7827637" y="2073877"/>
            <a:ext cx="3699065" cy="3289891"/>
            <a:chOff x="781050" y="3514725"/>
            <a:chExt cx="5000318" cy="2041779"/>
          </a:xfrm>
        </p:grpSpPr>
        <p:sp>
          <p:nvSpPr>
            <p:cNvPr id="26" name="Google Shape;256;p22">
              <a:extLst>
                <a:ext uri="{FF2B5EF4-FFF2-40B4-BE49-F238E27FC236}">
                  <a16:creationId xmlns:a16="http://schemas.microsoft.com/office/drawing/2014/main" id="{ED254628-31DB-0BEB-FD19-5D831E1E1966}"/>
                </a:ext>
              </a:extLst>
            </p:cNvPr>
            <p:cNvSpPr txBox="1"/>
            <p:nvPr/>
          </p:nvSpPr>
          <p:spPr>
            <a:xfrm>
              <a:off x="1066800" y="3514725"/>
              <a:ext cx="4591050"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latin typeface="Inter"/>
                  <a:ea typeface="Inter"/>
                  <a:cs typeface="Inter"/>
                  <a:sym typeface="Inter"/>
                </a:rPr>
                <a:t>Setpoint:</a:t>
              </a:r>
              <a:r>
                <a:rPr lang="en-US" sz="1600" b="0" i="0" u="none" strike="noStrike" cap="none">
                  <a:latin typeface="Inter"/>
                  <a:ea typeface="Inter"/>
                  <a:cs typeface="Inter"/>
                  <a:sym typeface="Inter"/>
                </a:rPr>
                <a:t> Desired height (e.g., 0.5m)</a:t>
              </a:r>
              <a:endParaRPr sz="2000"/>
            </a:p>
          </p:txBody>
        </p:sp>
        <p:sp>
          <p:nvSpPr>
            <p:cNvPr id="27" name="Google Shape;257;p22">
              <a:extLst>
                <a:ext uri="{FF2B5EF4-FFF2-40B4-BE49-F238E27FC236}">
                  <a16:creationId xmlns:a16="http://schemas.microsoft.com/office/drawing/2014/main" id="{7E3D3D2E-2E61-CD75-CA4B-A32948AA738F}"/>
                </a:ext>
              </a:extLst>
            </p:cNvPr>
            <p:cNvSpPr txBox="1"/>
            <p:nvPr/>
          </p:nvSpPr>
          <p:spPr>
            <a:xfrm>
              <a:off x="1066800" y="3962400"/>
              <a:ext cx="4591050"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a:latin typeface="Inter"/>
                  <a:ea typeface="Inter"/>
                  <a:cs typeface="Inter"/>
                  <a:sym typeface="Inter"/>
                </a:rPr>
                <a:t>Sensor (Multi-ranger Down):</a:t>
              </a:r>
              <a:r>
                <a:rPr lang="en-US" sz="1600" b="0" i="0" u="none" strike="noStrike" cap="none" dirty="0">
                  <a:latin typeface="Inter"/>
                  <a:ea typeface="Inter"/>
                  <a:cs typeface="Inter"/>
                  <a:sym typeface="Inter"/>
                </a:rPr>
                <a:t> Reads actual altitude relative to the stairs.</a:t>
              </a:r>
              <a:endParaRPr sz="2000" dirty="0"/>
            </a:p>
          </p:txBody>
        </p:sp>
        <p:sp>
          <p:nvSpPr>
            <p:cNvPr id="28" name="Google Shape;258;p22">
              <a:extLst>
                <a:ext uri="{FF2B5EF4-FFF2-40B4-BE49-F238E27FC236}">
                  <a16:creationId xmlns:a16="http://schemas.microsoft.com/office/drawing/2014/main" id="{4B6B15B4-9F13-3619-2730-ADD934CE2B75}"/>
                </a:ext>
              </a:extLst>
            </p:cNvPr>
            <p:cNvSpPr txBox="1"/>
            <p:nvPr/>
          </p:nvSpPr>
          <p:spPr>
            <a:xfrm>
              <a:off x="1066800" y="4714875"/>
              <a:ext cx="4591050"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latin typeface="Inter"/>
                  <a:ea typeface="Inter"/>
                  <a:cs typeface="Inter"/>
                  <a:sym typeface="Inter"/>
                </a:rPr>
                <a:t>Error:</a:t>
              </a:r>
              <a:r>
                <a:rPr lang="en-US" sz="1600" b="0" i="0" u="none" strike="noStrike" cap="none">
                  <a:latin typeface="Inter"/>
                  <a:ea typeface="Inter"/>
                  <a:cs typeface="Inter"/>
                  <a:sym typeface="Inter"/>
                </a:rPr>
                <a:t> Setpoint - Sensor Reading.</a:t>
              </a:r>
              <a:endParaRPr sz="2000"/>
            </a:p>
          </p:txBody>
        </p:sp>
        <p:sp>
          <p:nvSpPr>
            <p:cNvPr id="29" name="Google Shape;259;p22">
              <a:extLst>
                <a:ext uri="{FF2B5EF4-FFF2-40B4-BE49-F238E27FC236}">
                  <a16:creationId xmlns:a16="http://schemas.microsoft.com/office/drawing/2014/main" id="{2213C899-023C-DC11-BBD0-736A41B0118C}"/>
                </a:ext>
              </a:extLst>
            </p:cNvPr>
            <p:cNvSpPr txBox="1"/>
            <p:nvPr/>
          </p:nvSpPr>
          <p:spPr>
            <a:xfrm>
              <a:off x="1066800" y="5162550"/>
              <a:ext cx="4714568"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a:latin typeface="Inter"/>
                  <a:ea typeface="Inter"/>
                  <a:cs typeface="Inter"/>
                  <a:sym typeface="Inter"/>
                </a:rPr>
                <a:t>PID Controller:</a:t>
              </a:r>
              <a:r>
                <a:rPr lang="en-US" sz="1600" b="0" i="0" u="none" strike="noStrike" cap="none" dirty="0">
                  <a:latin typeface="Inter"/>
                  <a:ea typeface="Inter"/>
                  <a:cs typeface="Inter"/>
                  <a:sym typeface="Inter"/>
                </a:rPr>
                <a:t> Adjusts vertical thrust to minimize error.</a:t>
              </a:r>
              <a:endParaRPr sz="2000" dirty="0"/>
            </a:p>
          </p:txBody>
        </p:sp>
        <p:sp>
          <p:nvSpPr>
            <p:cNvPr id="30" name="Google Shape;260;p22">
              <a:extLst>
                <a:ext uri="{FF2B5EF4-FFF2-40B4-BE49-F238E27FC236}">
                  <a16:creationId xmlns:a16="http://schemas.microsoft.com/office/drawing/2014/main" id="{6A83C673-755B-F233-7703-E17B52AB5966}"/>
                </a:ext>
              </a:extLst>
            </p:cNvPr>
            <p:cNvSpPr txBox="1"/>
            <p:nvPr/>
          </p:nvSpPr>
          <p:spPr>
            <a:xfrm>
              <a:off x="781050" y="3514725"/>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31" name="Google Shape;261;p22">
              <a:extLst>
                <a:ext uri="{FF2B5EF4-FFF2-40B4-BE49-F238E27FC236}">
                  <a16:creationId xmlns:a16="http://schemas.microsoft.com/office/drawing/2014/main" id="{C0EB542C-3914-552D-129C-E751905DF7E2}"/>
                </a:ext>
              </a:extLst>
            </p:cNvPr>
            <p:cNvSpPr txBox="1"/>
            <p:nvPr/>
          </p:nvSpPr>
          <p:spPr>
            <a:xfrm>
              <a:off x="781050" y="3962400"/>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32" name="Google Shape;262;p22">
              <a:extLst>
                <a:ext uri="{FF2B5EF4-FFF2-40B4-BE49-F238E27FC236}">
                  <a16:creationId xmlns:a16="http://schemas.microsoft.com/office/drawing/2014/main" id="{2D73549E-31B0-781E-16B9-866329CD8663}"/>
                </a:ext>
              </a:extLst>
            </p:cNvPr>
            <p:cNvSpPr txBox="1"/>
            <p:nvPr/>
          </p:nvSpPr>
          <p:spPr>
            <a:xfrm>
              <a:off x="781050" y="4714875"/>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33" name="Google Shape;263;p22">
              <a:extLst>
                <a:ext uri="{FF2B5EF4-FFF2-40B4-BE49-F238E27FC236}">
                  <a16:creationId xmlns:a16="http://schemas.microsoft.com/office/drawing/2014/main" id="{6A41C60B-1C71-AC74-1312-823F957590DF}"/>
                </a:ext>
              </a:extLst>
            </p:cNvPr>
            <p:cNvSpPr txBox="1"/>
            <p:nvPr/>
          </p:nvSpPr>
          <p:spPr>
            <a:xfrm>
              <a:off x="785808" y="5137928"/>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grpSp>
      <p:sp>
        <p:nvSpPr>
          <p:cNvPr id="4" name="Google Shape;252;p22">
            <a:extLst>
              <a:ext uri="{FF2B5EF4-FFF2-40B4-BE49-F238E27FC236}">
                <a16:creationId xmlns:a16="http://schemas.microsoft.com/office/drawing/2014/main" id="{D44A7863-8CFD-FF05-E396-2C02CC8C6664}"/>
              </a:ext>
            </a:extLst>
          </p:cNvPr>
          <p:cNvSpPr txBox="1"/>
          <p:nvPr/>
        </p:nvSpPr>
        <p:spPr>
          <a:xfrm>
            <a:off x="955206" y="2074727"/>
            <a:ext cx="657648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latin typeface="Inter"/>
                <a:ea typeface="Inter"/>
                <a:cs typeface="Inter"/>
                <a:sym typeface="Inter"/>
              </a:rPr>
              <a:t>The drone navigates over a set of stairs. We implemented a control loop to maintain a stable height.</a:t>
            </a:r>
            <a:endParaRPr sz="2000" dirty="0"/>
          </a:p>
        </p:txBody>
      </p:sp>
      <p:sp>
        <p:nvSpPr>
          <p:cNvPr id="35" name="TextBox 34">
            <a:extLst>
              <a:ext uri="{FF2B5EF4-FFF2-40B4-BE49-F238E27FC236}">
                <a16:creationId xmlns:a16="http://schemas.microsoft.com/office/drawing/2014/main" id="{864B0941-9FFB-A10C-4910-FA459E2A9735}"/>
              </a:ext>
            </a:extLst>
          </p:cNvPr>
          <p:cNvSpPr txBox="1"/>
          <p:nvPr/>
        </p:nvSpPr>
        <p:spPr>
          <a:xfrm>
            <a:off x="674928" y="2145111"/>
            <a:ext cx="307494" cy="369332"/>
          </a:xfrm>
          <a:prstGeom prst="rect">
            <a:avLst/>
          </a:prstGeom>
          <a:noFill/>
        </p:spPr>
        <p:txBody>
          <a:bodyPr wrap="square">
            <a:spAutoFit/>
          </a:bodyPr>
          <a:lstStyle/>
          <a:p>
            <a:r>
              <a:rPr lang="en-US">
                <a:ln>
                  <a:solidFill>
                    <a:srgbClr val="00B050"/>
                  </a:solidFill>
                </a:ln>
                <a:solidFill>
                  <a:srgbClr val="00B050"/>
                </a:solidFill>
                <a:latin typeface="Arial"/>
                <a:ea typeface="Arial"/>
                <a:cs typeface="Arial"/>
                <a:sym typeface="Arial"/>
              </a:rPr>
              <a:t></a:t>
            </a:r>
            <a:endParaRPr lang="en-GB"/>
          </a:p>
        </p:txBody>
      </p:sp>
      <p:pic>
        <p:nvPicPr>
          <p:cNvPr id="2" name="Picture 1">
            <a:extLst>
              <a:ext uri="{FF2B5EF4-FFF2-40B4-BE49-F238E27FC236}">
                <a16:creationId xmlns:a16="http://schemas.microsoft.com/office/drawing/2014/main" id="{F60A27A5-1895-4755-A9BF-C843D921B18E}"/>
              </a:ext>
            </a:extLst>
          </p:cNvPr>
          <p:cNvPicPr>
            <a:picLocks noChangeAspect="1"/>
          </p:cNvPicPr>
          <p:nvPr/>
        </p:nvPicPr>
        <p:blipFill>
          <a:blip r:embed="rId3"/>
          <a:stretch>
            <a:fillRect/>
          </a:stretch>
        </p:blipFill>
        <p:spPr>
          <a:xfrm>
            <a:off x="576263" y="2851889"/>
            <a:ext cx="7125091" cy="3398468"/>
          </a:xfrm>
          <a:prstGeom prst="rect">
            <a:avLst/>
          </a:prstGeom>
        </p:spPr>
      </p:pic>
    </p:spTree>
    <p:extLst>
      <p:ext uri="{BB962C8B-B14F-4D97-AF65-F5344CB8AC3E}">
        <p14:creationId xmlns:p14="http://schemas.microsoft.com/office/powerpoint/2010/main" val="5612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yramid_hover_demo">
            <a:hlinkClick r:id="" action="ppaction://media"/>
            <a:extLst>
              <a:ext uri="{FF2B5EF4-FFF2-40B4-BE49-F238E27FC236}">
                <a16:creationId xmlns:a16="http://schemas.microsoft.com/office/drawing/2014/main" id="{4297D5EA-53F3-8A7D-1FD6-298CE0FB2CC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81025" y="1986661"/>
            <a:ext cx="5158875" cy="3805768"/>
          </a:xfrm>
          <a:prstGeom prst="rect">
            <a:avLst/>
          </a:prstGeom>
          <a:ln>
            <a:solidFill>
              <a:schemeClr val="tx1"/>
            </a:solidFill>
          </a:ln>
        </p:spPr>
      </p:pic>
      <p:sp>
        <p:nvSpPr>
          <p:cNvPr id="2" name="Google Shape;243;p21">
            <a:extLst>
              <a:ext uri="{FF2B5EF4-FFF2-40B4-BE49-F238E27FC236}">
                <a16:creationId xmlns:a16="http://schemas.microsoft.com/office/drawing/2014/main" id="{A79C6B68-A400-FC01-8063-299F1A23DB9A}"/>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2: </a:t>
            </a:r>
            <a:r>
              <a:rPr lang="en-US" sz="3750" b="1">
                <a:solidFill>
                  <a:srgbClr val="76B900"/>
                </a:solidFill>
                <a:latin typeface="Urbanist"/>
                <a:ea typeface="Urbanist"/>
                <a:cs typeface="Urbanist"/>
                <a:sym typeface="Urbanist"/>
              </a:rPr>
              <a:t>Results</a:t>
            </a:r>
            <a:endParaRPr/>
          </a:p>
        </p:txBody>
      </p:sp>
      <p:sp>
        <p:nvSpPr>
          <p:cNvPr id="3" name="Google Shape;244;p21">
            <a:extLst>
              <a:ext uri="{FF2B5EF4-FFF2-40B4-BE49-F238E27FC236}">
                <a16:creationId xmlns:a16="http://schemas.microsoft.com/office/drawing/2014/main" id="{D7AE2A34-722E-6F65-FBF4-3198F0004C93}"/>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Immagine 24">
            <a:extLst>
              <a:ext uri="{FF2B5EF4-FFF2-40B4-BE49-F238E27FC236}">
                <a16:creationId xmlns:a16="http://schemas.microsoft.com/office/drawing/2014/main" id="{13C1761E-7CE2-E319-0568-3A3F54A414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3052" y="2636461"/>
            <a:ext cx="5068532" cy="2521211"/>
          </a:xfrm>
          <a:prstGeom prst="rect">
            <a:avLst/>
          </a:prstGeom>
        </p:spPr>
      </p:pic>
    </p:spTree>
    <p:extLst>
      <p:ext uri="{BB962C8B-B14F-4D97-AF65-F5344CB8AC3E}">
        <p14:creationId xmlns:p14="http://schemas.microsoft.com/office/powerpoint/2010/main" val="203701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567"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2"/>
                                        </p:tgtEl>
                                      </p:cBhvr>
                                    </p:cmd>
                                  </p:childTnLst>
                                </p:cTn>
                              </p:par>
                            </p:childTnLst>
                          </p:cTn>
                        </p:par>
                      </p:childTnLst>
                    </p:cTn>
                  </p:par>
                </p:childTnLst>
              </p:cTn>
              <p:nextCondLst>
                <p:cond evt="onClick" delay="0">
                  <p:tgtEl>
                    <p:spTgt spid="22"/>
                  </p:tgtEl>
                </p:cond>
              </p:nextCondLst>
            </p:seq>
            <p:video>
              <p:cMediaNode vol="80000">
                <p:cTn id="12" fill="hold" display="0">
                  <p:stCondLst>
                    <p:cond delay="indefinite"/>
                  </p:stCondLst>
                </p:cTn>
                <p:tgtEl>
                  <p:spTgt spid="2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3;p23">
            <a:extLst>
              <a:ext uri="{FF2B5EF4-FFF2-40B4-BE49-F238E27FC236}">
                <a16:creationId xmlns:a16="http://schemas.microsoft.com/office/drawing/2014/main" id="{32A7235E-F3D1-6F71-40E1-8530BF969C12}"/>
              </a:ext>
            </a:extLst>
          </p:cNvPr>
          <p:cNvSpPr txBox="1"/>
          <p:nvPr/>
        </p:nvSpPr>
        <p:spPr>
          <a:xfrm>
            <a:off x="6179184" y="1495429"/>
            <a:ext cx="554069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latin typeface="Urbanist"/>
                <a:ea typeface="Urbanist"/>
                <a:cs typeface="Urbanist"/>
                <a:sym typeface="Urbanist"/>
              </a:rPr>
              <a:t>Mapping the Environment</a:t>
            </a:r>
            <a:endParaRPr sz="2400"/>
          </a:p>
        </p:txBody>
      </p:sp>
      <p:sp>
        <p:nvSpPr>
          <p:cNvPr id="3" name="Google Shape;274;p23">
            <a:extLst>
              <a:ext uri="{FF2B5EF4-FFF2-40B4-BE49-F238E27FC236}">
                <a16:creationId xmlns:a16="http://schemas.microsoft.com/office/drawing/2014/main" id="{74B2AB0F-CE35-9901-E733-B1FFAFAD776F}"/>
              </a:ext>
            </a:extLst>
          </p:cNvPr>
          <p:cNvSpPr txBox="1"/>
          <p:nvPr/>
        </p:nvSpPr>
        <p:spPr>
          <a:xfrm>
            <a:off x="6179184" y="1756414"/>
            <a:ext cx="5276850"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latin typeface="Inter"/>
                <a:ea typeface="Inter"/>
                <a:cs typeface="Inter"/>
                <a:sym typeface="Inter"/>
              </a:rPr>
              <a:t>As the drone moves through a corridor with rounded and sharp obstacles, the side lasers continuously gather point data.</a:t>
            </a:r>
            <a:endParaRPr sz="1600" dirty="0"/>
          </a:p>
        </p:txBody>
      </p:sp>
      <p:sp>
        <p:nvSpPr>
          <p:cNvPr id="4" name="Google Shape;275;p23">
            <a:extLst>
              <a:ext uri="{FF2B5EF4-FFF2-40B4-BE49-F238E27FC236}">
                <a16:creationId xmlns:a16="http://schemas.microsoft.com/office/drawing/2014/main" id="{FA91FED1-F851-59B8-FC69-EA7D638AE7F4}"/>
              </a:ext>
            </a:extLst>
          </p:cNvPr>
          <p:cNvSpPr txBox="1"/>
          <p:nvPr/>
        </p:nvSpPr>
        <p:spPr>
          <a:xfrm>
            <a:off x="6464934" y="2598043"/>
            <a:ext cx="4991100"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a:latin typeface="Inter"/>
                <a:ea typeface="Inter"/>
                <a:cs typeface="Inter"/>
                <a:sym typeface="Inter"/>
              </a:rPr>
              <a:t>Sensor Hits:</a:t>
            </a:r>
            <a:r>
              <a:rPr lang="en-US" sz="1600" b="0" i="0" u="none" strike="noStrike" cap="none" dirty="0">
                <a:latin typeface="Inter"/>
                <a:ea typeface="Inter"/>
                <a:cs typeface="Inter"/>
                <a:sym typeface="Inter"/>
              </a:rPr>
              <a:t> Plotted as a point cloud on an X-Y plane.</a:t>
            </a:r>
            <a:endParaRPr sz="2000" dirty="0"/>
          </a:p>
        </p:txBody>
      </p:sp>
      <p:sp>
        <p:nvSpPr>
          <p:cNvPr id="5" name="Google Shape;276;p23">
            <a:extLst>
              <a:ext uri="{FF2B5EF4-FFF2-40B4-BE49-F238E27FC236}">
                <a16:creationId xmlns:a16="http://schemas.microsoft.com/office/drawing/2014/main" id="{0693D9AB-8392-B164-80E4-FD5B611F347D}"/>
              </a:ext>
            </a:extLst>
          </p:cNvPr>
          <p:cNvSpPr txBox="1"/>
          <p:nvPr/>
        </p:nvSpPr>
        <p:spPr>
          <a:xfrm>
            <a:off x="6464934" y="3065137"/>
            <a:ext cx="4991100"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a:latin typeface="Inter"/>
                <a:ea typeface="Inter"/>
                <a:cs typeface="Inter"/>
                <a:sym typeface="Inter"/>
              </a:rPr>
              <a:t>Demonstrates the geometric fidelity of the sensor wrapping over complex shapes (like the semi-circular wall obstacle).</a:t>
            </a:r>
            <a:endParaRPr sz="2000" dirty="0"/>
          </a:p>
        </p:txBody>
      </p:sp>
      <p:sp>
        <p:nvSpPr>
          <p:cNvPr id="6" name="Google Shape;277;p23">
            <a:extLst>
              <a:ext uri="{FF2B5EF4-FFF2-40B4-BE49-F238E27FC236}">
                <a16:creationId xmlns:a16="http://schemas.microsoft.com/office/drawing/2014/main" id="{0B17CE64-C3F6-B5F8-087C-4694EAF1D956}"/>
              </a:ext>
            </a:extLst>
          </p:cNvPr>
          <p:cNvSpPr txBox="1"/>
          <p:nvPr/>
        </p:nvSpPr>
        <p:spPr>
          <a:xfrm>
            <a:off x="6172341" y="2598043"/>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7" name="Google Shape;278;p23">
            <a:extLst>
              <a:ext uri="{FF2B5EF4-FFF2-40B4-BE49-F238E27FC236}">
                <a16:creationId xmlns:a16="http://schemas.microsoft.com/office/drawing/2014/main" id="{3244014E-7A45-EE03-A9A1-E21280F6BEAD}"/>
              </a:ext>
            </a:extLst>
          </p:cNvPr>
          <p:cNvSpPr txBox="1"/>
          <p:nvPr/>
        </p:nvSpPr>
        <p:spPr>
          <a:xfrm>
            <a:off x="6166951" y="3065137"/>
            <a:ext cx="95250" cy="393954"/>
          </a:xfrm>
          <a:prstGeom prst="rect">
            <a:avLst/>
          </a:prstGeom>
          <a:noFill/>
          <a:ln>
            <a:noFill/>
          </a:ln>
        </p:spPr>
        <p:txBody>
          <a:bodyPr spcFirstLastPara="1" wrap="square" lIns="0" tIns="0" rIns="0" bIns="0" anchor="t" anchorCtr="0">
            <a:spAutoFit/>
          </a:bodyPr>
          <a:lstStyle/>
          <a:p>
            <a:pPr lvl="0">
              <a:lnSpc>
                <a:spcPct val="160000"/>
              </a:lnSpc>
            </a:pPr>
            <a:r>
              <a:rPr lang="en-US" sz="1600">
                <a:ln>
                  <a:solidFill>
                    <a:srgbClr val="00B050"/>
                  </a:solidFill>
                </a:ln>
                <a:solidFill>
                  <a:srgbClr val="00B050"/>
                </a:solidFill>
                <a:latin typeface="Arial"/>
                <a:ea typeface="Arial"/>
                <a:cs typeface="Arial"/>
                <a:sym typeface="Arial"/>
              </a:rPr>
              <a:t></a:t>
            </a:r>
            <a:endParaRPr/>
          </a:p>
        </p:txBody>
      </p:sp>
      <p:sp>
        <p:nvSpPr>
          <p:cNvPr id="8" name="Google Shape;279;p23">
            <a:extLst>
              <a:ext uri="{FF2B5EF4-FFF2-40B4-BE49-F238E27FC236}">
                <a16:creationId xmlns:a16="http://schemas.microsoft.com/office/drawing/2014/main" id="{EF6EFC3F-C8C4-8585-EBB6-5DC292072055}"/>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3: </a:t>
            </a:r>
            <a:r>
              <a:rPr lang="en-US" sz="3750" b="1" i="0" u="none" strike="noStrike" cap="none">
                <a:solidFill>
                  <a:srgbClr val="76B900"/>
                </a:solidFill>
                <a:latin typeface="Urbanist"/>
                <a:ea typeface="Urbanist"/>
                <a:cs typeface="Urbanist"/>
                <a:sym typeface="Urbanist"/>
              </a:rPr>
              <a:t>2D Mapping</a:t>
            </a:r>
            <a:endParaRPr/>
          </a:p>
        </p:txBody>
      </p:sp>
      <p:sp>
        <p:nvSpPr>
          <p:cNvPr id="9" name="Google Shape;280;p23">
            <a:extLst>
              <a:ext uri="{FF2B5EF4-FFF2-40B4-BE49-F238E27FC236}">
                <a16:creationId xmlns:a16="http://schemas.microsoft.com/office/drawing/2014/main" id="{4338A390-B503-5C81-9FC2-EF6BBF20746A}"/>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 name="Picture 12">
            <a:extLst>
              <a:ext uri="{FF2B5EF4-FFF2-40B4-BE49-F238E27FC236}">
                <a16:creationId xmlns:a16="http://schemas.microsoft.com/office/drawing/2014/main" id="{D2F272B5-21D3-CFF8-906F-9D8D87D995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9208" y="3926185"/>
            <a:ext cx="4176801" cy="2710477"/>
          </a:xfrm>
          <a:prstGeom prst="rect">
            <a:avLst/>
          </a:prstGeom>
        </p:spPr>
      </p:pic>
      <p:pic>
        <p:nvPicPr>
          <p:cNvPr id="12" name="Video Project 15">
            <a:hlinkClick r:id="" action="ppaction://media"/>
            <a:extLst>
              <a:ext uri="{FF2B5EF4-FFF2-40B4-BE49-F238E27FC236}">
                <a16:creationId xmlns:a16="http://schemas.microsoft.com/office/drawing/2014/main" id="{B3FD5529-D00E-EEC7-2753-8FAE48E816E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2412" t="2558" r="12463" b="1766"/>
          <a:stretch>
            <a:fillRect/>
          </a:stretch>
        </p:blipFill>
        <p:spPr>
          <a:xfrm>
            <a:off x="581025" y="1974434"/>
            <a:ext cx="5244690" cy="3757222"/>
          </a:xfrm>
          <a:prstGeom prst="rect">
            <a:avLst/>
          </a:prstGeom>
          <a:ln>
            <a:solidFill>
              <a:schemeClr val="tx1"/>
            </a:solidFill>
          </a:ln>
        </p:spPr>
      </p:pic>
    </p:spTree>
    <p:extLst>
      <p:ext uri="{BB962C8B-B14F-4D97-AF65-F5344CB8AC3E}">
        <p14:creationId xmlns:p14="http://schemas.microsoft.com/office/powerpoint/2010/main" val="133772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53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79;p23">
            <a:extLst>
              <a:ext uri="{FF2B5EF4-FFF2-40B4-BE49-F238E27FC236}">
                <a16:creationId xmlns:a16="http://schemas.microsoft.com/office/drawing/2014/main" id="{19AA3BDD-4495-3C62-29AC-81C5B6C0E9E7}"/>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latin typeface="Urbanist"/>
                <a:ea typeface="Urbanist"/>
                <a:cs typeface="Urbanist"/>
                <a:sym typeface="Urbanist"/>
              </a:rPr>
              <a:t>Demo 3: </a:t>
            </a:r>
            <a:r>
              <a:rPr lang="en-US" sz="3750" b="1" i="0" u="none" strike="noStrike" cap="none">
                <a:solidFill>
                  <a:srgbClr val="76B900"/>
                </a:solidFill>
                <a:latin typeface="Urbanist"/>
                <a:ea typeface="Urbanist"/>
                <a:cs typeface="Urbanist"/>
                <a:sym typeface="Urbanist"/>
              </a:rPr>
              <a:t>2D Mapping</a:t>
            </a:r>
            <a:endParaRPr/>
          </a:p>
        </p:txBody>
      </p:sp>
      <p:sp>
        <p:nvSpPr>
          <p:cNvPr id="5" name="Google Shape;280;p23">
            <a:extLst>
              <a:ext uri="{FF2B5EF4-FFF2-40B4-BE49-F238E27FC236}">
                <a16:creationId xmlns:a16="http://schemas.microsoft.com/office/drawing/2014/main" id="{904B3E36-1FD8-221E-ECF0-AD071F72FF8D}"/>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 name="Graphic 5">
            <a:extLst>
              <a:ext uri="{FF2B5EF4-FFF2-40B4-BE49-F238E27FC236}">
                <a16:creationId xmlns:a16="http://schemas.microsoft.com/office/drawing/2014/main" id="{8801DA75-CF59-9189-B2BA-CE903B39C9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48767" y="1588123"/>
            <a:ext cx="5523171" cy="4810011"/>
          </a:xfrm>
          <a:prstGeom prst="rect">
            <a:avLst/>
          </a:prstGeom>
        </p:spPr>
      </p:pic>
    </p:spTree>
    <p:extLst>
      <p:ext uri="{BB962C8B-B14F-4D97-AF65-F5344CB8AC3E}">
        <p14:creationId xmlns:p14="http://schemas.microsoft.com/office/powerpoint/2010/main" val="2261639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9;p23">
            <a:extLst>
              <a:ext uri="{FF2B5EF4-FFF2-40B4-BE49-F238E27FC236}">
                <a16:creationId xmlns:a16="http://schemas.microsoft.com/office/drawing/2014/main" id="{43F20D80-C279-6BD2-92C4-28664E63F153}"/>
              </a:ext>
            </a:extLst>
          </p:cNvPr>
          <p:cNvSpPr txBox="1"/>
          <p:nvPr/>
        </p:nvSpPr>
        <p:spPr>
          <a:xfrm>
            <a:off x="581025" y="581025"/>
            <a:ext cx="11581447"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76B900"/>
                </a:solidFill>
                <a:latin typeface="Urbanist"/>
                <a:ea typeface="Urbanist"/>
                <a:cs typeface="Urbanist"/>
                <a:sym typeface="Urbanist"/>
              </a:rPr>
              <a:t>Conclusions and Future Works</a:t>
            </a:r>
            <a:endParaRPr/>
          </a:p>
        </p:txBody>
      </p:sp>
      <p:sp>
        <p:nvSpPr>
          <p:cNvPr id="3" name="Google Shape;280;p23">
            <a:extLst>
              <a:ext uri="{FF2B5EF4-FFF2-40B4-BE49-F238E27FC236}">
                <a16:creationId xmlns:a16="http://schemas.microsoft.com/office/drawing/2014/main" id="{5D8F1314-7CE3-FDE5-1214-4F70B09C8A86}"/>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0" name="Group 9">
            <a:extLst>
              <a:ext uri="{FF2B5EF4-FFF2-40B4-BE49-F238E27FC236}">
                <a16:creationId xmlns:a16="http://schemas.microsoft.com/office/drawing/2014/main" id="{2388A4B7-C8AE-34E1-3A0F-3463A654F22F}"/>
              </a:ext>
            </a:extLst>
          </p:cNvPr>
          <p:cNvGrpSpPr/>
          <p:nvPr/>
        </p:nvGrpSpPr>
        <p:grpSpPr>
          <a:xfrm>
            <a:off x="581025" y="2084438"/>
            <a:ext cx="10363200" cy="1271014"/>
            <a:chOff x="698090" y="1681316"/>
            <a:chExt cx="10363200" cy="1271014"/>
          </a:xfrm>
        </p:grpSpPr>
        <p:sp>
          <p:nvSpPr>
            <p:cNvPr id="5" name="TextBox 4">
              <a:extLst>
                <a:ext uri="{FF2B5EF4-FFF2-40B4-BE49-F238E27FC236}">
                  <a16:creationId xmlns:a16="http://schemas.microsoft.com/office/drawing/2014/main" id="{406965B3-6AA7-D83E-7F21-D3BB0B155DCD}"/>
                </a:ext>
              </a:extLst>
            </p:cNvPr>
            <p:cNvSpPr txBox="1"/>
            <p:nvPr/>
          </p:nvSpPr>
          <p:spPr>
            <a:xfrm>
              <a:off x="698090" y="1681316"/>
              <a:ext cx="10363200" cy="615553"/>
            </a:xfrm>
            <a:prstGeom prst="rect">
              <a:avLst/>
            </a:prstGeom>
            <a:noFill/>
          </p:spPr>
          <p:txBody>
            <a:bodyPr wrap="square" rtlCol="0">
              <a:spAutoFit/>
            </a:bodyPr>
            <a:lstStyle/>
            <a:p>
              <a:r>
                <a:rPr lang="en-US" dirty="0">
                  <a:ln>
                    <a:solidFill>
                      <a:srgbClr val="00B050"/>
                    </a:solidFill>
                  </a:ln>
                  <a:solidFill>
                    <a:srgbClr val="00B050"/>
                  </a:solidFill>
                  <a:latin typeface="Arial"/>
                  <a:ea typeface="Arial"/>
                  <a:cs typeface="Arial"/>
                  <a:sym typeface="Arial"/>
                </a:rPr>
                <a:t></a:t>
              </a:r>
              <a:r>
                <a:rPr lang="en-GB" dirty="0">
                  <a:ln>
                    <a:solidFill>
                      <a:srgbClr val="00B050"/>
                    </a:solidFill>
                  </a:ln>
                  <a:solidFill>
                    <a:srgbClr val="00B050"/>
                  </a:solidFill>
                  <a:latin typeface="Arial"/>
                  <a:ea typeface="Arial"/>
                  <a:cs typeface="Arial"/>
                  <a:sym typeface="Arial"/>
                </a:rPr>
                <a:t> </a:t>
              </a:r>
              <a:r>
                <a:rPr lang="it-IT" sz="1600" dirty="0">
                  <a:latin typeface="Inter"/>
                </a:rPr>
                <a:t>Add the functionality of being sensible to light sources since the real sensor has very bad performance outside were the amount of uv light coming from the sun is sensed as the vcsel emitter</a:t>
              </a:r>
              <a:endParaRPr lang="en-GB" sz="1600" dirty="0">
                <a:latin typeface="Inter"/>
              </a:endParaRPr>
            </a:p>
          </p:txBody>
        </p:sp>
        <p:sp>
          <p:nvSpPr>
            <p:cNvPr id="7" name="TextBox 6">
              <a:extLst>
                <a:ext uri="{FF2B5EF4-FFF2-40B4-BE49-F238E27FC236}">
                  <a16:creationId xmlns:a16="http://schemas.microsoft.com/office/drawing/2014/main" id="{CDF02F2E-1B69-A302-6331-F3F7EA67C143}"/>
                </a:ext>
              </a:extLst>
            </p:cNvPr>
            <p:cNvSpPr txBox="1"/>
            <p:nvPr/>
          </p:nvSpPr>
          <p:spPr>
            <a:xfrm>
              <a:off x="698090" y="2582998"/>
              <a:ext cx="10363200" cy="369332"/>
            </a:xfrm>
            <a:prstGeom prst="rect">
              <a:avLst/>
            </a:prstGeom>
            <a:noFill/>
          </p:spPr>
          <p:txBody>
            <a:bodyPr wrap="square">
              <a:spAutoFit/>
            </a:bodyPr>
            <a:lstStyle/>
            <a:p>
              <a:r>
                <a:rPr lang="en-US" dirty="0">
                  <a:ln>
                    <a:solidFill>
                      <a:srgbClr val="00B050"/>
                    </a:solidFill>
                  </a:ln>
                  <a:solidFill>
                    <a:srgbClr val="00B050"/>
                  </a:solidFill>
                  <a:latin typeface="Arial"/>
                  <a:ea typeface="Arial"/>
                  <a:cs typeface="Arial"/>
                  <a:sym typeface="Arial"/>
                </a:rPr>
                <a:t></a:t>
              </a:r>
              <a:r>
                <a:rPr lang="en-GB" dirty="0">
                  <a:ln>
                    <a:solidFill>
                      <a:srgbClr val="00B050"/>
                    </a:solidFill>
                  </a:ln>
                  <a:solidFill>
                    <a:srgbClr val="00B050"/>
                  </a:solidFill>
                  <a:latin typeface="Arial"/>
                  <a:ea typeface="Arial"/>
                  <a:cs typeface="Arial"/>
                  <a:sym typeface="Arial"/>
                </a:rPr>
                <a:t> </a:t>
              </a:r>
              <a:r>
                <a:rPr lang="it-IT" sz="1600" dirty="0">
                  <a:latin typeface="Inter"/>
                  <a:sym typeface="Arial"/>
                </a:rPr>
                <a:t>Sensible to surface colors</a:t>
              </a:r>
              <a:endParaRPr lang="en-GB" sz="1600" dirty="0">
                <a:latin typeface="Inter"/>
              </a:endParaRPr>
            </a:p>
          </p:txBody>
        </p:sp>
      </p:grpSp>
    </p:spTree>
    <p:extLst>
      <p:ext uri="{BB962C8B-B14F-4D97-AF65-F5344CB8AC3E}">
        <p14:creationId xmlns:p14="http://schemas.microsoft.com/office/powerpoint/2010/main" val="2185151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E830-E48D-CBFB-E75B-25D38F14E0DF}"/>
            </a:ext>
          </a:extLst>
        </p:cNvPr>
        <p:cNvGrpSpPr/>
        <p:nvPr/>
      </p:nvGrpSpPr>
      <p:grpSpPr>
        <a:xfrm>
          <a:off x="0" y="0"/>
          <a:ext cx="0" cy="0"/>
          <a:chOff x="0" y="0"/>
          <a:chExt cx="0" cy="0"/>
        </a:xfrm>
      </p:grpSpPr>
      <p:sp>
        <p:nvSpPr>
          <p:cNvPr id="2" name="Google Shape;279;p23">
            <a:extLst>
              <a:ext uri="{FF2B5EF4-FFF2-40B4-BE49-F238E27FC236}">
                <a16:creationId xmlns:a16="http://schemas.microsoft.com/office/drawing/2014/main" id="{38B0A96A-17E3-4865-1928-19ACD3343AC6}"/>
              </a:ext>
            </a:extLst>
          </p:cNvPr>
          <p:cNvSpPr txBox="1"/>
          <p:nvPr/>
        </p:nvSpPr>
        <p:spPr>
          <a:xfrm>
            <a:off x="581025" y="581025"/>
            <a:ext cx="11581447" cy="5770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a:solidFill>
                  <a:srgbClr val="76B900"/>
                </a:solidFill>
                <a:latin typeface="Urbanist"/>
                <a:sym typeface="Urbanist"/>
              </a:rPr>
              <a:t>Reference</a:t>
            </a:r>
            <a:endParaRPr/>
          </a:p>
        </p:txBody>
      </p:sp>
      <p:sp>
        <p:nvSpPr>
          <p:cNvPr id="3" name="Google Shape;280;p23">
            <a:extLst>
              <a:ext uri="{FF2B5EF4-FFF2-40B4-BE49-F238E27FC236}">
                <a16:creationId xmlns:a16="http://schemas.microsoft.com/office/drawing/2014/main" id="{3E84F700-B21C-1A1E-5830-D7E49C793D9F}"/>
              </a:ext>
            </a:extLst>
          </p:cNvPr>
          <p:cNvSpPr/>
          <p:nvPr/>
        </p:nvSpPr>
        <p:spPr>
          <a:xfrm>
            <a:off x="581025" y="1304925"/>
            <a:ext cx="11029950" cy="19050"/>
          </a:xfrm>
          <a:prstGeom prst="rect">
            <a:avLst/>
          </a:prstGeom>
          <a:solidFill>
            <a:srgbClr val="76B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CasellaDiTesto 3">
            <a:extLst>
              <a:ext uri="{FF2B5EF4-FFF2-40B4-BE49-F238E27FC236}">
                <a16:creationId xmlns:a16="http://schemas.microsoft.com/office/drawing/2014/main" id="{FA6D6932-F3C5-7648-005A-D2F33BDD8FFF}"/>
              </a:ext>
            </a:extLst>
          </p:cNvPr>
          <p:cNvSpPr txBox="1"/>
          <p:nvPr/>
        </p:nvSpPr>
        <p:spPr>
          <a:xfrm>
            <a:off x="581025" y="1890117"/>
            <a:ext cx="11029950" cy="3077766"/>
          </a:xfrm>
          <a:prstGeom prst="rect">
            <a:avLst/>
          </a:prstGeom>
          <a:noFill/>
        </p:spPr>
        <p:txBody>
          <a:bodyPr wrap="square" lIns="91440" tIns="45720" rIns="91440" bIns="45720" rtlCol="0" anchor="t">
            <a:spAutoFit/>
          </a:bodyPr>
          <a:lstStyle/>
          <a:p>
            <a:r>
              <a:rPr lang="it-IT" b="1" dirty="0">
                <a:solidFill>
                  <a:schemeClr val="tx1"/>
                </a:solidFill>
                <a:latin typeface="Inter"/>
                <a:ea typeface="MS PGothic"/>
              </a:rPr>
              <a:t>Sources</a:t>
            </a:r>
            <a:r>
              <a:rPr lang="it-IT" sz="1600" dirty="0">
                <a:solidFill>
                  <a:schemeClr val="tx1"/>
                </a:solidFill>
                <a:latin typeface="Inter"/>
                <a:ea typeface="MS PGothic"/>
              </a:rPr>
              <a:t>:</a:t>
            </a:r>
            <a:br>
              <a:rPr lang="it-IT" sz="1600" dirty="0">
                <a:solidFill>
                  <a:schemeClr val="tx1"/>
                </a:solidFill>
                <a:latin typeface="Inter"/>
                <a:ea typeface="MS PGothic"/>
              </a:rPr>
            </a:br>
            <a:endParaRPr lang="it-IT" sz="1600" dirty="0">
              <a:solidFill>
                <a:schemeClr val="tx1"/>
              </a:solidFill>
              <a:latin typeface="Inter"/>
              <a:ea typeface="MS PGothic"/>
            </a:endParaRPr>
          </a:p>
          <a:p>
            <a:r>
              <a:rPr lang="it-IT" sz="1600" dirty="0">
                <a:solidFill>
                  <a:schemeClr val="tx1"/>
                </a:solidFill>
                <a:latin typeface="Inter"/>
                <a:ea typeface="MS PGothic"/>
              </a:rPr>
              <a:t>[1] </a:t>
            </a:r>
            <a:r>
              <a:rPr lang="de-DE" sz="1600" i="1" dirty="0">
                <a:solidFill>
                  <a:schemeClr val="tx1"/>
                </a:solidFill>
                <a:latin typeface="Inter"/>
                <a:ea typeface="MS PGothic"/>
              </a:rPr>
              <a:t>Bitcraze AB Datasheet Multi-ranger deck - Rev 1</a:t>
            </a:r>
            <a:br>
              <a:rPr lang="de-DE" sz="1600" i="1" dirty="0">
                <a:solidFill>
                  <a:schemeClr val="tx1"/>
                </a:solidFill>
                <a:latin typeface="Inter"/>
                <a:ea typeface="MS PGothic"/>
              </a:rPr>
            </a:br>
            <a:endParaRPr lang="en-US" sz="1600" i="1" dirty="0">
              <a:solidFill>
                <a:schemeClr val="tx1"/>
              </a:solidFill>
              <a:latin typeface="Inter"/>
              <a:ea typeface="MS PGothic"/>
            </a:endParaRPr>
          </a:p>
          <a:p>
            <a:r>
              <a:rPr lang="it-IT" sz="1600" dirty="0">
                <a:solidFill>
                  <a:schemeClr val="tx1"/>
                </a:solidFill>
                <a:latin typeface="Inter"/>
                <a:ea typeface="MS PGothic"/>
              </a:rPr>
              <a:t>[2] </a:t>
            </a:r>
            <a:r>
              <a:rPr lang="en-US" sz="1600" i="1" dirty="0">
                <a:solidFill>
                  <a:schemeClr val="tx1"/>
                </a:solidFill>
                <a:latin typeface="Inter"/>
                <a:ea typeface="MS PGothic"/>
              </a:rPr>
              <a:t>STMicroelectronics, VL53L1X Datasheet: A new generation, long distance ranging Time-of-Flight sensor based on ST’s </a:t>
            </a:r>
            <a:r>
              <a:rPr lang="en-US" sz="1600" i="1" dirty="0" err="1">
                <a:solidFill>
                  <a:schemeClr val="tx1"/>
                </a:solidFill>
                <a:latin typeface="Inter"/>
                <a:ea typeface="MS PGothic"/>
              </a:rPr>
              <a:t>FlightSense</a:t>
            </a:r>
            <a:r>
              <a:rPr lang="en-US" sz="1600" i="1" dirty="0">
                <a:solidFill>
                  <a:schemeClr val="tx1"/>
                </a:solidFill>
                <a:latin typeface="Inter"/>
                <a:ea typeface="MS PGothic"/>
              </a:rPr>
              <a:t>™ technology</a:t>
            </a:r>
            <a:br>
              <a:rPr lang="en-US" sz="1600" i="1" dirty="0">
                <a:solidFill>
                  <a:schemeClr val="tx1"/>
                </a:solidFill>
                <a:latin typeface="Inter"/>
                <a:ea typeface="MS PGothic"/>
              </a:rPr>
            </a:br>
            <a:endParaRPr lang="en-US" sz="1600" i="1" dirty="0">
              <a:solidFill>
                <a:schemeClr val="tx1"/>
              </a:solidFill>
              <a:latin typeface="Inter"/>
              <a:ea typeface="MS PGothic"/>
            </a:endParaRPr>
          </a:p>
          <a:p>
            <a:r>
              <a:rPr lang="it-IT" sz="1600" dirty="0">
                <a:solidFill>
                  <a:schemeClr val="tx1"/>
                </a:solidFill>
                <a:latin typeface="Inter"/>
                <a:ea typeface="MS PGothic"/>
              </a:rPr>
              <a:t>[3</a:t>
            </a:r>
            <a:r>
              <a:rPr lang="it-IT" sz="1600" dirty="0">
                <a:solidFill>
                  <a:schemeClr val="tx1">
                    <a:lumMod val="95000"/>
                    <a:lumOff val="5000"/>
                  </a:schemeClr>
                </a:solidFill>
                <a:latin typeface="Inter"/>
                <a:ea typeface="MS PGothic"/>
              </a:rPr>
              <a:t>] </a:t>
            </a:r>
            <a:r>
              <a:rPr lang="en-US" sz="1600" i="1" dirty="0">
                <a:latin typeface="Inter"/>
                <a:ea typeface="MS PGothic"/>
              </a:rPr>
              <a:t>AN5191, Application note, Using the programmable region of interest (ROI) with the VL53L1X</a:t>
            </a:r>
            <a:br>
              <a:rPr lang="en-US" sz="1600" dirty="0">
                <a:solidFill>
                  <a:schemeClr val="tx1"/>
                </a:solidFill>
                <a:latin typeface="Inter"/>
              </a:rPr>
            </a:br>
            <a:endParaRPr lang="en-US" sz="1600" dirty="0">
              <a:solidFill>
                <a:schemeClr val="tx1"/>
              </a:solidFill>
              <a:latin typeface="Inter"/>
            </a:endParaRPr>
          </a:p>
          <a:p>
            <a:r>
              <a:rPr lang="en-US" sz="1600" dirty="0">
                <a:solidFill>
                  <a:schemeClr val="tx1"/>
                </a:solidFill>
                <a:latin typeface="Inter"/>
                <a:ea typeface="MS PGothic"/>
              </a:rPr>
              <a:t>[4] </a:t>
            </a:r>
            <a:r>
              <a:rPr lang="en-US" sz="1600" i="1" dirty="0">
                <a:latin typeface="Inter"/>
                <a:ea typeface="MS PGothic"/>
              </a:rPr>
              <a:t>AN5231, Application note, Cover window guidelines for the VL53L1X long-distance ranging Time-of-Flight sensor, Section 5.3</a:t>
            </a:r>
            <a:br>
              <a:rPr lang="en-US" sz="1600" dirty="0">
                <a:solidFill>
                  <a:schemeClr val="tx1"/>
                </a:solidFill>
                <a:latin typeface="Inter"/>
                <a:ea typeface="MS PGothic"/>
              </a:rPr>
            </a:br>
            <a:endParaRPr lang="it-IT" sz="1600" dirty="0">
              <a:solidFill>
                <a:schemeClr val="tx1"/>
              </a:solidFill>
              <a:latin typeface="Inter"/>
              <a:ea typeface="MS PGothic"/>
            </a:endParaRPr>
          </a:p>
          <a:p>
            <a:r>
              <a:rPr lang="it-IT" sz="1600" dirty="0">
                <a:solidFill>
                  <a:schemeClr val="tx1"/>
                </a:solidFill>
                <a:latin typeface="Inter"/>
                <a:ea typeface="MS PGothic"/>
              </a:rPr>
              <a:t>[5] </a:t>
            </a:r>
            <a:r>
              <a:rPr lang="it-IT" sz="1600" i="1" dirty="0">
                <a:latin typeface="Inter"/>
                <a:ea typeface="MS PGothic"/>
                <a:hlinkClick r:id="rId2">
                  <a:extLst>
                    <a:ext uri="{A12FA001-AC4F-418D-AE19-62706E023703}">
                      <ahyp:hlinkClr xmlns:ahyp="http://schemas.microsoft.com/office/drawing/2018/hyperlinkcolor" val="tx"/>
                    </a:ext>
                  </a:extLst>
                </a:hlinkClick>
              </a:rPr>
              <a:t>Question about mapping using the VL53L1X sensor - Projects / General Guidance - Arduino Forum</a:t>
            </a:r>
          </a:p>
        </p:txBody>
      </p:sp>
    </p:spTree>
    <p:extLst>
      <p:ext uri="{BB962C8B-B14F-4D97-AF65-F5344CB8AC3E}">
        <p14:creationId xmlns:p14="http://schemas.microsoft.com/office/powerpoint/2010/main" val="3208749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0984A6D7F35141B49C7AD2F614F8EF" ma:contentTypeVersion="14" ma:contentTypeDescription="Create a new document." ma:contentTypeScope="" ma:versionID="50b35b9dd589deffda1c44846e404be7">
  <xsd:schema xmlns:xsd="http://www.w3.org/2001/XMLSchema" xmlns:xs="http://www.w3.org/2001/XMLSchema" xmlns:p="http://schemas.microsoft.com/office/2006/metadata/properties" xmlns:ns3="d45cf48d-8f71-4bf7-baaa-c4af11f15e4e" xmlns:ns4="9ed310e5-6b5b-487f-86a1-3136517907fe" targetNamespace="http://schemas.microsoft.com/office/2006/metadata/properties" ma:root="true" ma:fieldsID="28cf0a405cfa4c615ae4a862932eede1" ns3:_="" ns4:_="">
    <xsd:import namespace="d45cf48d-8f71-4bf7-baaa-c4af11f15e4e"/>
    <xsd:import namespace="9ed310e5-6b5b-487f-86a1-3136517907fe"/>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SearchProperties" minOccurs="0"/>
                <xsd:element ref="ns3:MediaServiceGenerationTime" minOccurs="0"/>
                <xsd:element ref="ns3:MediaServiceEventHashCode" minOccurs="0"/>
                <xsd:element ref="ns3:MediaServiceSystemTags"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cf48d-8f71-4bf7-baaa-c4af11f15e4e"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ed310e5-6b5b-487f-86a1-3136517907fe"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d45cf48d-8f71-4bf7-baaa-c4af11f15e4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6FE434-6679-4184-81A4-9A86D0FA0F4D}">
  <ds:schemaRefs>
    <ds:schemaRef ds:uri="9ed310e5-6b5b-487f-86a1-3136517907fe"/>
    <ds:schemaRef ds:uri="d45cf48d-8f71-4bf7-baaa-c4af11f15e4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664B908-FFFB-4328-AFC6-39DA4B418247}">
  <ds:schemaRefs>
    <ds:schemaRef ds:uri="http://www.w3.org/XML/1998/namespace"/>
    <ds:schemaRef ds:uri="http://purl.org/dc/terms/"/>
    <ds:schemaRef ds:uri="9ed310e5-6b5b-487f-86a1-3136517907fe"/>
    <ds:schemaRef ds:uri="http://schemas.microsoft.com/office/2006/documentManagement/types"/>
    <ds:schemaRef ds:uri="http://schemas.microsoft.com/office/infopath/2007/PartnerControls"/>
    <ds:schemaRef ds:uri="d45cf48d-8f71-4bf7-baaa-c4af11f15e4e"/>
    <ds:schemaRef ds:uri="http://purl.org/dc/elements/1.1/"/>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4C54663C-CD93-4F26-AFF6-60031939CB9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1044</Words>
  <Application>Microsoft Office PowerPoint</Application>
  <PresentationFormat>Widescreen</PresentationFormat>
  <Paragraphs>138</Paragraphs>
  <Slides>18</Slides>
  <Notes>0</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Aptos Display</vt:lpstr>
      <vt:lpstr>Arial</vt:lpstr>
      <vt:lpstr>Calibri</vt:lpstr>
      <vt:lpstr>Intel</vt:lpstr>
      <vt:lpstr>Inter</vt:lpstr>
      <vt:lpstr>Inter SemiBold</vt:lpstr>
      <vt:lpstr>Urbanist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samori</dc:creator>
  <cp:lastModifiedBy>luca samori</cp:lastModifiedBy>
  <cp:revision>17</cp:revision>
  <dcterms:created xsi:type="dcterms:W3CDTF">2026-05-10T14:09:09Z</dcterms:created>
  <dcterms:modified xsi:type="dcterms:W3CDTF">2026-05-28T19:10:29Z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0x010100A90984A6D7F35141B49C7AD2F614F8EF</vt:lpwstr>
  </property>
</Properties>
</file>