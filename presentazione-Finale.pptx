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12_F31D1F5B.xml" ContentType="application/vnd.ms-powerpoint.comments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3"/>
  </p:notesMasterIdLst>
  <p:sldIdLst>
    <p:sldId id="256" r:id="rId5"/>
    <p:sldId id="257" r:id="rId6"/>
    <p:sldId id="258" r:id="rId7"/>
    <p:sldId id="259" r:id="rId8"/>
    <p:sldId id="260" r:id="rId9"/>
    <p:sldId id="274" r:id="rId10"/>
    <p:sldId id="271" r:id="rId11"/>
    <p:sldId id="270" r:id="rId12"/>
    <p:sldId id="262" r:id="rId13"/>
    <p:sldId id="265" r:id="rId14"/>
    <p:sldId id="266" r:id="rId15"/>
    <p:sldId id="279" r:id="rId16"/>
    <p:sldId id="277" r:id="rId17"/>
    <p:sldId id="268" r:id="rId18"/>
    <p:sldId id="269" r:id="rId19"/>
    <p:sldId id="278" r:id="rId20"/>
    <p:sldId id="272" r:id="rId21"/>
    <p:sldId id="27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9D45D75-A6E2-2878-173B-DFDA2F5AB3ED}" name="Luca Samorì - luca.samori2@studio.unibo.it" initials="Ll" userId="S::luca.samori2@studio.unibo.it::5c5e4715-aa70-4e76-90b4-a7791360b07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E53E9D-ECC7-68A8-BFAE-538DC808A770}" v="1" dt="2026-05-18T07:14:45.304"/>
    <p1510:client id="{B6AC3307-1A6D-18E0-7ACE-912D98CFD687}" v="36" dt="2026-05-16T17:39:22.407"/>
    <p1510:client id="{F91C2C79-B348-A46A-7B55-01169248BCE5}" v="2" dt="2026-05-16T18:44:33.7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comments/modernComment_112_F31D1F5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5A63127-CC02-4DA4-89A5-AF24142D24CD}" authorId="{A9D45D75-A6E2-2878-173B-DFDA2F5AB3ED}" created="2026-05-15T15:02:40.283">
    <pc:sldMkLst xmlns:pc="http://schemas.microsoft.com/office/powerpoint/2013/main/command">
      <pc:docMk/>
      <pc:sldMk cId="4078772059" sldId="274"/>
    </pc:sldMkLst>
    <p188:txBody>
      <a:bodyPr/>
      <a:lstStyle/>
      <a:p>
        <a:r>
          <a:rPr lang="en-US"/>
          <a:t>Standard simulators cast a single, perfectly straight 1D ray. This allows the simulated sensor to "see through" thin gaps that a real 27° conical sensor would detect as obstacles.​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E96A5-A7CC-4E91-BE73-01BD6789E43A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F9C63E-2B21-4D50-B201-AB660BD7CFF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6975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B23A4-C06F-8E7B-F7DC-B075E550F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EEDB24-6A40-C1AB-E857-63C609C99E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2B3765-81FA-9D17-8356-4274BDEF9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82EBF-B45F-434D-960B-28E3420FA263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C605E-98BF-139E-3A9F-4D0FE485E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D7A70-9077-6259-9C31-343F1A0D0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DA310-9995-425D-8551-309573539D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9302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607CE-971A-39BD-26ED-AD8544BEB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519CE-D3E9-5AF3-B1ED-FBF5687D1F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42314-363C-7E4B-595A-875EC1EAA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82EBF-B45F-434D-960B-28E3420FA263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445D8-BD56-5602-CBB1-2985A3722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2050A-253D-9A64-5DD2-5ADB407C1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DA310-9995-425D-8551-309573539D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51169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AF024-F63F-F61C-4179-FB96B7E02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06DEA7-2CE1-B43A-2763-C002A8164A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3876BE-292B-6C92-DE2C-5D6198619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82EBF-B45F-434D-960B-28E3420FA263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8A610-8D8E-85FC-1ED5-696B4B40D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D123F-82C7-B39F-A799-D61FC3D1C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DA310-9995-425D-8551-309573539D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0734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8EF50-F9B1-2C49-0F4B-00DDC8309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CEFD2-75C8-5AD1-86E1-C2779ACB4B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72F914-F3AC-7752-3CCF-ABA1AFF6D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F77B2A-29B8-F88A-DD13-7D1E5009A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82EBF-B45F-434D-960B-28E3420FA263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9F5CB7-D7B2-A4EF-0A22-54D9D1270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B919E4-5BF0-BC15-9283-8131E7D4D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DA310-9995-425D-8551-309573539D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6874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71B01-1088-2A4C-B8AD-6D99BF961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804473-3A1D-162D-4A5D-21DBBE55A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158797-3047-36F8-0B49-CFCD366A2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1DA291-ADE9-C8E1-0319-09F2CBF259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D25B2A-3916-46E0-B026-71A9549B62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854DC8-27DF-3A49-248B-F90058194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82EBF-B45F-434D-960B-28E3420FA263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333DAD-6DC5-B8F7-33EE-1A6CF7CA4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5E5023-6C7B-3CDB-888D-A63CC1408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DA310-9995-425D-8551-309573539D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0140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66B1B-5B7B-EBE7-4DEB-E16CF9D53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DE4FCA-56FC-4A53-364C-0972DC178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82EBF-B45F-434D-960B-28E3420FA263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E2BC30-E8BA-1DE9-D3C7-6E439F557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928371-456E-C4CA-D968-E3AFC14ED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DA310-9995-425D-8551-309573539D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4136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36FFEB-C46E-E883-B8F7-BD74A2F8A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82EBF-B45F-434D-960B-28E3420FA263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D13C67-9C0C-5B86-3ED9-F34BE0CC2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7E005-1D4D-FCEA-E602-762E067E3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DA310-9995-425D-8551-309573539D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59147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FA20F-22B6-233E-EA08-B35FFF944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DE5D9-C859-7C35-3111-614F7B1B9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DB646F-6C2F-B5DF-8582-E82CFDA2ED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2E6284-EC98-F6AD-E9EE-995A05A9F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82EBF-B45F-434D-960B-28E3420FA263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411054-7318-F952-749A-A7389B62A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C8CD99-3692-282E-4568-0D0C6F334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DA310-9995-425D-8551-309573539D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306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D72CA-5F35-FE4F-76E9-6C8F73DBB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582176-EB7F-EAFA-AAC2-2FE648DD58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61A58C-1D50-9479-F621-D6F32BFD5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8F42D3-47F5-E485-E06B-3F4B190EB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82EBF-B45F-434D-960B-28E3420FA263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712CAF-4398-4247-4ACC-9A6749F52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1262D-E862-A29F-80FC-A4C6FCEBD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DA310-9995-425D-8551-309573539D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24541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26C4F-1BD1-3990-DB6E-131402D2B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F04ADF-E878-BDD4-1952-93EF6EB995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72B5D-E4D9-8AB3-2CF3-34FC92234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82EBF-B45F-434D-960B-28E3420FA263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2F6999-7164-6E20-2F72-2A96D3201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26FF22-A369-451C-C333-57A8D8D6C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DA310-9995-425D-8551-309573539D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5421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C904CD-ACE5-46D8-F4B9-315A4C2351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88D2F1-3FA8-4D4A-53DD-1C9BA7B5A6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D89A3-9EE5-2652-C573-A087D3477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82EBF-B45F-434D-960B-28E3420FA263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DD2B4-D208-AF9C-6F80-382D8E65D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53CC2F-431A-B697-A505-754F7508F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DA310-9995-425D-8551-309573539D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4038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142225-6C5A-985E-3D5C-375124B53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79BF5-F0E5-1163-CA13-28C33B4241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66DCE-E6FB-6559-A2E5-437E045846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882EBF-B45F-434D-960B-28E3420FA263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2C66B9-135F-04F1-CAC2-E70E0F7028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97B1B5-9663-315E-5CFB-C786AE62CA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1DA310-9995-425D-8551-309573539D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1585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microsoft.com/office/2018/10/relationships/comments" Target="../comments/modernComment_112_F31D1F5B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forum.arduino.cc/t/question-about-mapping-using-the-vl53l1x-sensor/1137297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5;p13">
            <a:extLst>
              <a:ext uri="{FF2B5EF4-FFF2-40B4-BE49-F238E27FC236}">
                <a16:creationId xmlns:a16="http://schemas.microsoft.com/office/drawing/2014/main" id="{1E74AA6C-A436-BD7A-2862-B480E408D0B7}"/>
              </a:ext>
            </a:extLst>
          </p:cNvPr>
          <p:cNvSpPr txBox="1"/>
          <p:nvPr/>
        </p:nvSpPr>
        <p:spPr>
          <a:xfrm>
            <a:off x="2770581" y="1076402"/>
            <a:ext cx="6650831" cy="2742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5400" b="1" i="0" u="none" strike="noStrike" cap="none">
                <a:latin typeface="Urbanist"/>
                <a:ea typeface="Urbanist"/>
                <a:cs typeface="Urbanist"/>
                <a:sym typeface="Urbanist"/>
              </a:rPr>
              <a:t>Parallel</a:t>
            </a:r>
            <a:r>
              <a:rPr lang="de-DE" sz="54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de-DE" sz="5400" b="1" i="0" u="none" strike="noStrike" cap="none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Ranger Deck</a:t>
            </a:r>
            <a:br>
              <a:rPr lang="de-DE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de-DE" sz="5400" b="1" i="0" u="none" strike="noStrike" cap="none">
                <a:latin typeface="Urbanist"/>
                <a:ea typeface="Urbanist"/>
                <a:cs typeface="Urbanist"/>
                <a:sym typeface="Urbanist"/>
              </a:rPr>
              <a:t> in Isaac Lab</a:t>
            </a:r>
            <a:endParaRPr lang="de-DE"/>
          </a:p>
        </p:txBody>
      </p:sp>
      <p:sp>
        <p:nvSpPr>
          <p:cNvPr id="5" name="Google Shape;86;p13">
            <a:extLst>
              <a:ext uri="{FF2B5EF4-FFF2-40B4-BE49-F238E27FC236}">
                <a16:creationId xmlns:a16="http://schemas.microsoft.com/office/drawing/2014/main" id="{118A57F3-250C-BBBA-F28F-2EEADF71666C}"/>
              </a:ext>
            </a:extLst>
          </p:cNvPr>
          <p:cNvSpPr txBox="1"/>
          <p:nvPr/>
        </p:nvSpPr>
        <p:spPr>
          <a:xfrm>
            <a:off x="3267071" y="4298285"/>
            <a:ext cx="565785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76B9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Cyber Physical Systems Programming – Project</a:t>
            </a:r>
            <a:endParaRPr sz="2000"/>
          </a:p>
        </p:txBody>
      </p:sp>
      <p:sp>
        <p:nvSpPr>
          <p:cNvPr id="6" name="Google Shape;87;p13">
            <a:extLst>
              <a:ext uri="{FF2B5EF4-FFF2-40B4-BE49-F238E27FC236}">
                <a16:creationId xmlns:a16="http://schemas.microsoft.com/office/drawing/2014/main" id="{4095227A-2729-C570-D29E-C1E00D7C120B}"/>
              </a:ext>
            </a:extLst>
          </p:cNvPr>
          <p:cNvSpPr txBox="1"/>
          <p:nvPr/>
        </p:nvSpPr>
        <p:spPr>
          <a:xfrm>
            <a:off x="2671762" y="5116531"/>
            <a:ext cx="6848475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latin typeface="Inter"/>
                <a:ea typeface="Inter"/>
                <a:cs typeface="Inter"/>
                <a:sym typeface="Inter"/>
              </a:rPr>
              <a:t>Students:</a:t>
            </a:r>
            <a:r>
              <a:rPr lang="en-US" sz="1600" b="0" i="0" u="none" strike="noStrike" cap="none">
                <a:latin typeface="Inter"/>
                <a:ea typeface="Inter"/>
                <a:cs typeface="Inter"/>
                <a:sym typeface="Inter"/>
              </a:rPr>
              <a:t> Luca Samorì • Alexandru Zaporojanu • Tommaso Tieri</a:t>
            </a:r>
            <a:endParaRPr sz="2000"/>
          </a:p>
        </p:txBody>
      </p:sp>
      <p:sp>
        <p:nvSpPr>
          <p:cNvPr id="7" name="Google Shape;88;p13">
            <a:extLst>
              <a:ext uri="{FF2B5EF4-FFF2-40B4-BE49-F238E27FC236}">
                <a16:creationId xmlns:a16="http://schemas.microsoft.com/office/drawing/2014/main" id="{4AD09860-5649-1261-7E60-7A9508BBA4D6}"/>
              </a:ext>
            </a:extLst>
          </p:cNvPr>
          <p:cNvSpPr txBox="1"/>
          <p:nvPr/>
        </p:nvSpPr>
        <p:spPr>
          <a:xfrm>
            <a:off x="2671762" y="5611831"/>
            <a:ext cx="6848475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latin typeface="Inter"/>
                <a:ea typeface="Inter"/>
                <a:cs typeface="Inter"/>
                <a:sym typeface="Inter"/>
              </a:rPr>
              <a:t>Teacher:</a:t>
            </a:r>
            <a:r>
              <a:rPr lang="en-US" sz="1600" b="0" i="0" u="none" strike="noStrike" cap="none">
                <a:latin typeface="Inter"/>
                <a:ea typeface="Inter"/>
                <a:cs typeface="Inter"/>
                <a:sym typeface="Inter"/>
              </a:rPr>
              <a:t> Prof. Andrea Acquaviva  |  </a:t>
            </a:r>
            <a:r>
              <a:rPr lang="en-US" sz="1600" b="1" i="0" u="none" strike="noStrike" cap="none">
                <a:latin typeface="Inter"/>
                <a:ea typeface="Inter"/>
                <a:cs typeface="Inter"/>
                <a:sym typeface="Inter"/>
              </a:rPr>
              <a:t>Supervisor:</a:t>
            </a:r>
            <a:r>
              <a:rPr lang="en-US" sz="1600" b="0" i="0" u="none" strike="noStrike" cap="none">
                <a:latin typeface="Inter"/>
                <a:ea typeface="Inter"/>
                <a:cs typeface="Inter"/>
                <a:sym typeface="Inter"/>
              </a:rPr>
              <a:t> Dott. Sebastiano Mengozzi</a:t>
            </a:r>
            <a:endParaRPr sz="2000"/>
          </a:p>
        </p:txBody>
      </p:sp>
      <p:sp>
        <p:nvSpPr>
          <p:cNvPr id="8" name="Google Shape;126;p15">
            <a:extLst>
              <a:ext uri="{FF2B5EF4-FFF2-40B4-BE49-F238E27FC236}">
                <a16:creationId xmlns:a16="http://schemas.microsoft.com/office/drawing/2014/main" id="{3A83A588-B068-A49C-8F1D-F6BBE9F9C3A8}"/>
              </a:ext>
            </a:extLst>
          </p:cNvPr>
          <p:cNvSpPr/>
          <p:nvPr/>
        </p:nvSpPr>
        <p:spPr>
          <a:xfrm>
            <a:off x="581025" y="4707408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3CAA1E1-6F70-7968-E748-FB93F0648A00}"/>
              </a:ext>
            </a:extLst>
          </p:cNvPr>
          <p:cNvSpPr/>
          <p:nvPr/>
        </p:nvSpPr>
        <p:spPr>
          <a:xfrm>
            <a:off x="2769224" y="852215"/>
            <a:ext cx="6754400" cy="2969712"/>
          </a:xfrm>
          <a:prstGeom prst="round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5281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99;p14">
            <a:extLst>
              <a:ext uri="{FF2B5EF4-FFF2-40B4-BE49-F238E27FC236}">
                <a16:creationId xmlns:a16="http://schemas.microsoft.com/office/drawing/2014/main" id="{CCAD65FC-DD86-67F5-D1BB-6CEA8C31320E}"/>
              </a:ext>
            </a:extLst>
          </p:cNvPr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latin typeface="Urbanist"/>
                <a:ea typeface="Urbanist"/>
                <a:cs typeface="Urbanist"/>
                <a:sym typeface="Urbanist"/>
              </a:rPr>
              <a:t>The</a:t>
            </a:r>
            <a:r>
              <a:rPr lang="en-US" sz="375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3750" b="1" i="0" u="none" strike="noStrike" cap="none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Project</a:t>
            </a:r>
            <a:endParaRPr/>
          </a:p>
        </p:txBody>
      </p:sp>
      <p:sp>
        <p:nvSpPr>
          <p:cNvPr id="5" name="Google Shape;100;p14">
            <a:extLst>
              <a:ext uri="{FF2B5EF4-FFF2-40B4-BE49-F238E27FC236}">
                <a16:creationId xmlns:a16="http://schemas.microsoft.com/office/drawing/2014/main" id="{B5681029-9441-C5A2-85D9-CF41C97AADE6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5;p14">
            <a:extLst>
              <a:ext uri="{FF2B5EF4-FFF2-40B4-BE49-F238E27FC236}">
                <a16:creationId xmlns:a16="http://schemas.microsoft.com/office/drawing/2014/main" id="{F2976AB0-5FF9-2237-9F0A-2193EE456E6B}"/>
              </a:ext>
            </a:extLst>
          </p:cNvPr>
          <p:cNvSpPr txBox="1"/>
          <p:nvPr/>
        </p:nvSpPr>
        <p:spPr>
          <a:xfrm>
            <a:off x="844867" y="2610624"/>
            <a:ext cx="527685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latin typeface="Inter"/>
                <a:ea typeface="Inter"/>
                <a:cs typeface="Inter"/>
                <a:sym typeface="Inter"/>
              </a:rPr>
              <a:t>Extend the </a:t>
            </a:r>
            <a:r>
              <a:rPr lang="en-US" sz="1500" b="1" i="0" u="none" strike="noStrike" cap="none">
                <a:latin typeface="Inter"/>
                <a:ea typeface="Inter"/>
                <a:cs typeface="Inter"/>
                <a:sym typeface="Inter"/>
              </a:rPr>
              <a:t>Isaac Lab sensors library</a:t>
            </a:r>
            <a:r>
              <a:rPr lang="en-US" sz="1500" b="0" i="0" u="none" strike="noStrike" cap="none">
                <a:latin typeface="Inter"/>
                <a:ea typeface="Inter"/>
                <a:cs typeface="Inter"/>
                <a:sym typeface="Inter"/>
              </a:rPr>
              <a:t> with a custom ranger deck sensor tailored for navigation tasks.</a:t>
            </a:r>
            <a:endParaRPr/>
          </a:p>
        </p:txBody>
      </p:sp>
      <p:sp>
        <p:nvSpPr>
          <p:cNvPr id="7" name="Google Shape;94;p14">
            <a:extLst>
              <a:ext uri="{FF2B5EF4-FFF2-40B4-BE49-F238E27FC236}">
                <a16:creationId xmlns:a16="http://schemas.microsoft.com/office/drawing/2014/main" id="{E4525D10-5F5C-A4D2-E357-6FAE9A03F0FA}"/>
              </a:ext>
            </a:extLst>
          </p:cNvPr>
          <p:cNvSpPr txBox="1"/>
          <p:nvPr/>
        </p:nvSpPr>
        <p:spPr>
          <a:xfrm>
            <a:off x="581025" y="2333625"/>
            <a:ext cx="554069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b="1" i="0" u="none" strike="noStrike" cap="none">
                <a:latin typeface="Urbanist"/>
                <a:ea typeface="Urbanist"/>
                <a:cs typeface="Urbanist"/>
                <a:sym typeface="Urbanist"/>
              </a:rPr>
              <a:t>Goal</a:t>
            </a:r>
            <a:endParaRPr/>
          </a:p>
        </p:txBody>
      </p:sp>
      <p:sp>
        <p:nvSpPr>
          <p:cNvPr id="8" name="Google Shape;96;p14">
            <a:extLst>
              <a:ext uri="{FF2B5EF4-FFF2-40B4-BE49-F238E27FC236}">
                <a16:creationId xmlns:a16="http://schemas.microsoft.com/office/drawing/2014/main" id="{BEE5F841-6C2D-FA6D-2604-C1DE5CEF2DBF}"/>
              </a:ext>
            </a:extLst>
          </p:cNvPr>
          <p:cNvSpPr txBox="1"/>
          <p:nvPr/>
        </p:nvSpPr>
        <p:spPr>
          <a:xfrm>
            <a:off x="581025" y="3733800"/>
            <a:ext cx="554069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b="1" i="0" u="none" strike="noStrike" cap="none">
                <a:latin typeface="Urbanist"/>
                <a:ea typeface="Urbanist"/>
                <a:cs typeface="Urbanist"/>
                <a:sym typeface="Urbanist"/>
              </a:rPr>
              <a:t>Description</a:t>
            </a:r>
            <a:endParaRPr/>
          </a:p>
        </p:txBody>
      </p:sp>
      <p:sp>
        <p:nvSpPr>
          <p:cNvPr id="9" name="Google Shape;97;p14">
            <a:extLst>
              <a:ext uri="{FF2B5EF4-FFF2-40B4-BE49-F238E27FC236}">
                <a16:creationId xmlns:a16="http://schemas.microsoft.com/office/drawing/2014/main" id="{FC2B2741-14FE-17B5-0213-E6E02C4F0026}"/>
              </a:ext>
            </a:extLst>
          </p:cNvPr>
          <p:cNvSpPr txBox="1"/>
          <p:nvPr/>
        </p:nvSpPr>
        <p:spPr>
          <a:xfrm>
            <a:off x="844867" y="4010799"/>
            <a:ext cx="527685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latin typeface="Inter"/>
                <a:ea typeface="Inter"/>
                <a:cs typeface="Inter"/>
                <a:sym typeface="Inter"/>
              </a:rPr>
              <a:t>Create a custom software library to implement the Multi-Ranger Deck sensor within the Isaac Lab simulation environment, ensuring accurate environmental perception for drones.</a:t>
            </a:r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ACF7B62-3B4C-2076-1117-D130D820E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2704" y="5553075"/>
            <a:ext cx="1273491" cy="9541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058AC5F-AD68-2C9F-AB97-41EFDFC7D6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185" y="4776754"/>
            <a:ext cx="3151996" cy="77632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111169-B8C0-E7E0-0354-A465EA6CC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1759" y="2025893"/>
            <a:ext cx="3068422" cy="2748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4470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54;p17" descr="image.png">
            <a:extLst>
              <a:ext uri="{FF2B5EF4-FFF2-40B4-BE49-F238E27FC236}">
                <a16:creationId xmlns:a16="http://schemas.microsoft.com/office/drawing/2014/main" id="{7CF899FE-5A3B-4FDA-0820-30B903D58DB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5400000">
            <a:off x="633412" y="4034474"/>
            <a:ext cx="2419350" cy="254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54;p17" descr="image.png">
            <a:extLst>
              <a:ext uri="{FF2B5EF4-FFF2-40B4-BE49-F238E27FC236}">
                <a16:creationId xmlns:a16="http://schemas.microsoft.com/office/drawing/2014/main" id="{D32AC25A-2DF6-7E10-D739-11E3DF916BF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81022" y="1457324"/>
            <a:ext cx="6456261" cy="1895476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125;p15">
            <a:extLst>
              <a:ext uri="{FF2B5EF4-FFF2-40B4-BE49-F238E27FC236}">
                <a16:creationId xmlns:a16="http://schemas.microsoft.com/office/drawing/2014/main" id="{EFFD8EDC-3EAF-451C-E73B-718FBDF0CCC3}"/>
              </a:ext>
            </a:extLst>
          </p:cNvPr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latin typeface="Urbanist"/>
                <a:ea typeface="Urbanist"/>
                <a:cs typeface="Urbanist"/>
                <a:sym typeface="Urbanist"/>
              </a:rPr>
              <a:t>How it works: </a:t>
            </a:r>
            <a:r>
              <a:rPr lang="en-US" sz="3750" b="1" i="0" u="none" strike="noStrike" cap="none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Multi-Ranger Deck</a:t>
            </a:r>
            <a:endParaRPr/>
          </a:p>
        </p:txBody>
      </p:sp>
      <p:sp>
        <p:nvSpPr>
          <p:cNvPr id="22" name="Google Shape;126;p15">
            <a:extLst>
              <a:ext uri="{FF2B5EF4-FFF2-40B4-BE49-F238E27FC236}">
                <a16:creationId xmlns:a16="http://schemas.microsoft.com/office/drawing/2014/main" id="{8598F3B3-AF25-AB68-4E53-B90B3938E203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111;p15">
            <a:extLst>
              <a:ext uri="{FF2B5EF4-FFF2-40B4-BE49-F238E27FC236}">
                <a16:creationId xmlns:a16="http://schemas.microsoft.com/office/drawing/2014/main" id="{198E7CB0-1864-0A11-AD40-43F41FFB0E92}"/>
              </a:ext>
            </a:extLst>
          </p:cNvPr>
          <p:cNvSpPr txBox="1"/>
          <p:nvPr/>
        </p:nvSpPr>
        <p:spPr>
          <a:xfrm>
            <a:off x="747710" y="1666398"/>
            <a:ext cx="659744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1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"The </a:t>
            </a:r>
            <a:r>
              <a:rPr lang="en-US" sz="1600" b="0" i="1" u="none" strike="noStrike" cap="none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Crazyflie</a:t>
            </a:r>
            <a:r>
              <a:rPr lang="en-US" sz="1600" b="0" i="1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Multi-ranger deck gives the </a:t>
            </a:r>
            <a:r>
              <a:rPr lang="en-US" sz="1600" b="0" i="1" u="none" strike="noStrike" cap="none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Crazyflie</a:t>
            </a:r>
            <a:r>
              <a:rPr lang="en-US" sz="1600" b="0" i="1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2.X the ability to detect objects around it. This is done by measuring the distance to objects in the following </a:t>
            </a:r>
            <a:r>
              <a:rPr lang="en-US" sz="1600" b="1" i="1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5 directions: front/back/left/right/up</a:t>
            </a:r>
            <a:r>
              <a:rPr lang="en-US" sz="1600" b="0" i="1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with mm precision up to 4 meters." </a:t>
            </a: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[1]</a:t>
            </a:r>
            <a:endParaRPr lang="en-US" sz="1200"/>
          </a:p>
        </p:txBody>
      </p:sp>
      <p:pic>
        <p:nvPicPr>
          <p:cNvPr id="3" name="Google Shape;113;p15" descr="image.png">
            <a:extLst>
              <a:ext uri="{FF2B5EF4-FFF2-40B4-BE49-F238E27FC236}">
                <a16:creationId xmlns:a16="http://schemas.microsoft.com/office/drawing/2014/main" id="{B96EFDAB-A1FA-9CA9-0ECB-D2661DA0BC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81164" y="4420236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114;p15">
            <a:extLst>
              <a:ext uri="{FF2B5EF4-FFF2-40B4-BE49-F238E27FC236}">
                <a16:creationId xmlns:a16="http://schemas.microsoft.com/office/drawing/2014/main" id="{3F3CA39E-CB0B-2543-F364-7EC4872C707E}"/>
              </a:ext>
            </a:extLst>
          </p:cNvPr>
          <p:cNvSpPr txBox="1"/>
          <p:nvPr/>
        </p:nvSpPr>
        <p:spPr>
          <a:xfrm>
            <a:off x="827486" y="4953636"/>
            <a:ext cx="2050256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latin typeface="Urbanist"/>
                <a:ea typeface="Urbanist"/>
                <a:cs typeface="Urbanist"/>
                <a:sym typeface="Urbanist"/>
              </a:rPr>
              <a:t>5 Axes</a:t>
            </a:r>
            <a:endParaRPr/>
          </a:p>
        </p:txBody>
      </p:sp>
      <p:sp>
        <p:nvSpPr>
          <p:cNvPr id="25" name="Google Shape;115;p15">
            <a:extLst>
              <a:ext uri="{FF2B5EF4-FFF2-40B4-BE49-F238E27FC236}">
                <a16:creationId xmlns:a16="http://schemas.microsoft.com/office/drawing/2014/main" id="{B1B28273-783F-CFF0-6C48-113BDA0C0671}"/>
              </a:ext>
            </a:extLst>
          </p:cNvPr>
          <p:cNvSpPr txBox="1"/>
          <p:nvPr/>
        </p:nvSpPr>
        <p:spPr>
          <a:xfrm>
            <a:off x="876302" y="5420361"/>
            <a:ext cx="19526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latin typeface="Inter"/>
                <a:ea typeface="Inter"/>
                <a:cs typeface="Inter"/>
                <a:sym typeface="Inter"/>
              </a:rPr>
              <a:t>Omnidirectional sensing</a:t>
            </a:r>
            <a:endParaRPr/>
          </a:p>
        </p:txBody>
      </p:sp>
      <p:pic>
        <p:nvPicPr>
          <p:cNvPr id="26" name="Google Shape;154;p17" descr="image.png">
            <a:extLst>
              <a:ext uri="{FF2B5EF4-FFF2-40B4-BE49-F238E27FC236}">
                <a16:creationId xmlns:a16="http://schemas.microsoft.com/office/drawing/2014/main" id="{1E0C64BA-8DD9-C676-A1D3-F05D6F3814C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5400000">
            <a:off x="3471865" y="4034474"/>
            <a:ext cx="2419350" cy="254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116;p15" descr="image.png">
            <a:extLst>
              <a:ext uri="{FF2B5EF4-FFF2-40B4-BE49-F238E27FC236}">
                <a16:creationId xmlns:a16="http://schemas.microsoft.com/office/drawing/2014/main" id="{2C70CB6D-2A3E-F55D-3ABC-91268C5CFA6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10089" y="4420236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117;p15">
            <a:extLst>
              <a:ext uri="{FF2B5EF4-FFF2-40B4-BE49-F238E27FC236}">
                <a16:creationId xmlns:a16="http://schemas.microsoft.com/office/drawing/2014/main" id="{2B182386-2392-58FF-0769-332C35F1BDAD}"/>
              </a:ext>
            </a:extLst>
          </p:cNvPr>
          <p:cNvSpPr txBox="1"/>
          <p:nvPr/>
        </p:nvSpPr>
        <p:spPr>
          <a:xfrm>
            <a:off x="3656411" y="4953636"/>
            <a:ext cx="2050256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latin typeface="Urbanist"/>
                <a:ea typeface="Urbanist"/>
                <a:cs typeface="Urbanist"/>
                <a:sym typeface="Urbanist"/>
              </a:rPr>
              <a:t>4 Meters</a:t>
            </a:r>
            <a:endParaRPr/>
          </a:p>
        </p:txBody>
      </p:sp>
      <p:sp>
        <p:nvSpPr>
          <p:cNvPr id="29" name="Google Shape;118;p15">
            <a:extLst>
              <a:ext uri="{FF2B5EF4-FFF2-40B4-BE49-F238E27FC236}">
                <a16:creationId xmlns:a16="http://schemas.microsoft.com/office/drawing/2014/main" id="{459B74BB-6B4D-E1FB-0561-3DE9B6A0A333}"/>
              </a:ext>
            </a:extLst>
          </p:cNvPr>
          <p:cNvSpPr txBox="1"/>
          <p:nvPr/>
        </p:nvSpPr>
        <p:spPr>
          <a:xfrm>
            <a:off x="3705227" y="5420361"/>
            <a:ext cx="195262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latin typeface="Inter"/>
                <a:ea typeface="Inter"/>
                <a:cs typeface="Inter"/>
                <a:sym typeface="Inter"/>
              </a:rPr>
              <a:t>Maximum range</a:t>
            </a:r>
            <a:endParaRPr/>
          </a:p>
        </p:txBody>
      </p:sp>
      <p:pic>
        <p:nvPicPr>
          <p:cNvPr id="30" name="Google Shape;154;p17" descr="image.png">
            <a:extLst>
              <a:ext uri="{FF2B5EF4-FFF2-40B4-BE49-F238E27FC236}">
                <a16:creationId xmlns:a16="http://schemas.microsoft.com/office/drawing/2014/main" id="{1123C9C8-4147-7738-7EC7-536691296EC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5400000">
            <a:off x="6310315" y="4034474"/>
            <a:ext cx="2419350" cy="254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54;p17" descr="image.png">
            <a:extLst>
              <a:ext uri="{FF2B5EF4-FFF2-40B4-BE49-F238E27FC236}">
                <a16:creationId xmlns:a16="http://schemas.microsoft.com/office/drawing/2014/main" id="{D18418F6-4BC0-6312-E29F-0D910F1EB45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5400000">
            <a:off x="9129716" y="4034474"/>
            <a:ext cx="2419350" cy="254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119;p15" descr="image.png">
            <a:extLst>
              <a:ext uri="{FF2B5EF4-FFF2-40B4-BE49-F238E27FC236}">
                <a16:creationId xmlns:a16="http://schemas.microsoft.com/office/drawing/2014/main" id="{88293E70-D54A-BBEB-1864-7DA57E4A932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39014" y="4420236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120;p15">
            <a:extLst>
              <a:ext uri="{FF2B5EF4-FFF2-40B4-BE49-F238E27FC236}">
                <a16:creationId xmlns:a16="http://schemas.microsoft.com/office/drawing/2014/main" id="{5251F28B-4D28-E76B-3A37-5C2A49124551}"/>
              </a:ext>
            </a:extLst>
          </p:cNvPr>
          <p:cNvSpPr txBox="1"/>
          <p:nvPr/>
        </p:nvSpPr>
        <p:spPr>
          <a:xfrm>
            <a:off x="6485336" y="4953636"/>
            <a:ext cx="2050256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latin typeface="Urbanist"/>
                <a:ea typeface="Urbanist"/>
                <a:cs typeface="Urbanist"/>
                <a:sym typeface="Urbanist"/>
              </a:rPr>
              <a:t>mm Precision</a:t>
            </a:r>
            <a:endParaRPr/>
          </a:p>
        </p:txBody>
      </p:sp>
      <p:sp>
        <p:nvSpPr>
          <p:cNvPr id="34" name="Google Shape;121;p15">
            <a:extLst>
              <a:ext uri="{FF2B5EF4-FFF2-40B4-BE49-F238E27FC236}">
                <a16:creationId xmlns:a16="http://schemas.microsoft.com/office/drawing/2014/main" id="{544EFB03-54FC-1C0D-92E0-D3F9E6D11613}"/>
              </a:ext>
            </a:extLst>
          </p:cNvPr>
          <p:cNvSpPr txBox="1"/>
          <p:nvPr/>
        </p:nvSpPr>
        <p:spPr>
          <a:xfrm>
            <a:off x="6534152" y="5420361"/>
            <a:ext cx="195262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latin typeface="Inter"/>
                <a:ea typeface="Inter"/>
                <a:cs typeface="Inter"/>
                <a:sym typeface="Inter"/>
              </a:rPr>
              <a:t>High accuracy</a:t>
            </a:r>
            <a:endParaRPr/>
          </a:p>
        </p:txBody>
      </p:sp>
      <p:pic>
        <p:nvPicPr>
          <p:cNvPr id="35" name="Google Shape;122;p15" descr="image.png">
            <a:extLst>
              <a:ext uri="{FF2B5EF4-FFF2-40B4-BE49-F238E27FC236}">
                <a16:creationId xmlns:a16="http://schemas.microsoft.com/office/drawing/2014/main" id="{13D78DA8-16E5-F45D-9B3C-27B0734D45C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167939" y="4420236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123;p15">
            <a:extLst>
              <a:ext uri="{FF2B5EF4-FFF2-40B4-BE49-F238E27FC236}">
                <a16:creationId xmlns:a16="http://schemas.microsoft.com/office/drawing/2014/main" id="{4D5CF041-0DBD-2DC1-F19B-6204551730B0}"/>
              </a:ext>
            </a:extLst>
          </p:cNvPr>
          <p:cNvSpPr txBox="1"/>
          <p:nvPr/>
        </p:nvSpPr>
        <p:spPr>
          <a:xfrm>
            <a:off x="9314261" y="4953636"/>
            <a:ext cx="2050256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latin typeface="Urbanist"/>
                <a:ea typeface="Urbanist"/>
                <a:cs typeface="Urbanist"/>
                <a:sym typeface="Urbanist"/>
              </a:rPr>
              <a:t>VL53L1x</a:t>
            </a:r>
            <a:endParaRPr/>
          </a:p>
        </p:txBody>
      </p:sp>
      <p:sp>
        <p:nvSpPr>
          <p:cNvPr id="37" name="Google Shape;124;p15">
            <a:extLst>
              <a:ext uri="{FF2B5EF4-FFF2-40B4-BE49-F238E27FC236}">
                <a16:creationId xmlns:a16="http://schemas.microsoft.com/office/drawing/2014/main" id="{9DFC8F46-1120-49A2-78DF-4D0BD09A5E6C}"/>
              </a:ext>
            </a:extLst>
          </p:cNvPr>
          <p:cNvSpPr txBox="1"/>
          <p:nvPr/>
        </p:nvSpPr>
        <p:spPr>
          <a:xfrm>
            <a:off x="9363077" y="5420361"/>
            <a:ext cx="195262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latin typeface="Inter"/>
                <a:ea typeface="Inter"/>
                <a:cs typeface="Inter"/>
                <a:sym typeface="Inter"/>
              </a:rPr>
              <a:t>5x ToF Sensors</a:t>
            </a:r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A2E89D-410D-008B-8099-D03CDA630A1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0670" y="1407464"/>
            <a:ext cx="3050956" cy="2138071"/>
          </a:xfrm>
          <a:prstGeom prst="rect">
            <a:avLst/>
          </a:prstGeom>
        </p:spPr>
      </p:pic>
      <p:sp>
        <p:nvSpPr>
          <p:cNvPr id="4" name="Google Shape;115;p15">
            <a:extLst>
              <a:ext uri="{FF2B5EF4-FFF2-40B4-BE49-F238E27FC236}">
                <a16:creationId xmlns:a16="http://schemas.microsoft.com/office/drawing/2014/main" id="{4F3E696F-2C11-BE1F-5B72-F06CD4F244B0}"/>
              </a:ext>
            </a:extLst>
          </p:cNvPr>
          <p:cNvSpPr txBox="1"/>
          <p:nvPr/>
        </p:nvSpPr>
        <p:spPr>
          <a:xfrm>
            <a:off x="571499" y="3644464"/>
            <a:ext cx="1877061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b="1">
                <a:latin typeface="Inter"/>
              </a:rPr>
              <a:t>Data Sheet Sensor:</a:t>
            </a:r>
            <a:endParaRPr b="1"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315290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2BC0BA64-72B1-503F-3B8A-06833A9B71FE}"/>
              </a:ext>
            </a:extLst>
          </p:cNvPr>
          <p:cNvGrpSpPr/>
          <p:nvPr/>
        </p:nvGrpSpPr>
        <p:grpSpPr>
          <a:xfrm>
            <a:off x="581026" y="1784809"/>
            <a:ext cx="5514975" cy="3859676"/>
            <a:chOff x="570578" y="2327855"/>
            <a:chExt cx="5287297" cy="3521173"/>
          </a:xfrm>
        </p:grpSpPr>
        <p:sp>
          <p:nvSpPr>
            <p:cNvPr id="4" name="Google Shape;134;p16">
              <a:extLst>
                <a:ext uri="{FF2B5EF4-FFF2-40B4-BE49-F238E27FC236}">
                  <a16:creationId xmlns:a16="http://schemas.microsoft.com/office/drawing/2014/main" id="{05961461-3D57-7EE1-B11F-48DF6908C76E}"/>
                </a:ext>
              </a:extLst>
            </p:cNvPr>
            <p:cNvSpPr txBox="1"/>
            <p:nvPr/>
          </p:nvSpPr>
          <p:spPr>
            <a:xfrm>
              <a:off x="866774" y="2327855"/>
              <a:ext cx="4991099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i="0" u="none" strike="noStrike" cap="none">
                  <a:latin typeface="Inter"/>
                  <a:ea typeface="Inter"/>
                  <a:cs typeface="Inter"/>
                  <a:sym typeface="Inter"/>
                </a:rPr>
                <a:t>Mechanical:</a:t>
              </a:r>
              <a:r>
                <a:rPr lang="en-US" sz="1600" b="0" i="0" u="none" strike="noStrike" cap="none">
                  <a:latin typeface="Inter"/>
                  <a:ea typeface="Inter"/>
                  <a:cs typeface="Inter"/>
                  <a:sym typeface="Inter"/>
                </a:rPr>
                <a:t> Weight: 2.3g | Size (WxHxD): 35x35x5mm.</a:t>
              </a:r>
              <a:endParaRPr sz="2000"/>
            </a:p>
          </p:txBody>
        </p:sp>
        <p:sp>
          <p:nvSpPr>
            <p:cNvPr id="6" name="Google Shape;136;p16">
              <a:extLst>
                <a:ext uri="{FF2B5EF4-FFF2-40B4-BE49-F238E27FC236}">
                  <a16:creationId xmlns:a16="http://schemas.microsoft.com/office/drawing/2014/main" id="{DA585819-9B22-7FD3-7BDC-C9EA71F86A2F}"/>
                </a:ext>
              </a:extLst>
            </p:cNvPr>
            <p:cNvSpPr txBox="1"/>
            <p:nvPr/>
          </p:nvSpPr>
          <p:spPr>
            <a:xfrm>
              <a:off x="866775" y="2967037"/>
              <a:ext cx="4991100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i="0" u="none" strike="noStrike" cap="none">
                  <a:latin typeface="Inter"/>
                  <a:ea typeface="Inter"/>
                  <a:cs typeface="Inter"/>
                  <a:sym typeface="Inter"/>
                </a:rPr>
                <a:t>Emitter:</a:t>
              </a:r>
              <a:r>
                <a:rPr lang="en-US" sz="1600" b="0" i="0" u="none" strike="noStrike" cap="none">
                  <a:latin typeface="Inter"/>
                  <a:ea typeface="Inter"/>
                  <a:cs typeface="Inter"/>
                  <a:sym typeface="Inter"/>
                </a:rPr>
                <a:t> 940 nm invisible laser emitter (Class 1).</a:t>
              </a:r>
              <a:endParaRPr sz="2000"/>
            </a:p>
          </p:txBody>
        </p:sp>
        <p:sp>
          <p:nvSpPr>
            <p:cNvPr id="7" name="Google Shape;137;p16">
              <a:extLst>
                <a:ext uri="{FF2B5EF4-FFF2-40B4-BE49-F238E27FC236}">
                  <a16:creationId xmlns:a16="http://schemas.microsoft.com/office/drawing/2014/main" id="{8C99DE00-4F36-AE3E-BEC4-87373B77AB2F}"/>
                </a:ext>
              </a:extLst>
            </p:cNvPr>
            <p:cNvSpPr txBox="1"/>
            <p:nvPr/>
          </p:nvSpPr>
          <p:spPr>
            <a:xfrm>
              <a:off x="866773" y="3543941"/>
              <a:ext cx="4991100" cy="7879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i="0" u="none" strike="noStrike" cap="none">
                  <a:latin typeface="Inter"/>
                  <a:ea typeface="Inter"/>
                  <a:cs typeface="Inter"/>
                  <a:sym typeface="Inter"/>
                </a:rPr>
                <a:t>Receiver:</a:t>
              </a:r>
              <a:r>
                <a:rPr lang="en-US" sz="1600" b="0" i="0" u="none" strike="noStrike" cap="none">
                  <a:latin typeface="Inter"/>
                  <a:ea typeface="Inter"/>
                  <a:cs typeface="Inter"/>
                  <a:sym typeface="Inter"/>
                </a:rPr>
                <a:t> SPAD (single photon avalanche diode) receiving array with integrated lens.</a:t>
              </a:r>
              <a:endParaRPr sz="2000"/>
            </a:p>
          </p:txBody>
        </p:sp>
        <p:sp>
          <p:nvSpPr>
            <p:cNvPr id="8" name="Google Shape;138;p16">
              <a:extLst>
                <a:ext uri="{FF2B5EF4-FFF2-40B4-BE49-F238E27FC236}">
                  <a16:creationId xmlns:a16="http://schemas.microsoft.com/office/drawing/2014/main" id="{7D1F51FA-35ED-F544-7CF4-40CB9E8E6550}"/>
                </a:ext>
              </a:extLst>
            </p:cNvPr>
            <p:cNvSpPr txBox="1"/>
            <p:nvPr/>
          </p:nvSpPr>
          <p:spPr>
            <a:xfrm>
              <a:off x="866773" y="4427741"/>
              <a:ext cx="4991100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i="0" u="none" strike="noStrike" cap="none">
                  <a:latin typeface="Inter"/>
                  <a:ea typeface="Inter"/>
                  <a:cs typeface="Inter"/>
                  <a:sym typeface="Inter"/>
                </a:rPr>
                <a:t>Field of View:</a:t>
              </a:r>
              <a:r>
                <a:rPr lang="en-US" sz="1600" b="0" i="0" u="none" strike="noStrike" cap="none">
                  <a:latin typeface="Inter"/>
                  <a:ea typeface="Inter"/>
                  <a:cs typeface="Inter"/>
                  <a:sym typeface="Inter"/>
                </a:rPr>
                <a:t> 27° typical full field of view (FoV).</a:t>
              </a:r>
              <a:endParaRPr sz="2000"/>
            </a:p>
          </p:txBody>
        </p:sp>
        <p:sp>
          <p:nvSpPr>
            <p:cNvPr id="9" name="Google Shape;139;p16">
              <a:extLst>
                <a:ext uri="{FF2B5EF4-FFF2-40B4-BE49-F238E27FC236}">
                  <a16:creationId xmlns:a16="http://schemas.microsoft.com/office/drawing/2014/main" id="{0BB44CE0-6F29-32F0-A304-54DF78C5057F}"/>
                </a:ext>
              </a:extLst>
            </p:cNvPr>
            <p:cNvSpPr txBox="1"/>
            <p:nvPr/>
          </p:nvSpPr>
          <p:spPr>
            <a:xfrm>
              <a:off x="866773" y="5130221"/>
              <a:ext cx="4991100" cy="7188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i="0" u="none" strike="noStrike" cap="none">
                  <a:latin typeface="Inter"/>
                  <a:ea typeface="Inter"/>
                  <a:cs typeface="Inter"/>
                  <a:sym typeface="Inter"/>
                </a:rPr>
                <a:t>ROI:</a:t>
              </a:r>
              <a:r>
                <a:rPr lang="en-US" sz="1600" b="0" i="0" u="none" strike="noStrike" cap="none">
                  <a:latin typeface="Inter"/>
                  <a:ea typeface="Inter"/>
                  <a:cs typeface="Inter"/>
                  <a:sym typeface="Inter"/>
                </a:rPr>
                <a:t> Programmable region of interest allows reduction of the sensor </a:t>
              </a:r>
              <a:r>
                <a:rPr lang="en-US" sz="1600" b="0" i="0" u="none" strike="noStrike" cap="none" err="1">
                  <a:latin typeface="Inter"/>
                  <a:ea typeface="Inter"/>
                  <a:cs typeface="Inter"/>
                  <a:sym typeface="Inter"/>
                </a:rPr>
                <a:t>FoV</a:t>
              </a:r>
              <a:r>
                <a:rPr lang="en-US" sz="1600" b="0" i="0" u="none" strike="noStrike" cap="none">
                  <a:latin typeface="Inter"/>
                  <a:ea typeface="Inter"/>
                  <a:cs typeface="Inter"/>
                  <a:sym typeface="Inter"/>
                </a:rPr>
                <a:t>. </a:t>
              </a:r>
              <a:r>
                <a:rPr lang="en-US" sz="1200" b="0" i="0" u="none" strike="noStrike" cap="none">
                  <a:latin typeface="Inter"/>
                  <a:ea typeface="Inter"/>
                  <a:cs typeface="Inter"/>
                  <a:sym typeface="Inter"/>
                </a:rPr>
                <a:t>[2][3]</a:t>
              </a:r>
              <a:endParaRPr sz="2000"/>
            </a:p>
          </p:txBody>
        </p:sp>
        <p:sp>
          <p:nvSpPr>
            <p:cNvPr id="10" name="Google Shape;140;p16">
              <a:extLst>
                <a:ext uri="{FF2B5EF4-FFF2-40B4-BE49-F238E27FC236}">
                  <a16:creationId xmlns:a16="http://schemas.microsoft.com/office/drawing/2014/main" id="{22A36C14-7E1F-4F40-43AB-CE3497F41E91}"/>
                </a:ext>
              </a:extLst>
            </p:cNvPr>
            <p:cNvSpPr txBox="1"/>
            <p:nvPr/>
          </p:nvSpPr>
          <p:spPr>
            <a:xfrm>
              <a:off x="570578" y="2348204"/>
              <a:ext cx="95250" cy="3594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lnSpc>
                  <a:spcPct val="160000"/>
                </a:lnSpc>
              </a:pPr>
              <a:r>
                <a:rPr lang="en-US" sz="1600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/>
            </a:p>
          </p:txBody>
        </p:sp>
        <p:sp>
          <p:nvSpPr>
            <p:cNvPr id="11" name="Google Shape;141;p16">
              <a:extLst>
                <a:ext uri="{FF2B5EF4-FFF2-40B4-BE49-F238E27FC236}">
                  <a16:creationId xmlns:a16="http://schemas.microsoft.com/office/drawing/2014/main" id="{3CDA3F14-3160-282B-0312-FCE6243312C9}"/>
                </a:ext>
              </a:extLst>
            </p:cNvPr>
            <p:cNvSpPr txBox="1"/>
            <p:nvPr/>
          </p:nvSpPr>
          <p:spPr>
            <a:xfrm>
              <a:off x="581025" y="2967037"/>
              <a:ext cx="95250" cy="4431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42;p16">
              <a:extLst>
                <a:ext uri="{FF2B5EF4-FFF2-40B4-BE49-F238E27FC236}">
                  <a16:creationId xmlns:a16="http://schemas.microsoft.com/office/drawing/2014/main" id="{0A9A0C28-E3A0-AE6A-7CC4-DBBB418F45D5}"/>
                </a:ext>
              </a:extLst>
            </p:cNvPr>
            <p:cNvSpPr txBox="1"/>
            <p:nvPr/>
          </p:nvSpPr>
          <p:spPr>
            <a:xfrm>
              <a:off x="581025" y="2967037"/>
              <a:ext cx="95250" cy="3594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lnSpc>
                  <a:spcPct val="160000"/>
                </a:lnSpc>
              </a:pPr>
              <a:r>
                <a:rPr lang="en-US" sz="1600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/>
            </a:p>
          </p:txBody>
        </p:sp>
        <p:sp>
          <p:nvSpPr>
            <p:cNvPr id="13" name="Google Shape;143;p16">
              <a:extLst>
                <a:ext uri="{FF2B5EF4-FFF2-40B4-BE49-F238E27FC236}">
                  <a16:creationId xmlns:a16="http://schemas.microsoft.com/office/drawing/2014/main" id="{973951ED-013E-C6C3-9FFF-FAABF06EC4AD}"/>
                </a:ext>
              </a:extLst>
            </p:cNvPr>
            <p:cNvSpPr txBox="1"/>
            <p:nvPr/>
          </p:nvSpPr>
          <p:spPr>
            <a:xfrm>
              <a:off x="581025" y="3595281"/>
              <a:ext cx="95250" cy="3594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lnSpc>
                  <a:spcPct val="160000"/>
                </a:lnSpc>
              </a:pPr>
              <a:r>
                <a:rPr lang="en-US" sz="1600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/>
            </a:p>
          </p:txBody>
        </p:sp>
        <p:sp>
          <p:nvSpPr>
            <p:cNvPr id="14" name="Google Shape;144;p16">
              <a:extLst>
                <a:ext uri="{FF2B5EF4-FFF2-40B4-BE49-F238E27FC236}">
                  <a16:creationId xmlns:a16="http://schemas.microsoft.com/office/drawing/2014/main" id="{047EEF80-F411-A79C-F55B-7E2E58EF17A3}"/>
                </a:ext>
              </a:extLst>
            </p:cNvPr>
            <p:cNvSpPr txBox="1"/>
            <p:nvPr/>
          </p:nvSpPr>
          <p:spPr>
            <a:xfrm>
              <a:off x="581025" y="4472318"/>
              <a:ext cx="95250" cy="3594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lnSpc>
                  <a:spcPct val="160000"/>
                </a:lnSpc>
              </a:pPr>
              <a:r>
                <a:rPr lang="en-US" sz="1600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/>
            </a:p>
          </p:txBody>
        </p:sp>
        <p:sp>
          <p:nvSpPr>
            <p:cNvPr id="15" name="Google Shape;145;p16">
              <a:extLst>
                <a:ext uri="{FF2B5EF4-FFF2-40B4-BE49-F238E27FC236}">
                  <a16:creationId xmlns:a16="http://schemas.microsoft.com/office/drawing/2014/main" id="{30984070-3870-DA6D-3942-E351FB7B5997}"/>
                </a:ext>
              </a:extLst>
            </p:cNvPr>
            <p:cNvSpPr txBox="1"/>
            <p:nvPr/>
          </p:nvSpPr>
          <p:spPr>
            <a:xfrm>
              <a:off x="581025" y="5130221"/>
              <a:ext cx="95250" cy="3594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lnSpc>
                  <a:spcPct val="160000"/>
                </a:lnSpc>
              </a:pPr>
              <a:r>
                <a:rPr lang="en-US" sz="1600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/>
            </a:p>
          </p:txBody>
        </p:sp>
      </p:grpSp>
      <p:sp>
        <p:nvSpPr>
          <p:cNvPr id="16" name="Google Shape;146;p16">
            <a:extLst>
              <a:ext uri="{FF2B5EF4-FFF2-40B4-BE49-F238E27FC236}">
                <a16:creationId xmlns:a16="http://schemas.microsoft.com/office/drawing/2014/main" id="{CEF356F5-9DA1-CD30-00E4-F9CF8CC322F2}"/>
              </a:ext>
            </a:extLst>
          </p:cNvPr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latin typeface="Urbanist"/>
                <a:ea typeface="Urbanist"/>
                <a:cs typeface="Urbanist"/>
                <a:sym typeface="Urbanist"/>
              </a:rPr>
              <a:t>Sensor</a:t>
            </a:r>
            <a:r>
              <a:rPr lang="en-US" sz="375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3750" b="1" i="0" u="none" strike="noStrike" cap="none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Specifications</a:t>
            </a:r>
            <a:endParaRPr/>
          </a:p>
        </p:txBody>
      </p:sp>
      <p:sp>
        <p:nvSpPr>
          <p:cNvPr id="17" name="Google Shape;147;p16">
            <a:extLst>
              <a:ext uri="{FF2B5EF4-FFF2-40B4-BE49-F238E27FC236}">
                <a16:creationId xmlns:a16="http://schemas.microsoft.com/office/drawing/2014/main" id="{49037CF4-7854-B7DF-50F7-B8AE4C75EB61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DCCE00-88AE-82CC-8730-F6FA3FE412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322" y="1584892"/>
            <a:ext cx="3366928" cy="2544047"/>
          </a:xfrm>
          <a:prstGeom prst="rect">
            <a:avLst/>
          </a:prstGeom>
        </p:spPr>
      </p:pic>
      <p:pic>
        <p:nvPicPr>
          <p:cNvPr id="3" name="Immagine 3">
            <a:extLst>
              <a:ext uri="{FF2B5EF4-FFF2-40B4-BE49-F238E27FC236}">
                <a16:creationId xmlns:a16="http://schemas.microsoft.com/office/drawing/2014/main" id="{EC9ECDDA-5B92-DD3A-0E7C-AD89F43954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5494" y="4111499"/>
            <a:ext cx="5004583" cy="2192868"/>
          </a:xfrm>
          <a:prstGeom prst="rect">
            <a:avLst/>
          </a:prstGeom>
        </p:spPr>
      </p:pic>
      <p:sp>
        <p:nvSpPr>
          <p:cNvPr id="18" name="CasellaDiTesto 9">
            <a:extLst>
              <a:ext uri="{FF2B5EF4-FFF2-40B4-BE49-F238E27FC236}">
                <a16:creationId xmlns:a16="http://schemas.microsoft.com/office/drawing/2014/main" id="{36592CCB-7784-41B4-29DC-70F091DABBE2}"/>
              </a:ext>
            </a:extLst>
          </p:cNvPr>
          <p:cNvSpPr txBox="1"/>
          <p:nvPr/>
        </p:nvSpPr>
        <p:spPr>
          <a:xfrm>
            <a:off x="7181374" y="6243660"/>
            <a:ext cx="3552825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Figure: 27° field of view (</a:t>
            </a:r>
            <a:r>
              <a:rPr lang="en-US" sz="1200" err="1">
                <a:solidFill>
                  <a:schemeClr val="tx1">
                    <a:lumMod val="95000"/>
                    <a:lumOff val="5000"/>
                  </a:schemeClr>
                </a:solidFill>
              </a:rPr>
              <a:t>FoV</a:t>
            </a:r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) down to 15 </a:t>
            </a:r>
            <a:r>
              <a:rPr lang="en-US" sz="1000"/>
              <a:t>[3]</a:t>
            </a:r>
            <a:endParaRPr lang="it-IT" sz="1100"/>
          </a:p>
        </p:txBody>
      </p:sp>
    </p:spTree>
    <p:extLst>
      <p:ext uri="{BB962C8B-B14F-4D97-AF65-F5344CB8AC3E}">
        <p14:creationId xmlns:p14="http://schemas.microsoft.com/office/powerpoint/2010/main" val="3326062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56;p17">
            <a:extLst>
              <a:ext uri="{FF2B5EF4-FFF2-40B4-BE49-F238E27FC236}">
                <a16:creationId xmlns:a16="http://schemas.microsoft.com/office/drawing/2014/main" id="{9D37833E-2B68-7AB8-AFB3-90D3475E3F4E}"/>
              </a:ext>
            </a:extLst>
          </p:cNvPr>
          <p:cNvSpPr txBox="1"/>
          <p:nvPr/>
        </p:nvSpPr>
        <p:spPr>
          <a:xfrm>
            <a:off x="6627034" y="1900369"/>
            <a:ext cx="167687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latin typeface="Urbanist"/>
                <a:ea typeface="Urbanist"/>
                <a:cs typeface="Urbanist"/>
                <a:sym typeface="Urbanist"/>
              </a:rPr>
              <a:t>Basic Principle</a:t>
            </a:r>
            <a:endParaRPr sz="2400"/>
          </a:p>
        </p:txBody>
      </p:sp>
      <p:sp>
        <p:nvSpPr>
          <p:cNvPr id="8" name="Google Shape;161;p17">
            <a:extLst>
              <a:ext uri="{FF2B5EF4-FFF2-40B4-BE49-F238E27FC236}">
                <a16:creationId xmlns:a16="http://schemas.microsoft.com/office/drawing/2014/main" id="{D93B50F2-EA06-3084-61BC-CA28293BE3A9}"/>
              </a:ext>
            </a:extLst>
          </p:cNvPr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750" b="1" i="0" u="none" strike="noStrike" cap="none">
                <a:latin typeface="Urbanist"/>
                <a:ea typeface="Urbanist"/>
                <a:cs typeface="Urbanist"/>
                <a:sym typeface="Urbanist"/>
              </a:rPr>
              <a:t>Time of Flight – </a:t>
            </a:r>
            <a:r>
              <a:rPr lang="en-US" sz="3750" b="1" i="0" u="none" strike="noStrike" cap="none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FlightSense</a:t>
            </a:r>
            <a:r>
              <a:rPr lang="en-US" sz="3750" b="1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TM </a:t>
            </a:r>
            <a:r>
              <a:rPr lang="en-US" sz="3750" b="1" i="0" u="none" strike="noStrike" cap="none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Principle</a:t>
            </a:r>
            <a:endParaRPr/>
          </a:p>
        </p:txBody>
      </p:sp>
      <p:sp>
        <p:nvSpPr>
          <p:cNvPr id="9" name="Google Shape;162;p17">
            <a:extLst>
              <a:ext uri="{FF2B5EF4-FFF2-40B4-BE49-F238E27FC236}">
                <a16:creationId xmlns:a16="http://schemas.microsoft.com/office/drawing/2014/main" id="{07379B5D-CF92-7391-72A9-6118BD6960E5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ABAD8B2-B5FF-E8B9-CFC2-791F956617CD}"/>
              </a:ext>
            </a:extLst>
          </p:cNvPr>
          <p:cNvGrpSpPr/>
          <p:nvPr/>
        </p:nvGrpSpPr>
        <p:grpSpPr>
          <a:xfrm>
            <a:off x="1541802" y="1447800"/>
            <a:ext cx="3505200" cy="2574507"/>
            <a:chOff x="1295731" y="1833965"/>
            <a:chExt cx="3070800" cy="2491925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189C3C4-815C-4F24-AF46-D21715D726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484" t="14324" r="1361" b="1993"/>
            <a:stretch>
              <a:fillRect/>
            </a:stretch>
          </p:blipFill>
          <p:spPr>
            <a:xfrm>
              <a:off x="1370313" y="2207240"/>
              <a:ext cx="2921636" cy="2118650"/>
            </a:xfrm>
            <a:prstGeom prst="rect">
              <a:avLst/>
            </a:prstGeom>
          </p:spPr>
        </p:pic>
        <p:sp>
          <p:nvSpPr>
            <p:cNvPr id="10" name="Google Shape;110;p15">
              <a:extLst>
                <a:ext uri="{FF2B5EF4-FFF2-40B4-BE49-F238E27FC236}">
                  <a16:creationId xmlns:a16="http://schemas.microsoft.com/office/drawing/2014/main" id="{C18B0217-C254-1AAE-25B7-121175A7673E}"/>
                </a:ext>
              </a:extLst>
            </p:cNvPr>
            <p:cNvSpPr/>
            <p:nvPr/>
          </p:nvSpPr>
          <p:spPr>
            <a:xfrm>
              <a:off x="1295731" y="1833965"/>
              <a:ext cx="3070800" cy="460800"/>
            </a:xfrm>
            <a:prstGeom prst="rect">
              <a:avLst/>
            </a:prstGeom>
            <a:solidFill>
              <a:srgbClr val="76B900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F6FF74D-887A-402D-99F9-D6AA89D0A995}"/>
                </a:ext>
              </a:extLst>
            </p:cNvPr>
            <p:cNvSpPr txBox="1"/>
            <p:nvPr/>
          </p:nvSpPr>
          <p:spPr>
            <a:xfrm>
              <a:off x="2103219" y="1941241"/>
              <a:ext cx="1455822" cy="3276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600" b="1">
                  <a:solidFill>
                    <a:srgbClr val="FFFFFF"/>
                  </a:solidFill>
                  <a:latin typeface="Inter"/>
                  <a:ea typeface="Urbanist"/>
                  <a:cs typeface="Urbanist"/>
                </a:rPr>
                <a:t>Basic</a:t>
              </a:r>
              <a:r>
                <a:rPr lang="it-IT" sz="1600">
                  <a:latin typeface="Inter"/>
                </a:rPr>
                <a:t> </a:t>
              </a:r>
              <a:r>
                <a:rPr lang="it-IT" sz="1600" b="1">
                  <a:solidFill>
                    <a:srgbClr val="FFFFFF"/>
                  </a:solidFill>
                  <a:latin typeface="Inter"/>
                  <a:ea typeface="Urbanist"/>
                  <a:cs typeface="Urbanist"/>
                </a:rPr>
                <a:t>Principle</a:t>
              </a:r>
              <a:endParaRPr lang="en-GB" sz="1600" b="1">
                <a:solidFill>
                  <a:srgbClr val="FFFFFF"/>
                </a:solidFill>
                <a:latin typeface="Inter"/>
                <a:ea typeface="Urbanist"/>
                <a:cs typeface="Urbanist"/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CCA79F1-2C3A-540A-4E60-B103B8EB1E79}"/>
              </a:ext>
            </a:extLst>
          </p:cNvPr>
          <p:cNvGrpSpPr/>
          <p:nvPr/>
        </p:nvGrpSpPr>
        <p:grpSpPr>
          <a:xfrm>
            <a:off x="6627034" y="2297010"/>
            <a:ext cx="4420077" cy="3275595"/>
            <a:chOff x="6371748" y="2754634"/>
            <a:chExt cx="5540692" cy="1805070"/>
          </a:xfrm>
        </p:grpSpPr>
        <p:sp>
          <p:nvSpPr>
            <p:cNvPr id="6" name="Google Shape;157;p17">
              <a:extLst>
                <a:ext uri="{FF2B5EF4-FFF2-40B4-BE49-F238E27FC236}">
                  <a16:creationId xmlns:a16="http://schemas.microsoft.com/office/drawing/2014/main" id="{3D1B2BD0-8531-0822-BF9F-A08A7D723ABC}"/>
                </a:ext>
              </a:extLst>
            </p:cNvPr>
            <p:cNvSpPr txBox="1"/>
            <p:nvPr/>
          </p:nvSpPr>
          <p:spPr>
            <a:xfrm>
              <a:off x="6371748" y="2754634"/>
              <a:ext cx="5367968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latin typeface="Inter"/>
                  <a:ea typeface="Inter"/>
                  <a:cs typeface="Inter"/>
                  <a:sym typeface="Inter"/>
                </a:rPr>
                <a:t>I</a:t>
              </a:r>
              <a:r>
                <a:rPr lang="en-US" sz="1600" b="0" i="0" u="none" strike="noStrike" cap="none">
                  <a:latin typeface="Inter"/>
                  <a:ea typeface="Inter"/>
                  <a:cs typeface="Inter"/>
                  <a:sym typeface="Inter"/>
                </a:rPr>
                <a:t>t measures the time it takes for a photon to bounce back.</a:t>
              </a:r>
              <a:endParaRPr sz="2000"/>
            </a:p>
          </p:txBody>
        </p:sp>
        <p:sp>
          <p:nvSpPr>
            <p:cNvPr id="40" name="Google Shape;157;p17">
              <a:extLst>
                <a:ext uri="{FF2B5EF4-FFF2-40B4-BE49-F238E27FC236}">
                  <a16:creationId xmlns:a16="http://schemas.microsoft.com/office/drawing/2014/main" id="{E0670ECF-5237-54A5-F6E9-B4257DBA8D6A}"/>
                </a:ext>
              </a:extLst>
            </p:cNvPr>
            <p:cNvSpPr txBox="1"/>
            <p:nvPr/>
          </p:nvSpPr>
          <p:spPr>
            <a:xfrm>
              <a:off x="6371748" y="3148588"/>
              <a:ext cx="5540692" cy="141111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</a:pPr>
              <a:r>
                <a:rPr lang="en-US" sz="1600" dirty="0">
                  <a:latin typeface="Inter"/>
                  <a:ea typeface="Inter"/>
                </a:rPr>
                <a:t>If the cone hits multiple objects at different distances, the histogram will show multiple peaks. The final measured</a:t>
              </a:r>
              <a:br>
                <a:rPr lang="en-US" sz="1600" dirty="0">
                  <a:latin typeface="Inter"/>
                  <a:ea typeface="Inter"/>
                </a:rPr>
              </a:br>
              <a:r>
                <a:rPr lang="en-US" sz="1600" dirty="0">
                  <a:latin typeface="Inter"/>
                  <a:ea typeface="Inter"/>
                </a:rPr>
                <a:t>distance is an average derived from these significant peaks </a:t>
              </a:r>
              <a:r>
                <a:rPr lang="en-US" sz="1000" dirty="0">
                  <a:latin typeface="Arial"/>
                  <a:ea typeface="+mn-lt"/>
                  <a:cs typeface="+mn-lt"/>
                </a:rPr>
                <a:t>[4]</a:t>
              </a:r>
              <a:endParaRPr lang="en-US" sz="1400" dirty="0"/>
            </a:p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B367EFD-DD97-0438-B45D-EAA60553F773}"/>
              </a:ext>
            </a:extLst>
          </p:cNvPr>
          <p:cNvGrpSpPr/>
          <p:nvPr/>
        </p:nvGrpSpPr>
        <p:grpSpPr>
          <a:xfrm>
            <a:off x="1303850" y="4321511"/>
            <a:ext cx="4784411" cy="2245525"/>
            <a:chOff x="941826" y="4411215"/>
            <a:chExt cx="4784411" cy="224552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2897A094-FAE0-385E-9829-94676BA15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1826" y="4965110"/>
              <a:ext cx="996626" cy="165543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79DFECA-FC6A-C89F-6B5A-0D8DED7683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77225" y="5014890"/>
              <a:ext cx="3249012" cy="1641850"/>
            </a:xfrm>
            <a:prstGeom prst="rect">
              <a:avLst/>
            </a:prstGeom>
          </p:spPr>
        </p:pic>
        <p:sp>
          <p:nvSpPr>
            <p:cNvPr id="16" name="Arrow: Right 15">
              <a:extLst>
                <a:ext uri="{FF2B5EF4-FFF2-40B4-BE49-F238E27FC236}">
                  <a16:creationId xmlns:a16="http://schemas.microsoft.com/office/drawing/2014/main" id="{2F7AFFEC-69C9-E6E4-DD43-56E53F507CAC}"/>
                </a:ext>
              </a:extLst>
            </p:cNvPr>
            <p:cNvSpPr/>
            <p:nvPr/>
          </p:nvSpPr>
          <p:spPr>
            <a:xfrm>
              <a:off x="1987403" y="5792825"/>
              <a:ext cx="440871" cy="361950"/>
            </a:xfrm>
            <a:prstGeom prst="rightArrow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176CCAB-6C79-7A3B-7C4F-FB77CB7C6608}"/>
                </a:ext>
              </a:extLst>
            </p:cNvPr>
            <p:cNvGrpSpPr/>
            <p:nvPr/>
          </p:nvGrpSpPr>
          <p:grpSpPr>
            <a:xfrm>
              <a:off x="1207280" y="4411215"/>
              <a:ext cx="4518957" cy="460800"/>
              <a:chOff x="1207280" y="4534096"/>
              <a:chExt cx="4518957" cy="460800"/>
            </a:xfrm>
          </p:grpSpPr>
          <p:sp>
            <p:nvSpPr>
              <p:cNvPr id="19" name="Google Shape;110;p15">
                <a:extLst>
                  <a:ext uri="{FF2B5EF4-FFF2-40B4-BE49-F238E27FC236}">
                    <a16:creationId xmlns:a16="http://schemas.microsoft.com/office/drawing/2014/main" id="{57733053-892D-C880-C6A9-35050708E354}"/>
                  </a:ext>
                </a:extLst>
              </p:cNvPr>
              <p:cNvSpPr/>
              <p:nvPr/>
            </p:nvSpPr>
            <p:spPr>
              <a:xfrm>
                <a:off x="1207280" y="4534096"/>
                <a:ext cx="4518957" cy="460800"/>
              </a:xfrm>
              <a:prstGeom prst="rect">
                <a:avLst/>
              </a:prstGeom>
              <a:solidFill>
                <a:srgbClr val="76B900"/>
              </a:solidFill>
              <a:ln>
                <a:solidFill>
                  <a:schemeClr val="tx1"/>
                </a:solidFill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D40173D-B3E2-C8EB-3B84-0BFC16BF6F4D}"/>
                  </a:ext>
                </a:extLst>
              </p:cNvPr>
              <p:cNvSpPr txBox="1"/>
              <p:nvPr/>
            </p:nvSpPr>
            <p:spPr>
              <a:xfrm>
                <a:off x="2898194" y="4595219"/>
                <a:ext cx="113712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1600" b="1">
                    <a:solidFill>
                      <a:srgbClr val="FFFFFF"/>
                    </a:solidFill>
                    <a:latin typeface="Inter"/>
                    <a:ea typeface="Urbanist"/>
                    <a:cs typeface="Urbanist"/>
                  </a:rPr>
                  <a:t>In Practice</a:t>
                </a:r>
                <a:endParaRPr lang="en-GB" sz="1600" b="1">
                  <a:solidFill>
                    <a:srgbClr val="FFFFFF"/>
                  </a:solidFill>
                  <a:latin typeface="Inter"/>
                  <a:ea typeface="Urbanist"/>
                  <a:cs typeface="Urbanist"/>
                </a:endParaRPr>
              </a:p>
            </p:txBody>
          </p:sp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D82049B-0B49-DB1F-C313-BB2532E4F206}"/>
                </a:ext>
              </a:extLst>
            </p:cNvPr>
            <p:cNvSpPr/>
            <p:nvPr/>
          </p:nvSpPr>
          <p:spPr>
            <a:xfrm>
              <a:off x="1388127" y="4949162"/>
              <a:ext cx="326146" cy="32614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E4F2C19-02E2-7EDD-9569-576EA3210EAB}"/>
              </a:ext>
            </a:extLst>
          </p:cNvPr>
          <p:cNvSpPr/>
          <p:nvPr/>
        </p:nvSpPr>
        <p:spPr>
          <a:xfrm>
            <a:off x="141844" y="4018644"/>
            <a:ext cx="1168399" cy="114943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60000"/>
              </a:lnSpc>
            </a:pPr>
            <a:r>
              <a:rPr lang="en-US" sz="1100" b="1">
                <a:solidFill>
                  <a:srgbClr val="000000"/>
                </a:solidFill>
                <a:ea typeface="+mn-lt"/>
                <a:cs typeface="+mn-lt"/>
              </a:rPr>
              <a:t>97% of the optical power</a:t>
            </a:r>
            <a:r>
              <a:rPr lang="en-US" sz="1100">
                <a:solidFill>
                  <a:srgbClr val="000000"/>
                </a:solidFill>
                <a:ea typeface="+mn-lt"/>
                <a:cs typeface="+mn-lt"/>
              </a:rPr>
              <a:t> in a cone of 27°.</a:t>
            </a:r>
            <a:endParaRPr lang="en-US" sz="1100">
              <a:ea typeface="+mn-lt"/>
              <a:cs typeface="+mn-lt"/>
            </a:endParaRP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B5B9099F-9A17-2C0C-F956-81E2800DD8C0}"/>
              </a:ext>
            </a:extLst>
          </p:cNvPr>
          <p:cNvCxnSpPr/>
          <p:nvPr/>
        </p:nvCxnSpPr>
        <p:spPr>
          <a:xfrm flipH="1" flipV="1">
            <a:off x="1306285" y="4641272"/>
            <a:ext cx="435428" cy="336467"/>
          </a:xfrm>
          <a:prstGeom prst="curved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306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79;p18">
            <a:extLst>
              <a:ext uri="{FF2B5EF4-FFF2-40B4-BE49-F238E27FC236}">
                <a16:creationId xmlns:a16="http://schemas.microsoft.com/office/drawing/2014/main" id="{772B6603-4202-FBC5-012D-A85BEB78EE7E}"/>
              </a:ext>
            </a:extLst>
          </p:cNvPr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latin typeface="Urbanist"/>
                <a:ea typeface="Urbanist"/>
                <a:cs typeface="Urbanist"/>
                <a:sym typeface="Urbanist"/>
              </a:rPr>
              <a:t>Physical Behavior vs </a:t>
            </a:r>
            <a:r>
              <a:rPr lang="en-US" sz="3750" b="1" i="0" u="none" strike="noStrike" cap="none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Simulation Gap</a:t>
            </a:r>
            <a:endParaRPr/>
          </a:p>
        </p:txBody>
      </p:sp>
      <p:sp>
        <p:nvSpPr>
          <p:cNvPr id="3" name="Google Shape;180;p18">
            <a:extLst>
              <a:ext uri="{FF2B5EF4-FFF2-40B4-BE49-F238E27FC236}">
                <a16:creationId xmlns:a16="http://schemas.microsoft.com/office/drawing/2014/main" id="{9D40A053-F5A1-70CA-84D9-9FDF11CA2456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A8853A-C5EA-CF07-04BC-7C23F584EDEF}"/>
              </a:ext>
            </a:extLst>
          </p:cNvPr>
          <p:cNvSpPr txBox="1"/>
          <p:nvPr/>
        </p:nvSpPr>
        <p:spPr>
          <a:xfrm>
            <a:off x="2222184" y="1548282"/>
            <a:ext cx="8299127" cy="86177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Clr>
                <a:srgbClr val="8C0707"/>
              </a:buClr>
            </a:pPr>
            <a:r>
              <a:rPr lang="en-US" sz="1600">
                <a:latin typeface="Inter"/>
              </a:rPr>
              <a:t>One ray do not simulate the actual behavior of the sensor</a:t>
            </a:r>
          </a:p>
          <a:p>
            <a:pPr>
              <a:buClr>
                <a:srgbClr val="8C0707"/>
              </a:buClr>
            </a:pPr>
            <a:endParaRPr lang="en-US">
              <a:solidFill>
                <a:schemeClr val="tx1"/>
              </a:solidFill>
            </a:endParaRPr>
          </a:p>
          <a:p>
            <a:pPr>
              <a:buClr>
                <a:srgbClr val="8C0707"/>
              </a:buClr>
            </a:pPr>
            <a:r>
              <a:rPr lang="en-US" sz="1600">
                <a:latin typeface="Inter"/>
              </a:rPr>
              <a:t>We need to fill the Real-to-Sim Gap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B59FCE-D242-A25E-52BF-14E6D635D952}"/>
              </a:ext>
            </a:extLst>
          </p:cNvPr>
          <p:cNvSpPr txBox="1"/>
          <p:nvPr/>
        </p:nvSpPr>
        <p:spPr>
          <a:xfrm>
            <a:off x="1897719" y="1548282"/>
            <a:ext cx="3244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9E4707-E64B-D01D-EC35-306FE6CB6591}"/>
              </a:ext>
            </a:extLst>
          </p:cNvPr>
          <p:cNvSpPr txBox="1"/>
          <p:nvPr/>
        </p:nvSpPr>
        <p:spPr>
          <a:xfrm>
            <a:off x="1897718" y="2102280"/>
            <a:ext cx="3244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F93DCB-C8FA-A279-41AA-0F3DA46666AB}"/>
              </a:ext>
            </a:extLst>
          </p:cNvPr>
          <p:cNvSpPr txBox="1"/>
          <p:nvPr/>
        </p:nvSpPr>
        <p:spPr>
          <a:xfrm>
            <a:off x="3351787" y="2686848"/>
            <a:ext cx="556099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latin typeface="Urbanist"/>
              </a:rPr>
              <a:t>Practical example: Generation of a map</a:t>
            </a:r>
            <a:r>
              <a:rPr lang="en-US" b="1" dirty="0">
                <a:latin typeface="Urbanist"/>
                <a:ea typeface="Calibri"/>
                <a:cs typeface="Calibri"/>
              </a:rPr>
              <a:t> </a:t>
            </a:r>
            <a:r>
              <a:rPr lang="en-US" sz="1050" dirty="0">
                <a:latin typeface="Calibri"/>
                <a:ea typeface="Calibri"/>
                <a:cs typeface="Calibri"/>
              </a:rPr>
              <a:t>[5]</a:t>
            </a:r>
            <a:endParaRPr lang="en-US" sz="1400" dirty="0">
              <a:latin typeface="Calibri"/>
              <a:ea typeface="Calibri"/>
              <a:cs typeface="Calibri"/>
            </a:endParaRP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14B289D-AE3D-07A7-4F24-CAB4FBEC06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3"/>
          <a:stretch>
            <a:fillRect/>
          </a:stretch>
        </p:blipFill>
        <p:spPr>
          <a:xfrm>
            <a:off x="7016745" y="3429000"/>
            <a:ext cx="3948747" cy="2325462"/>
          </a:xfrm>
          <a:prstGeom prst="rect">
            <a:avLst/>
          </a:prstGeom>
        </p:spPr>
      </p:pic>
      <p:pic>
        <p:nvPicPr>
          <p:cNvPr id="11" name="Picture 10" descr="A robot on the floor&#10;&#10;AI-generated content may be incorrect.">
            <a:extLst>
              <a:ext uri="{FF2B5EF4-FFF2-40B4-BE49-F238E27FC236}">
                <a16:creationId xmlns:a16="http://schemas.microsoft.com/office/drawing/2014/main" id="{08774021-5F67-1DC3-2849-0702F126B8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361" b="-629"/>
          <a:stretch>
            <a:fillRect/>
          </a:stretch>
        </p:blipFill>
        <p:spPr>
          <a:xfrm>
            <a:off x="1397780" y="3429000"/>
            <a:ext cx="3944300" cy="231150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3926ED-64BF-CD3B-856F-1902A5F744B0}"/>
              </a:ext>
            </a:extLst>
          </p:cNvPr>
          <p:cNvSpPr txBox="1"/>
          <p:nvPr/>
        </p:nvSpPr>
        <p:spPr>
          <a:xfrm>
            <a:off x="1258259" y="5858883"/>
            <a:ext cx="4343048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>
                <a:latin typeface="Inter"/>
              </a:rPr>
              <a:t>Expected map would approximate to red lines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E4EFEC8-0C41-120A-CD84-BC78314B3E97}"/>
              </a:ext>
            </a:extLst>
          </p:cNvPr>
          <p:cNvCxnSpPr/>
          <p:nvPr/>
        </p:nvCxnSpPr>
        <p:spPr bwMode="auto">
          <a:xfrm>
            <a:off x="6183710" y="3468289"/>
            <a:ext cx="7255" cy="2610756"/>
          </a:xfrm>
          <a:prstGeom prst="straightConnector1">
            <a:avLst/>
          </a:prstGeom>
          <a:solidFill>
            <a:srgbClr val="00B8FF"/>
          </a:solidFill>
          <a:ln w="38100" cap="flat" cmpd="sng" algn="ctr">
            <a:solidFill>
              <a:srgbClr val="92D05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2550647-A366-1802-DD06-5CA5270C1D1A}"/>
              </a:ext>
            </a:extLst>
          </p:cNvPr>
          <p:cNvSpPr txBox="1"/>
          <p:nvPr/>
        </p:nvSpPr>
        <p:spPr>
          <a:xfrm>
            <a:off x="6650546" y="5858883"/>
            <a:ext cx="4343048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600">
                <a:latin typeface="Inter"/>
              </a:rPr>
              <a:t>In practice, we get an average when multiple</a:t>
            </a:r>
          </a:p>
          <a:p>
            <a:pPr algn="ctr"/>
            <a:r>
              <a:rPr lang="en-US" sz="1600">
                <a:latin typeface="Inter"/>
              </a:rPr>
              <a:t>objects are present in the FoV</a:t>
            </a:r>
          </a:p>
        </p:txBody>
      </p:sp>
    </p:spTree>
    <p:extLst>
      <p:ext uri="{BB962C8B-B14F-4D97-AF65-F5344CB8AC3E}">
        <p14:creationId xmlns:p14="http://schemas.microsoft.com/office/powerpoint/2010/main" val="407877205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16898-83BD-8FBF-99ED-D4848DA76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69;p18">
            <a:extLst>
              <a:ext uri="{FF2B5EF4-FFF2-40B4-BE49-F238E27FC236}">
                <a16:creationId xmlns:a16="http://schemas.microsoft.com/office/drawing/2014/main" id="{6F8F4F55-CD9C-EDA9-158E-A3C3A2A56FCE}"/>
              </a:ext>
            </a:extLst>
          </p:cNvPr>
          <p:cNvSpPr txBox="1"/>
          <p:nvPr/>
        </p:nvSpPr>
        <p:spPr>
          <a:xfrm>
            <a:off x="581025" y="1931183"/>
            <a:ext cx="245714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latin typeface="Urbanist"/>
                <a:ea typeface="Urbanist"/>
                <a:cs typeface="Urbanist"/>
                <a:sym typeface="Urbanist"/>
              </a:rPr>
              <a:t>The Real 2 Sim Gap:</a:t>
            </a:r>
            <a:endParaRPr sz="2400"/>
          </a:p>
        </p:txBody>
      </p:sp>
      <p:sp>
        <p:nvSpPr>
          <p:cNvPr id="13" name="Google Shape;179;p18">
            <a:extLst>
              <a:ext uri="{FF2B5EF4-FFF2-40B4-BE49-F238E27FC236}">
                <a16:creationId xmlns:a16="http://schemas.microsoft.com/office/drawing/2014/main" id="{1C1C1D0D-549C-7AC9-FF3B-3514E8FB544A}"/>
              </a:ext>
            </a:extLst>
          </p:cNvPr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latin typeface="Urbanist"/>
                <a:ea typeface="Urbanist"/>
                <a:cs typeface="Urbanist"/>
                <a:sym typeface="Urbanist"/>
              </a:rPr>
              <a:t>Physical Behavior vs </a:t>
            </a:r>
            <a:r>
              <a:rPr lang="en-US" sz="3750" b="1" i="0" u="none" strike="noStrike" cap="none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Simulation Gap</a:t>
            </a:r>
            <a:endParaRPr/>
          </a:p>
        </p:txBody>
      </p:sp>
      <p:sp>
        <p:nvSpPr>
          <p:cNvPr id="14" name="Google Shape;180;p18">
            <a:extLst>
              <a:ext uri="{FF2B5EF4-FFF2-40B4-BE49-F238E27FC236}">
                <a16:creationId xmlns:a16="http://schemas.microsoft.com/office/drawing/2014/main" id="{AE8332C1-92A4-6058-1FD5-16F5C2C9D789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220F89-D6F4-D2F6-B2A0-7FBEFAB87280}"/>
              </a:ext>
            </a:extLst>
          </p:cNvPr>
          <p:cNvSpPr txBox="1"/>
          <p:nvPr/>
        </p:nvSpPr>
        <p:spPr>
          <a:xfrm>
            <a:off x="669332" y="2316832"/>
            <a:ext cx="5239228" cy="255454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>
                <a:latin typeface="Inter"/>
              </a:rPr>
              <a:t>Rays distributed on the surface of </a:t>
            </a:r>
            <a:r>
              <a:rPr lang="en-US" sz="1600" b="1">
                <a:latin typeface="Inter"/>
              </a:rPr>
              <a:t>2 Concentric cones </a:t>
            </a:r>
            <a:r>
              <a:rPr lang="en-US" sz="1600">
                <a:latin typeface="Inter"/>
              </a:rPr>
              <a:t>and </a:t>
            </a:r>
            <a:br>
              <a:rPr lang="en-US" sz="1600">
                <a:latin typeface="Inter"/>
              </a:rPr>
            </a:br>
            <a:r>
              <a:rPr lang="en-US" sz="1600" b="1">
                <a:latin typeface="Inter"/>
              </a:rPr>
              <a:t>1 central ray</a:t>
            </a:r>
            <a:r>
              <a:rPr lang="en-US" sz="1600">
                <a:latin typeface="Inter"/>
              </a:rPr>
              <a:t> receive distance measures.</a:t>
            </a:r>
            <a:br>
              <a:rPr lang="en-US" sz="1600">
                <a:latin typeface="Inter"/>
              </a:rPr>
            </a:br>
            <a:endParaRPr lang="en-US" sz="1600">
              <a:latin typeface="Inter"/>
            </a:endParaRPr>
          </a:p>
          <a:p>
            <a:r>
              <a:rPr lang="en-US" sz="1600">
                <a:latin typeface="Inter"/>
              </a:rPr>
              <a:t>The final output is a </a:t>
            </a:r>
            <a:r>
              <a:rPr lang="en-US" sz="1600" b="1">
                <a:latin typeface="Inter"/>
              </a:rPr>
              <a:t>weighted average </a:t>
            </a:r>
            <a:r>
              <a:rPr lang="en-US" sz="1600">
                <a:latin typeface="Inter"/>
              </a:rPr>
              <a:t>with higher weights given to central beams.</a:t>
            </a:r>
          </a:p>
          <a:p>
            <a:endParaRPr lang="en-US" sz="1600">
              <a:latin typeface="Inter"/>
            </a:endParaRPr>
          </a:p>
          <a:p>
            <a:r>
              <a:rPr lang="en-US" sz="1600">
                <a:latin typeface="Inter"/>
              </a:rPr>
              <a:t>Rays number can be variated.</a:t>
            </a:r>
          </a:p>
          <a:p>
            <a:endParaRPr lang="en-US" sz="1600">
              <a:latin typeface="Inter"/>
            </a:endParaRPr>
          </a:p>
          <a:p>
            <a:r>
              <a:rPr lang="en-US" sz="1600">
                <a:latin typeface="Inter"/>
              </a:rPr>
              <a:t>FoV can take whatever value, and cones will adpat (27°-15° is physical limit).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800B314C-DCD7-6161-EFC6-314F1B06A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588" y="1931183"/>
            <a:ext cx="4157070" cy="3727658"/>
          </a:xfrm>
          <a:prstGeom prst="rect">
            <a:avLst/>
          </a:prstGeom>
        </p:spPr>
      </p:pic>
      <p:sp>
        <p:nvSpPr>
          <p:cNvPr id="4" name="CasellaDiTesto 4">
            <a:extLst>
              <a:ext uri="{FF2B5EF4-FFF2-40B4-BE49-F238E27FC236}">
                <a16:creationId xmlns:a16="http://schemas.microsoft.com/office/drawing/2014/main" id="{2E0A4EA5-A83F-B99E-BBF6-499CE07B043E}"/>
              </a:ext>
            </a:extLst>
          </p:cNvPr>
          <p:cNvSpPr txBox="1"/>
          <p:nvPr/>
        </p:nvSpPr>
        <p:spPr>
          <a:xfrm>
            <a:off x="737113" y="5029986"/>
            <a:ext cx="41570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FF0000"/>
              </a:buClr>
            </a:pPr>
            <a:r>
              <a:rPr lang="it-IT" sz="1600">
                <a:latin typeface="Inter"/>
              </a:rPr>
              <a:t>This physical choices are </a:t>
            </a:r>
            <a:r>
              <a:rPr lang="it-IT" sz="1600" err="1">
                <a:latin typeface="Inter"/>
              </a:rPr>
              <a:t>important</a:t>
            </a:r>
            <a:r>
              <a:rPr lang="it-IT" sz="1600">
                <a:latin typeface="Inter"/>
              </a:rPr>
              <a:t> for the code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8DA4CD-C74C-4AAE-2AD0-B9B6544563C2}"/>
              </a:ext>
            </a:extLst>
          </p:cNvPr>
          <p:cNvSpPr txBox="1"/>
          <p:nvPr/>
        </p:nvSpPr>
        <p:spPr>
          <a:xfrm>
            <a:off x="422481" y="5029986"/>
            <a:ext cx="4031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F66F8F-16F5-3EA8-F49E-FB6ADF63D9B2}"/>
              </a:ext>
            </a:extLst>
          </p:cNvPr>
          <p:cNvSpPr txBox="1"/>
          <p:nvPr/>
        </p:nvSpPr>
        <p:spPr>
          <a:xfrm>
            <a:off x="423709" y="2316832"/>
            <a:ext cx="3146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u="none" strike="noStrike" cap="none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 lang="en-GB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737FD0-1C02-1C3F-A4E1-AC90CC04154D}"/>
              </a:ext>
            </a:extLst>
          </p:cNvPr>
          <p:cNvSpPr txBox="1"/>
          <p:nvPr/>
        </p:nvSpPr>
        <p:spPr>
          <a:xfrm>
            <a:off x="423709" y="3038020"/>
            <a:ext cx="3146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FA7130-C394-9F2C-5302-44C457262D4E}"/>
              </a:ext>
            </a:extLst>
          </p:cNvPr>
          <p:cNvSpPr txBox="1"/>
          <p:nvPr/>
        </p:nvSpPr>
        <p:spPr>
          <a:xfrm>
            <a:off x="423709" y="3795012"/>
            <a:ext cx="3146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695038-99F1-C319-3D43-6A9DB42B9B2D}"/>
              </a:ext>
            </a:extLst>
          </p:cNvPr>
          <p:cNvSpPr txBox="1"/>
          <p:nvPr/>
        </p:nvSpPr>
        <p:spPr>
          <a:xfrm>
            <a:off x="422481" y="4272994"/>
            <a:ext cx="3146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7655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FCD8-592B-767F-3A80-A8EB7E661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226;p20">
            <a:extLst>
              <a:ext uri="{FF2B5EF4-FFF2-40B4-BE49-F238E27FC236}">
                <a16:creationId xmlns:a16="http://schemas.microsoft.com/office/drawing/2014/main" id="{DD132485-27DA-43EB-A944-F96CD1522361}"/>
              </a:ext>
            </a:extLst>
          </p:cNvPr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latin typeface="Urbanist"/>
                <a:ea typeface="Urbanist"/>
                <a:cs typeface="Urbanist"/>
                <a:sym typeface="Urbanist"/>
              </a:rPr>
              <a:t>Code</a:t>
            </a:r>
            <a:r>
              <a:rPr lang="en-US" sz="375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3750" b="1" i="0" u="none" strike="noStrike" cap="none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Structure</a:t>
            </a:r>
            <a:endParaRPr/>
          </a:p>
        </p:txBody>
      </p:sp>
      <p:sp>
        <p:nvSpPr>
          <p:cNvPr id="18" name="Google Shape;227;p20">
            <a:extLst>
              <a:ext uri="{FF2B5EF4-FFF2-40B4-BE49-F238E27FC236}">
                <a16:creationId xmlns:a16="http://schemas.microsoft.com/office/drawing/2014/main" id="{59A81322-DAE5-B561-59A4-00055E7BE16A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218;p20">
            <a:extLst>
              <a:ext uri="{FF2B5EF4-FFF2-40B4-BE49-F238E27FC236}">
                <a16:creationId xmlns:a16="http://schemas.microsoft.com/office/drawing/2014/main" id="{C2CCEB3E-DE0D-D94A-071F-03D4B0EA1D95}"/>
              </a:ext>
            </a:extLst>
          </p:cNvPr>
          <p:cNvSpPr txBox="1"/>
          <p:nvPr/>
        </p:nvSpPr>
        <p:spPr>
          <a:xfrm>
            <a:off x="8129587" y="3657600"/>
            <a:ext cx="168592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MultiMeshrRayCaster()</a:t>
            </a:r>
            <a:endParaRPr/>
          </a:p>
        </p:txBody>
      </p:sp>
      <p:sp>
        <p:nvSpPr>
          <p:cNvPr id="20" name="Google Shape;219;p20">
            <a:extLst>
              <a:ext uri="{FF2B5EF4-FFF2-40B4-BE49-F238E27FC236}">
                <a16:creationId xmlns:a16="http://schemas.microsoft.com/office/drawing/2014/main" id="{3D4994F3-A39D-8D19-D092-8514FD50BB40}"/>
              </a:ext>
            </a:extLst>
          </p:cNvPr>
          <p:cNvSpPr txBox="1"/>
          <p:nvPr/>
        </p:nvSpPr>
        <p:spPr>
          <a:xfrm>
            <a:off x="8634412" y="3867150"/>
            <a:ext cx="6762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Base Class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2C6F0A4-DCFE-CF15-1BFA-7D9D81016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237" y="1528031"/>
            <a:ext cx="5933732" cy="5159134"/>
          </a:xfrm>
          <a:prstGeom prst="rect">
            <a:avLst/>
          </a:prstGeom>
        </p:spPr>
      </p:pic>
      <p:sp>
        <p:nvSpPr>
          <p:cNvPr id="27" name="Parentesi graffa aperta 6">
            <a:extLst>
              <a:ext uri="{FF2B5EF4-FFF2-40B4-BE49-F238E27FC236}">
                <a16:creationId xmlns:a16="http://schemas.microsoft.com/office/drawing/2014/main" id="{589D72D1-D5D9-13B0-28CE-508977EAC578}"/>
              </a:ext>
            </a:extLst>
          </p:cNvPr>
          <p:cNvSpPr/>
          <p:nvPr/>
        </p:nvSpPr>
        <p:spPr bwMode="auto">
          <a:xfrm>
            <a:off x="6965193" y="1564598"/>
            <a:ext cx="204828" cy="3471672"/>
          </a:xfrm>
          <a:prstGeom prst="leftBrace">
            <a:avLst/>
          </a:prstGeom>
          <a:noFill/>
          <a:ln w="28575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sz="1800" b="0" i="0" u="sng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DE89B81-A87D-F56C-874D-79A32286A90F}"/>
              </a:ext>
            </a:extLst>
          </p:cNvPr>
          <p:cNvGrpSpPr/>
          <p:nvPr/>
        </p:nvGrpSpPr>
        <p:grpSpPr>
          <a:xfrm>
            <a:off x="581025" y="1969388"/>
            <a:ext cx="5619434" cy="744478"/>
            <a:chOff x="629781" y="1728480"/>
            <a:chExt cx="5619434" cy="744478"/>
          </a:xfrm>
        </p:grpSpPr>
        <p:sp>
          <p:nvSpPr>
            <p:cNvPr id="3" name="Google Shape;224;p20">
              <a:extLst>
                <a:ext uri="{FF2B5EF4-FFF2-40B4-BE49-F238E27FC236}">
                  <a16:creationId xmlns:a16="http://schemas.microsoft.com/office/drawing/2014/main" id="{C394CCF0-557C-AC1E-7D4F-9277B86D8D0F}"/>
                </a:ext>
              </a:extLst>
            </p:cNvPr>
            <p:cNvSpPr txBox="1"/>
            <p:nvPr/>
          </p:nvSpPr>
          <p:spPr>
            <a:xfrm>
              <a:off x="629781" y="1728480"/>
              <a:ext cx="95250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lnSpc>
                  <a:spcPct val="160000"/>
                </a:lnSpc>
              </a:pPr>
              <a:r>
                <a:rPr lang="en-US" sz="1600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/>
            </a:p>
          </p:txBody>
        </p:sp>
        <p:sp>
          <p:nvSpPr>
            <p:cNvPr id="28" name="Google Shape;213;p20">
              <a:extLst>
                <a:ext uri="{FF2B5EF4-FFF2-40B4-BE49-F238E27FC236}">
                  <a16:creationId xmlns:a16="http://schemas.microsoft.com/office/drawing/2014/main" id="{E9B0997B-679A-4205-0E6B-AC773442F54E}"/>
                </a:ext>
              </a:extLst>
            </p:cNvPr>
            <p:cNvSpPr txBox="1"/>
            <p:nvPr/>
          </p:nvSpPr>
          <p:spPr>
            <a:xfrm>
              <a:off x="972365" y="1734294"/>
              <a:ext cx="5276850" cy="7386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r>
                <a:rPr lang="it-IT" sz="1600" dirty="0" err="1">
                  <a:solidFill>
                    <a:srgbClr val="00B050"/>
                  </a:solidFill>
                  <a:latin typeface="Inter"/>
                  <a:ea typeface="Inter"/>
                </a:rPr>
                <a:t>Our</a:t>
              </a:r>
              <a:r>
                <a:rPr lang="it-IT" sz="1600" dirty="0">
                  <a:solidFill>
                    <a:srgbClr val="00B050"/>
                  </a:solidFill>
                  <a:latin typeface="Inter"/>
                  <a:ea typeface="Inter"/>
                </a:rPr>
                <a:t> code </a:t>
              </a:r>
              <a:r>
                <a:rPr lang="it-IT" sz="1600" dirty="0" err="1">
                  <a:latin typeface="Inter"/>
                </a:rPr>
                <a:t>extends</a:t>
              </a:r>
              <a:r>
                <a:rPr lang="it-IT" sz="1600" dirty="0">
                  <a:latin typeface="Inter"/>
                </a:rPr>
                <a:t> the base class; </a:t>
              </a:r>
              <a:r>
                <a:rPr lang="it-IT" sz="1600" dirty="0" err="1">
                  <a:latin typeface="Inter"/>
                </a:rPr>
                <a:t>it’s</a:t>
              </a:r>
              <a:r>
                <a:rPr lang="it-IT" sz="1600" dirty="0">
                  <a:latin typeface="Inter"/>
                </a:rPr>
                <a:t> the «brain» </a:t>
              </a:r>
              <a:r>
                <a:rPr lang="it-IT" sz="1600" dirty="0" err="1">
                  <a:latin typeface="Inter"/>
                </a:rPr>
                <a:t>that</a:t>
              </a:r>
              <a:r>
                <a:rPr lang="it-IT" sz="1600" dirty="0">
                  <a:latin typeface="Inter"/>
                </a:rPr>
                <a:t> </a:t>
              </a:r>
              <a:r>
                <a:rPr lang="it-IT" sz="1600" dirty="0" err="1">
                  <a:latin typeface="Inter"/>
                </a:rPr>
                <a:t>customizes</a:t>
              </a:r>
              <a:br>
                <a:rPr lang="it-IT" sz="1600" dirty="0">
                  <a:latin typeface="Inter"/>
                </a:rPr>
              </a:br>
              <a:r>
                <a:rPr lang="it-IT" sz="1600" dirty="0">
                  <a:latin typeface="Inter"/>
                </a:rPr>
                <a:t>the </a:t>
              </a:r>
              <a:r>
                <a:rPr lang="it-IT" sz="1600" dirty="0" err="1">
                  <a:latin typeface="Inter"/>
                </a:rPr>
                <a:t>sensor’s</a:t>
              </a:r>
              <a:r>
                <a:rPr lang="it-IT" sz="1600" dirty="0">
                  <a:latin typeface="Inter"/>
                </a:rPr>
                <a:t> </a:t>
              </a:r>
              <a:r>
                <a:rPr lang="it-IT" sz="1600" dirty="0" err="1">
                  <a:latin typeface="Inter"/>
                </a:rPr>
                <a:t>behavior</a:t>
              </a:r>
              <a:endParaRPr lang="en-US" sz="1600" dirty="0">
                <a:latin typeface="Inter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F703BD5-BAE5-CE7D-1D4F-A6E558A302EA}"/>
              </a:ext>
            </a:extLst>
          </p:cNvPr>
          <p:cNvGrpSpPr/>
          <p:nvPr/>
        </p:nvGrpSpPr>
        <p:grpSpPr>
          <a:xfrm>
            <a:off x="581025" y="4350973"/>
            <a:ext cx="5773297" cy="1370594"/>
            <a:chOff x="628522" y="2396960"/>
            <a:chExt cx="5620693" cy="1370594"/>
          </a:xfrm>
        </p:grpSpPr>
        <p:sp>
          <p:nvSpPr>
            <p:cNvPr id="15" name="Google Shape;224;p20">
              <a:extLst>
                <a:ext uri="{FF2B5EF4-FFF2-40B4-BE49-F238E27FC236}">
                  <a16:creationId xmlns:a16="http://schemas.microsoft.com/office/drawing/2014/main" id="{D45DBFB5-D8DD-1FB1-B32B-1B5FC2B494A5}"/>
                </a:ext>
              </a:extLst>
            </p:cNvPr>
            <p:cNvSpPr txBox="1"/>
            <p:nvPr/>
          </p:nvSpPr>
          <p:spPr>
            <a:xfrm>
              <a:off x="628522" y="2396960"/>
              <a:ext cx="95250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lnSpc>
                  <a:spcPct val="160000"/>
                </a:lnSpc>
              </a:pPr>
              <a:r>
                <a:rPr lang="en-US" sz="1600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/>
            </a:p>
          </p:txBody>
        </p:sp>
        <p:sp>
          <p:nvSpPr>
            <p:cNvPr id="30" name="Google Shape;213;p20">
              <a:extLst>
                <a:ext uri="{FF2B5EF4-FFF2-40B4-BE49-F238E27FC236}">
                  <a16:creationId xmlns:a16="http://schemas.microsoft.com/office/drawing/2014/main" id="{33656500-D839-3E0B-C280-4D948A2721A4}"/>
                </a:ext>
              </a:extLst>
            </p:cNvPr>
            <p:cNvSpPr txBox="1"/>
            <p:nvPr/>
          </p:nvSpPr>
          <p:spPr>
            <a:xfrm>
              <a:off x="972365" y="2505670"/>
              <a:ext cx="5276850" cy="126188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>
                <a:buClr>
                  <a:srgbClr val="C80000"/>
                </a:buClr>
              </a:pPr>
              <a:r>
                <a:rPr lang="en-US" sz="1600" u="sng">
                  <a:latin typeface="Inter"/>
                  <a:ea typeface="Inter"/>
                </a:rPr>
                <a:t>Benefits:​</a:t>
              </a:r>
            </a:p>
            <a:p>
              <a:pPr marL="342900" lvl="0" indent="-342900">
                <a:buFont typeface="Arial"/>
                <a:buChar char="•"/>
              </a:pPr>
              <a:r>
                <a:rPr lang="en-US" sz="1600">
                  <a:latin typeface="Inter"/>
                  <a:ea typeface="Inter"/>
                </a:rPr>
                <a:t>Dynamic mesh detection​</a:t>
              </a:r>
            </a:p>
            <a:p>
              <a:pPr marL="342900" indent="-342900">
                <a:buFont typeface="Arial"/>
                <a:buChar char="•"/>
              </a:pPr>
              <a:r>
                <a:rPr lang="en-US" sz="1600">
                  <a:latin typeface="Inter"/>
                  <a:ea typeface="Inter"/>
                </a:rPr>
                <a:t>Multimesh detection (cones, sphere, costume meshes ecc.)</a:t>
              </a:r>
            </a:p>
            <a:p>
              <a:pPr marL="342900" lvl="0" indent="-342900">
                <a:buFont typeface="Arial"/>
                <a:buChar char="•"/>
              </a:pPr>
              <a:r>
                <a:rPr lang="en-US" sz="1600">
                  <a:latin typeface="Inter"/>
                  <a:ea typeface="Inter"/>
                </a:rPr>
                <a:t>Ease of usage​</a:t>
              </a:r>
            </a:p>
            <a:p>
              <a:pPr marL="342900" lvl="0" indent="-342900">
                <a:buFont typeface="Arial"/>
                <a:buChar char="•"/>
              </a:pPr>
              <a:r>
                <a:rPr lang="en-US" sz="1600">
                  <a:latin typeface="Inter"/>
                  <a:ea typeface="Inter"/>
                </a:rPr>
                <a:t>GPU-Accelerated Parallelization</a:t>
              </a:r>
              <a:r>
                <a:rPr lang="en-US">
                  <a:solidFill>
                    <a:srgbClr val="000000"/>
                  </a:solidFill>
                  <a:latin typeface="Arial"/>
                  <a:ea typeface="Arial"/>
                  <a:cs typeface="Arial"/>
                </a:rPr>
                <a:t>.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73B3674-E95D-A2D4-89E9-3732730ADB01}"/>
              </a:ext>
            </a:extLst>
          </p:cNvPr>
          <p:cNvGrpSpPr/>
          <p:nvPr/>
        </p:nvGrpSpPr>
        <p:grpSpPr>
          <a:xfrm>
            <a:off x="581027" y="2988724"/>
            <a:ext cx="4961427" cy="886137"/>
            <a:chOff x="580630" y="1581007"/>
            <a:chExt cx="5858221" cy="886137"/>
          </a:xfrm>
        </p:grpSpPr>
        <p:sp>
          <p:nvSpPr>
            <p:cNvPr id="34" name="Google Shape;224;p20">
              <a:extLst>
                <a:ext uri="{FF2B5EF4-FFF2-40B4-BE49-F238E27FC236}">
                  <a16:creationId xmlns:a16="http://schemas.microsoft.com/office/drawing/2014/main" id="{EC1A0472-5626-229B-4C98-ED9B494964F4}"/>
                </a:ext>
              </a:extLst>
            </p:cNvPr>
            <p:cNvSpPr txBox="1"/>
            <p:nvPr/>
          </p:nvSpPr>
          <p:spPr>
            <a:xfrm>
              <a:off x="580630" y="1581007"/>
              <a:ext cx="95249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lnSpc>
                  <a:spcPct val="160000"/>
                </a:lnSpc>
              </a:pPr>
              <a:r>
                <a:rPr lang="en-US" sz="1600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/>
            </a:p>
          </p:txBody>
        </p:sp>
        <p:sp>
          <p:nvSpPr>
            <p:cNvPr id="35" name="Google Shape;213;p20">
              <a:extLst>
                <a:ext uri="{FF2B5EF4-FFF2-40B4-BE49-F238E27FC236}">
                  <a16:creationId xmlns:a16="http://schemas.microsoft.com/office/drawing/2014/main" id="{BA2039A9-92F6-1FAD-F6D9-406AC959A4C8}"/>
                </a:ext>
              </a:extLst>
            </p:cNvPr>
            <p:cNvSpPr txBox="1"/>
            <p:nvPr/>
          </p:nvSpPr>
          <p:spPr>
            <a:xfrm>
              <a:off x="972365" y="1728480"/>
              <a:ext cx="5466486" cy="7386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>
                <a:buClr>
                  <a:srgbClr val="FF0000"/>
                </a:buClr>
              </a:pPr>
              <a:r>
                <a:rPr lang="it-IT" sz="1600" dirty="0">
                  <a:solidFill>
                    <a:srgbClr val="0070C0"/>
                  </a:solidFill>
                  <a:latin typeface="Inter"/>
                  <a:ea typeface="Inter"/>
                </a:rPr>
                <a:t>Isaac Lab</a:t>
              </a:r>
              <a:r>
                <a:rPr lang="it-IT" sz="1600" dirty="0">
                  <a:latin typeface="Inter"/>
                  <a:ea typeface="Inter"/>
                </a:rPr>
                <a:t>, </a:t>
              </a:r>
              <a:r>
                <a:rPr lang="en-US" sz="1600" dirty="0">
                  <a:latin typeface="Inter"/>
                  <a:ea typeface="Inter"/>
                </a:rPr>
                <a:t>using the </a:t>
              </a:r>
              <a:r>
                <a:rPr lang="en-US" sz="1600" dirty="0" err="1">
                  <a:solidFill>
                    <a:srgbClr val="FF0000"/>
                  </a:solidFill>
                  <a:latin typeface="Inter"/>
                  <a:ea typeface="Inter"/>
                </a:rPr>
                <a:t>MultiMeshRayCaster</a:t>
              </a:r>
              <a:r>
                <a:rPr lang="en-US" sz="1600" dirty="0">
                  <a:latin typeface="Inter"/>
                  <a:ea typeface="Inter"/>
                </a:rPr>
                <a:t> class, provides the infrastructure (ability to interact with meshes and compute everything in parallel on the GPU).</a:t>
              </a:r>
            </a:p>
          </p:txBody>
        </p:sp>
      </p:grpSp>
      <p:sp>
        <p:nvSpPr>
          <p:cNvPr id="36" name="Parentesi graffa aperta 5">
            <a:extLst>
              <a:ext uri="{FF2B5EF4-FFF2-40B4-BE49-F238E27FC236}">
                <a16:creationId xmlns:a16="http://schemas.microsoft.com/office/drawing/2014/main" id="{26DDF25A-0FDC-7B48-D5AF-4A8BC86E95DD}"/>
              </a:ext>
            </a:extLst>
          </p:cNvPr>
          <p:cNvSpPr/>
          <p:nvPr/>
        </p:nvSpPr>
        <p:spPr bwMode="auto">
          <a:xfrm>
            <a:off x="5340197" y="5956615"/>
            <a:ext cx="193040" cy="650240"/>
          </a:xfrm>
          <a:prstGeom prst="leftBrace">
            <a:avLst/>
          </a:prstGeom>
          <a:noFill/>
          <a:ln w="28575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sz="1800" b="0" i="0" u="sng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1948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201;p19">
            <a:extLst>
              <a:ext uri="{FF2B5EF4-FFF2-40B4-BE49-F238E27FC236}">
                <a16:creationId xmlns:a16="http://schemas.microsoft.com/office/drawing/2014/main" id="{662718F9-6712-5195-F0CA-89316CD5DF9F}"/>
              </a:ext>
            </a:extLst>
          </p:cNvPr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latin typeface="Urbanist"/>
                <a:ea typeface="Urbanist"/>
                <a:cs typeface="Urbanist"/>
                <a:sym typeface="Urbanist"/>
              </a:rPr>
              <a:t>How the 5 Cones </a:t>
            </a:r>
            <a:r>
              <a:rPr lang="en-US" sz="3750" b="1" i="0" u="none" strike="noStrike" cap="none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Were Created</a:t>
            </a:r>
            <a:endParaRPr/>
          </a:p>
        </p:txBody>
      </p:sp>
      <p:sp>
        <p:nvSpPr>
          <p:cNvPr id="14" name="Google Shape;202;p19">
            <a:extLst>
              <a:ext uri="{FF2B5EF4-FFF2-40B4-BE49-F238E27FC236}">
                <a16:creationId xmlns:a16="http://schemas.microsoft.com/office/drawing/2014/main" id="{C3670674-9D04-D809-A58D-5B0639844F95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" name="Google Shape;154;p17" descr="image.png">
            <a:extLst>
              <a:ext uri="{FF2B5EF4-FFF2-40B4-BE49-F238E27FC236}">
                <a16:creationId xmlns:a16="http://schemas.microsoft.com/office/drawing/2014/main" id="{32C605A9-B36B-C507-2B1F-C3359F187DE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300879" y="1743517"/>
            <a:ext cx="6447317" cy="1663873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154;p17" descr="image.png">
            <a:extLst>
              <a:ext uri="{FF2B5EF4-FFF2-40B4-BE49-F238E27FC236}">
                <a16:creationId xmlns:a16="http://schemas.microsoft.com/office/drawing/2014/main" id="{DADA56A2-908C-5881-B12A-7C70468548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325305" y="3948133"/>
            <a:ext cx="5009183" cy="21199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Immagine 17">
            <a:extLst>
              <a:ext uri="{FF2B5EF4-FFF2-40B4-BE49-F238E27FC236}">
                <a16:creationId xmlns:a16="http://schemas.microsoft.com/office/drawing/2014/main" id="{08B0F178-29B4-CCB0-7E57-63B2B2F91B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5822" y="1996315"/>
            <a:ext cx="1243287" cy="11582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8" name="CasellaDiTesto 10">
            <a:extLst>
              <a:ext uri="{FF2B5EF4-FFF2-40B4-BE49-F238E27FC236}">
                <a16:creationId xmlns:a16="http://schemas.microsoft.com/office/drawing/2014/main" id="{00701EF0-2AC5-5646-B941-816EB227EC9B}"/>
              </a:ext>
            </a:extLst>
          </p:cNvPr>
          <p:cNvSpPr txBox="1"/>
          <p:nvPr/>
        </p:nvSpPr>
        <p:spPr>
          <a:xfrm>
            <a:off x="5415915" y="1876426"/>
            <a:ext cx="4790125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>
                <a:latin typeface="Inter"/>
              </a:rPr>
              <a:t>Defines the geometry for every sensor: 10 ray for each sensor (50 rays)</a:t>
            </a:r>
          </a:p>
          <a:p>
            <a:endParaRPr lang="it-IT" sz="1500">
              <a:latin typeface="Inter"/>
              <a:ea typeface="Inter"/>
            </a:endParaRPr>
          </a:p>
        </p:txBody>
      </p:sp>
      <p:sp>
        <p:nvSpPr>
          <p:cNvPr id="40" name="CasellaDiTesto 13">
            <a:extLst>
              <a:ext uri="{FF2B5EF4-FFF2-40B4-BE49-F238E27FC236}">
                <a16:creationId xmlns:a16="http://schemas.microsoft.com/office/drawing/2014/main" id="{E9D5D932-748B-D29F-1B3C-9AF7D252FDCD}"/>
              </a:ext>
            </a:extLst>
          </p:cNvPr>
          <p:cNvSpPr txBox="1"/>
          <p:nvPr/>
        </p:nvSpPr>
        <p:spPr>
          <a:xfrm>
            <a:off x="5415915" y="2660957"/>
            <a:ext cx="44848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>
                <a:latin typeface="Inter"/>
                <a:ea typeface="Inter"/>
              </a:rPr>
              <a:t>The algorithm automatically splits in 1 central ray, 1/3 inner rays and 2/3 outer rays.</a:t>
            </a:r>
            <a:endParaRPr lang="it-IT" sz="1500">
              <a:latin typeface="Inter"/>
              <a:ea typeface="Inter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8BD4A7A-BCED-94DF-1B8F-783F35A71177}"/>
              </a:ext>
            </a:extLst>
          </p:cNvPr>
          <p:cNvGrpSpPr/>
          <p:nvPr/>
        </p:nvGrpSpPr>
        <p:grpSpPr>
          <a:xfrm>
            <a:off x="5578689" y="3969844"/>
            <a:ext cx="4600508" cy="2328842"/>
            <a:chOff x="6620883" y="3713644"/>
            <a:chExt cx="4600508" cy="2328842"/>
          </a:xfrm>
        </p:grpSpPr>
        <p:sp>
          <p:nvSpPr>
            <p:cNvPr id="48" name="CasellaDiTesto 13">
              <a:extLst>
                <a:ext uri="{FF2B5EF4-FFF2-40B4-BE49-F238E27FC236}">
                  <a16:creationId xmlns:a16="http://schemas.microsoft.com/office/drawing/2014/main" id="{1B45F5AF-784F-FD6D-20FD-F676325F74BA}"/>
                </a:ext>
              </a:extLst>
            </p:cNvPr>
            <p:cNvSpPr txBox="1"/>
            <p:nvPr/>
          </p:nvSpPr>
          <p:spPr>
            <a:xfrm>
              <a:off x="6736553" y="3749551"/>
              <a:ext cx="4484838" cy="22929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buClr>
                  <a:srgbClr val="C80000"/>
                </a:buClr>
              </a:pPr>
              <a:r>
                <a:rPr lang="en-US" sz="1600">
                  <a:latin typeface="Inter"/>
                </a:rPr>
                <a:t>Gets the 50 impact points from the GPU</a:t>
              </a:r>
            </a:p>
            <a:p>
              <a:endParaRPr lang="en-US" sz="1600"/>
            </a:p>
            <a:p>
              <a:pPr>
                <a:buClr>
                  <a:srgbClr val="C80000"/>
                </a:buClr>
              </a:pPr>
              <a:r>
                <a:rPr lang="en-US" sz="1600">
                  <a:latin typeface="Inter"/>
                </a:rPr>
                <a:t>Transforms the 50 points into 5 distances using a </a:t>
              </a:r>
              <a:r>
                <a:rPr lang="en-US" sz="1600" b="1">
                  <a:latin typeface="Inter"/>
                </a:rPr>
                <a:t>weighted average</a:t>
              </a:r>
            </a:p>
            <a:p>
              <a:endParaRPr lang="en-US" sz="1600"/>
            </a:p>
            <a:p>
              <a:pPr>
                <a:buClr>
                  <a:srgbClr val="C80000"/>
                </a:buClr>
              </a:pPr>
              <a:r>
                <a:rPr lang="en-US" sz="1600">
                  <a:latin typeface="Inter"/>
                </a:rPr>
                <a:t>Returns a</a:t>
              </a:r>
              <a:r>
                <a:rPr lang="en-US" sz="1600"/>
                <a:t> </a:t>
              </a:r>
              <a:r>
                <a:rPr lang="en-US" sz="1600" b="1">
                  <a:latin typeface="Inter"/>
                </a:rPr>
                <a:t>Tensor</a:t>
              </a:r>
              <a:r>
                <a:rPr lang="en-US" sz="1600"/>
                <a:t> </a:t>
              </a:r>
              <a:r>
                <a:rPr lang="en-US" sz="1600">
                  <a:latin typeface="Inter"/>
                </a:rPr>
                <a:t>(N, 5). A table where each row is a drone and the 5 columns are the distances in the 5 directions</a:t>
              </a:r>
            </a:p>
            <a:p>
              <a:endParaRPr lang="it-IT" sz="1500">
                <a:latin typeface="Inter"/>
                <a:ea typeface="Inter"/>
              </a:endParaRPr>
            </a:p>
          </p:txBody>
        </p:sp>
        <p:sp>
          <p:nvSpPr>
            <p:cNvPr id="49" name="Google Shape;197;p19">
              <a:extLst>
                <a:ext uri="{FF2B5EF4-FFF2-40B4-BE49-F238E27FC236}">
                  <a16:creationId xmlns:a16="http://schemas.microsoft.com/office/drawing/2014/main" id="{A66C906F-1AD4-96CB-E36D-2154D0FA91C3}"/>
                </a:ext>
              </a:extLst>
            </p:cNvPr>
            <p:cNvSpPr txBox="1"/>
            <p:nvPr/>
          </p:nvSpPr>
          <p:spPr>
            <a:xfrm>
              <a:off x="6620883" y="3713644"/>
              <a:ext cx="95250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lnSpc>
                  <a:spcPct val="160000"/>
                </a:lnSpc>
              </a:pPr>
              <a:r>
                <a:rPr lang="en-US" sz="1600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/>
            </a:p>
          </p:txBody>
        </p:sp>
        <p:sp>
          <p:nvSpPr>
            <p:cNvPr id="50" name="Google Shape;197;p19">
              <a:extLst>
                <a:ext uri="{FF2B5EF4-FFF2-40B4-BE49-F238E27FC236}">
                  <a16:creationId xmlns:a16="http://schemas.microsoft.com/office/drawing/2014/main" id="{441339D3-081D-5A50-2582-43A07CC2DA4C}"/>
                </a:ext>
              </a:extLst>
            </p:cNvPr>
            <p:cNvSpPr txBox="1"/>
            <p:nvPr/>
          </p:nvSpPr>
          <p:spPr>
            <a:xfrm>
              <a:off x="6620883" y="4204768"/>
              <a:ext cx="95250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lnSpc>
                  <a:spcPct val="160000"/>
                </a:lnSpc>
              </a:pPr>
              <a:r>
                <a:rPr lang="en-US" sz="1600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/>
            </a:p>
          </p:txBody>
        </p:sp>
        <p:sp>
          <p:nvSpPr>
            <p:cNvPr id="51" name="Google Shape;197;p19">
              <a:extLst>
                <a:ext uri="{FF2B5EF4-FFF2-40B4-BE49-F238E27FC236}">
                  <a16:creationId xmlns:a16="http://schemas.microsoft.com/office/drawing/2014/main" id="{7A4F70B4-EBA5-2481-5364-86ECA6497805}"/>
                </a:ext>
              </a:extLst>
            </p:cNvPr>
            <p:cNvSpPr txBox="1"/>
            <p:nvPr/>
          </p:nvSpPr>
          <p:spPr>
            <a:xfrm>
              <a:off x="6620883" y="4930064"/>
              <a:ext cx="95250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lnSpc>
                  <a:spcPct val="160000"/>
                </a:lnSpc>
              </a:pPr>
              <a:r>
                <a:rPr lang="en-US" sz="1600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450FD213-64C9-51D0-9EF4-070182FFDB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6352" y="1804536"/>
            <a:ext cx="2636284" cy="267875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3A34218-7654-01A0-36AE-7D2980D90A3C}"/>
              </a:ext>
            </a:extLst>
          </p:cNvPr>
          <p:cNvGrpSpPr/>
          <p:nvPr/>
        </p:nvGrpSpPr>
        <p:grpSpPr>
          <a:xfrm>
            <a:off x="566641" y="4624917"/>
            <a:ext cx="3910105" cy="1358149"/>
            <a:chOff x="317499" y="4614334"/>
            <a:chExt cx="3947584" cy="1295690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6CC7C7C-A390-01DB-82E5-82405D2441F2}"/>
                </a:ext>
              </a:extLst>
            </p:cNvPr>
            <p:cNvSpPr txBox="1"/>
            <p:nvPr/>
          </p:nvSpPr>
          <p:spPr>
            <a:xfrm>
              <a:off x="317500" y="4614334"/>
              <a:ext cx="264584" cy="86177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600" b="0" i="0" u="none" strike="noStrike" baseline="0">
                  <a:solidFill>
                    <a:srgbClr val="00B050"/>
                  </a:solidFill>
                  <a:latin typeface="Arial"/>
                </a:rPr>
                <a:t></a:t>
              </a:r>
              <a:r>
                <a:rPr lang="en-US" sz="1600">
                  <a:solidFill>
                    <a:srgbClr val="00B050"/>
                  </a:solidFill>
                  <a:latin typeface="Arial"/>
                </a:rPr>
                <a:t> </a:t>
              </a:r>
              <a:endParaRPr lang="en-US"/>
            </a:p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7A440EA-12A1-CBC1-65F8-50F8D7DBD79C}"/>
                </a:ext>
              </a:extLst>
            </p:cNvPr>
            <p:cNvSpPr txBox="1"/>
            <p:nvPr/>
          </p:nvSpPr>
          <p:spPr>
            <a:xfrm>
              <a:off x="582083" y="4614334"/>
              <a:ext cx="3683000" cy="615553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600" err="1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Intel"/>
                  <a:cs typeface="Arial"/>
                </a:rPr>
                <a:t>ray_starts</a:t>
              </a:r>
              <a:r>
                <a:rPr lang="en-US" sz="1600">
                  <a:latin typeface="Arial"/>
                  <a:cs typeface="Arial"/>
                </a:rPr>
                <a:t> </a:t>
              </a:r>
              <a:r>
                <a:rPr lang="en-US" sz="1600">
                  <a:solidFill>
                    <a:schemeClr val="dk1"/>
                  </a:solidFill>
                  <a:latin typeface="Inter"/>
                </a:rPr>
                <a:t>coordinate of the ray origin.</a:t>
              </a:r>
            </a:p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E90501E-660D-B781-3115-90C7AD113D91}"/>
                </a:ext>
              </a:extLst>
            </p:cNvPr>
            <p:cNvSpPr txBox="1"/>
            <p:nvPr/>
          </p:nvSpPr>
          <p:spPr>
            <a:xfrm>
              <a:off x="317499" y="5048250"/>
              <a:ext cx="264584" cy="86177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600" b="0" i="0" u="none" strike="noStrike" baseline="0">
                  <a:solidFill>
                    <a:srgbClr val="00B050"/>
                  </a:solidFill>
                  <a:latin typeface="Arial"/>
                </a:rPr>
                <a:t></a:t>
              </a:r>
              <a:r>
                <a:rPr lang="en-US" sz="1600">
                  <a:solidFill>
                    <a:srgbClr val="00B050"/>
                  </a:solidFill>
                  <a:latin typeface="Arial"/>
                </a:rPr>
                <a:t> </a:t>
              </a:r>
              <a:endParaRPr lang="en-US"/>
            </a:p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E135DC7-FB2C-7977-0914-D9D364037399}"/>
                </a:ext>
              </a:extLst>
            </p:cNvPr>
            <p:cNvSpPr txBox="1"/>
            <p:nvPr/>
          </p:nvSpPr>
          <p:spPr>
            <a:xfrm>
              <a:off x="561467" y="5026451"/>
              <a:ext cx="3683000" cy="5847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600" dirty="0" err="1">
                  <a:solidFill>
                    <a:schemeClr val="accent4"/>
                  </a:solidFill>
                  <a:latin typeface="Intel"/>
                  <a:cs typeface="Arial"/>
                </a:rPr>
                <a:t>ray_dirs</a:t>
              </a:r>
              <a:r>
                <a:rPr lang="en-US" sz="1600" dirty="0">
                  <a:latin typeface="Arial"/>
                  <a:cs typeface="Arial"/>
                </a:rPr>
                <a:t> </a:t>
              </a:r>
              <a:r>
                <a:rPr lang="en-US" sz="1600" dirty="0">
                  <a:latin typeface="Inter"/>
                </a:rPr>
                <a:t>unit vector of the direction.</a:t>
              </a:r>
            </a:p>
            <a:p>
              <a:pPr algn="ctr"/>
              <a:endParaRPr lang="en-US" sz="1600" dirty="0">
                <a:latin typeface="Inter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15678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243;p21">
            <a:extLst>
              <a:ext uri="{FF2B5EF4-FFF2-40B4-BE49-F238E27FC236}">
                <a16:creationId xmlns:a16="http://schemas.microsoft.com/office/drawing/2014/main" id="{F1E03F09-3943-31CC-271A-C971D49E2924}"/>
              </a:ext>
            </a:extLst>
          </p:cNvPr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latin typeface="Urbanist"/>
                <a:ea typeface="Urbanist"/>
                <a:cs typeface="Urbanist"/>
                <a:sym typeface="Urbanist"/>
              </a:rPr>
              <a:t>Demo 1:</a:t>
            </a:r>
            <a:r>
              <a:rPr lang="en-US" sz="375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3750" b="1" i="0" u="none" strike="noStrike" cap="none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Parallelization &amp; Validation</a:t>
            </a:r>
            <a:endParaRPr/>
          </a:p>
        </p:txBody>
      </p:sp>
      <p:sp>
        <p:nvSpPr>
          <p:cNvPr id="13" name="Google Shape;244;p21">
            <a:extLst>
              <a:ext uri="{FF2B5EF4-FFF2-40B4-BE49-F238E27FC236}">
                <a16:creationId xmlns:a16="http://schemas.microsoft.com/office/drawing/2014/main" id="{1C2771CB-F199-C8C4-8C54-B16FB73E9120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" name="Google Shape;154;p17" descr="image.png">
            <a:extLst>
              <a:ext uri="{FF2B5EF4-FFF2-40B4-BE49-F238E27FC236}">
                <a16:creationId xmlns:a16="http://schemas.microsoft.com/office/drawing/2014/main" id="{C4E0A742-A383-9DBB-67D5-A690E34093C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5400000">
            <a:off x="1067752" y="3639279"/>
            <a:ext cx="2362199" cy="3335655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237;p21">
            <a:extLst>
              <a:ext uri="{FF2B5EF4-FFF2-40B4-BE49-F238E27FC236}">
                <a16:creationId xmlns:a16="http://schemas.microsoft.com/office/drawing/2014/main" id="{AB45B02B-6E09-CD53-5C27-92A554E0DF4A}"/>
              </a:ext>
            </a:extLst>
          </p:cNvPr>
          <p:cNvSpPr txBox="1"/>
          <p:nvPr/>
        </p:nvSpPr>
        <p:spPr>
          <a:xfrm>
            <a:off x="767443" y="4313784"/>
            <a:ext cx="304038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latin typeface="Urbanist"/>
                <a:ea typeface="Urbanist"/>
                <a:cs typeface="Urbanist"/>
                <a:sym typeface="Urbanist"/>
              </a:rPr>
              <a:t>Isaac Lab Parallelism</a:t>
            </a:r>
            <a:endParaRPr/>
          </a:p>
        </p:txBody>
      </p:sp>
      <p:sp>
        <p:nvSpPr>
          <p:cNvPr id="16" name="Google Shape;238;p21">
            <a:extLst>
              <a:ext uri="{FF2B5EF4-FFF2-40B4-BE49-F238E27FC236}">
                <a16:creationId xmlns:a16="http://schemas.microsoft.com/office/drawing/2014/main" id="{7DD716B7-D0F7-23D0-92ED-9295AEA12EEB}"/>
              </a:ext>
            </a:extLst>
          </p:cNvPr>
          <p:cNvSpPr txBox="1"/>
          <p:nvPr/>
        </p:nvSpPr>
        <p:spPr>
          <a:xfrm>
            <a:off x="766244" y="4583673"/>
            <a:ext cx="2958281" cy="1378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latin typeface="Inter"/>
                <a:ea typeface="Inter"/>
                <a:cs typeface="Inter"/>
                <a:sym typeface="Inter"/>
              </a:rPr>
              <a:t>Test showing the operation of both the sensor measurement and the parallelization, a core feature of the Isaac Lab simulation environment.</a:t>
            </a:r>
            <a:endParaRPr lang="en-US" sz="1400"/>
          </a:p>
        </p:txBody>
      </p:sp>
      <p:pic>
        <p:nvPicPr>
          <p:cNvPr id="19" name="Google Shape;154;p17" descr="image.png">
            <a:extLst>
              <a:ext uri="{FF2B5EF4-FFF2-40B4-BE49-F238E27FC236}">
                <a16:creationId xmlns:a16="http://schemas.microsoft.com/office/drawing/2014/main" id="{96CE24B6-9C7D-640A-B62A-5ADD9427CE7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5400000">
            <a:off x="4839651" y="3639279"/>
            <a:ext cx="2362202" cy="3335655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39;p21">
            <a:extLst>
              <a:ext uri="{FF2B5EF4-FFF2-40B4-BE49-F238E27FC236}">
                <a16:creationId xmlns:a16="http://schemas.microsoft.com/office/drawing/2014/main" id="{DEA7280A-DD85-66E6-47E2-F809CB18B17B}"/>
              </a:ext>
            </a:extLst>
          </p:cNvPr>
          <p:cNvSpPr txBox="1"/>
          <p:nvPr/>
        </p:nvSpPr>
        <p:spPr>
          <a:xfrm>
            <a:off x="4639129" y="4313785"/>
            <a:ext cx="304038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latin typeface="Urbanist"/>
                <a:ea typeface="Urbanist"/>
                <a:cs typeface="Urbanist"/>
                <a:sym typeface="Urbanist"/>
              </a:rPr>
              <a:t>Expected vs Measured</a:t>
            </a:r>
            <a:endParaRPr/>
          </a:p>
        </p:txBody>
      </p:sp>
      <p:sp>
        <p:nvSpPr>
          <p:cNvPr id="21" name="Google Shape;240;p21">
            <a:extLst>
              <a:ext uri="{FF2B5EF4-FFF2-40B4-BE49-F238E27FC236}">
                <a16:creationId xmlns:a16="http://schemas.microsoft.com/office/drawing/2014/main" id="{6797E806-5CB7-BF53-9781-B7B1D283727C}"/>
              </a:ext>
            </a:extLst>
          </p:cNvPr>
          <p:cNvSpPr txBox="1"/>
          <p:nvPr/>
        </p:nvSpPr>
        <p:spPr>
          <a:xfrm>
            <a:off x="4639130" y="4683458"/>
            <a:ext cx="28956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latin typeface="Inter"/>
                <a:ea typeface="Inter"/>
                <a:cs typeface="Inter"/>
                <a:sym typeface="Inter"/>
              </a:rPr>
              <a:t>Comparison between theoretical distance (concrete walls) and the simulated </a:t>
            </a:r>
            <a:r>
              <a:rPr lang="en-US" sz="1400" b="0" i="0" u="none" strike="noStrike" cap="none" err="1">
                <a:latin typeface="Inter"/>
                <a:ea typeface="Inter"/>
                <a:cs typeface="Inter"/>
                <a:sym typeface="Inter"/>
              </a:rPr>
              <a:t>ToF</a:t>
            </a:r>
            <a:r>
              <a:rPr lang="en-US" sz="1400" b="0" i="0" u="none" strike="noStrike" cap="none">
                <a:latin typeface="Inter"/>
                <a:ea typeface="Inter"/>
                <a:cs typeface="Inter"/>
                <a:sym typeface="Inter"/>
              </a:rPr>
              <a:t> measurement.</a:t>
            </a:r>
            <a:endParaRPr lang="en-US" sz="1400"/>
          </a:p>
        </p:txBody>
      </p:sp>
      <p:pic>
        <p:nvPicPr>
          <p:cNvPr id="22" name="Google Shape;154;p17" descr="image.png">
            <a:extLst>
              <a:ext uri="{FF2B5EF4-FFF2-40B4-BE49-F238E27FC236}">
                <a16:creationId xmlns:a16="http://schemas.microsoft.com/office/drawing/2014/main" id="{EF9C326D-DB40-3BCA-C9F7-CB18E401B29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5400000">
            <a:off x="8611551" y="3639279"/>
            <a:ext cx="2362202" cy="3335655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41;p21">
            <a:extLst>
              <a:ext uri="{FF2B5EF4-FFF2-40B4-BE49-F238E27FC236}">
                <a16:creationId xmlns:a16="http://schemas.microsoft.com/office/drawing/2014/main" id="{C2766B94-67BC-EACD-A93E-D068D21E1ABD}"/>
              </a:ext>
            </a:extLst>
          </p:cNvPr>
          <p:cNvSpPr txBox="1"/>
          <p:nvPr/>
        </p:nvSpPr>
        <p:spPr>
          <a:xfrm>
            <a:off x="8347529" y="4313785"/>
            <a:ext cx="304038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latin typeface="Urbanist"/>
                <a:ea typeface="Urbanist"/>
                <a:cs typeface="Urbanist"/>
                <a:sym typeface="Urbanist"/>
              </a:rPr>
              <a:t>Error Tracking</a:t>
            </a:r>
            <a:endParaRPr/>
          </a:p>
        </p:txBody>
      </p:sp>
      <p:sp>
        <p:nvSpPr>
          <p:cNvPr id="24" name="Google Shape;242;p21">
            <a:extLst>
              <a:ext uri="{FF2B5EF4-FFF2-40B4-BE49-F238E27FC236}">
                <a16:creationId xmlns:a16="http://schemas.microsoft.com/office/drawing/2014/main" id="{8820B370-9C0B-FC57-BD12-0F6B4BCC94E2}"/>
              </a:ext>
            </a:extLst>
          </p:cNvPr>
          <p:cNvSpPr txBox="1"/>
          <p:nvPr/>
        </p:nvSpPr>
        <p:spPr>
          <a:xfrm>
            <a:off x="8344852" y="4683458"/>
            <a:ext cx="2895600" cy="1181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latin typeface="Inter"/>
                <a:ea typeface="Inter"/>
                <a:cs typeface="Inter"/>
                <a:sym typeface="Inter"/>
              </a:rPr>
              <a:t>Error in millimeters plotted across all 5 directions (Front, Back, Left, Right, Down).</a:t>
            </a:r>
            <a:endParaRPr sz="200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FC27C9A-95A3-F5BE-0B26-70DF7FF291B4}"/>
              </a:ext>
            </a:extLst>
          </p:cNvPr>
          <p:cNvGrpSpPr/>
          <p:nvPr/>
        </p:nvGrpSpPr>
        <p:grpSpPr>
          <a:xfrm>
            <a:off x="5468256" y="1718539"/>
            <a:ext cx="4662313" cy="1672905"/>
            <a:chOff x="3542649" y="1628559"/>
            <a:chExt cx="6005224" cy="133438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2D46960-6F2D-8604-4148-09380459D380}"/>
                </a:ext>
              </a:extLst>
            </p:cNvPr>
            <p:cNvSpPr txBox="1"/>
            <p:nvPr/>
          </p:nvSpPr>
          <p:spPr>
            <a:xfrm>
              <a:off x="3546094" y="1628559"/>
              <a:ext cx="363794" cy="2896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 lang="en-GB"/>
            </a:p>
          </p:txBody>
        </p:sp>
        <p:sp>
          <p:nvSpPr>
            <p:cNvPr id="26" name="CasellaDiTesto 8">
              <a:extLst>
                <a:ext uri="{FF2B5EF4-FFF2-40B4-BE49-F238E27FC236}">
                  <a16:creationId xmlns:a16="http://schemas.microsoft.com/office/drawing/2014/main" id="{EF8CCD6A-2D29-1E96-6EFF-583A0EEE59C4}"/>
                </a:ext>
              </a:extLst>
            </p:cNvPr>
            <p:cNvSpPr txBox="1"/>
            <p:nvPr/>
          </p:nvSpPr>
          <p:spPr>
            <a:xfrm>
              <a:off x="3840706" y="1629272"/>
              <a:ext cx="5267694" cy="3138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600" b="1" err="1">
                  <a:latin typeface="Urbanist"/>
                </a:rPr>
                <a:t>Accuracy</a:t>
              </a:r>
              <a:r>
                <a:rPr lang="it-IT" sz="2000">
                  <a:solidFill>
                    <a:schemeClr val="tx1"/>
                  </a:solidFill>
                </a:rPr>
                <a:t> </a:t>
              </a:r>
              <a:r>
                <a:rPr lang="it-IT" sz="1600">
                  <a:latin typeface="Inter"/>
                </a:rPr>
                <a:t>of </a:t>
              </a:r>
              <a:r>
                <a:rPr lang="it-IT" sz="1600" err="1">
                  <a:latin typeface="Inter"/>
                </a:rPr>
                <a:t>measurements</a:t>
              </a:r>
              <a:endParaRPr lang="it-IT" sz="1600">
                <a:latin typeface="Inter"/>
              </a:endParaRPr>
            </a:p>
          </p:txBody>
        </p:sp>
        <p:sp>
          <p:nvSpPr>
            <p:cNvPr id="27" name="Segnaposto testo 4">
              <a:extLst>
                <a:ext uri="{FF2B5EF4-FFF2-40B4-BE49-F238E27FC236}">
                  <a16:creationId xmlns:a16="http://schemas.microsoft.com/office/drawing/2014/main" id="{A60402AE-2567-22B5-DFA1-B571A8592EE8}"/>
                </a:ext>
              </a:extLst>
            </p:cNvPr>
            <p:cNvSpPr txBox="1">
              <a:spLocks/>
            </p:cNvSpPr>
            <p:nvPr/>
          </p:nvSpPr>
          <p:spPr>
            <a:xfrm>
              <a:off x="3852390" y="2023347"/>
              <a:ext cx="5695483" cy="289676"/>
            </a:xfrm>
          </p:spPr>
          <p:txBody>
            <a:bodyPr>
              <a:noAutofit/>
            </a:bodyPr>
            <a:lstStyle>
              <a:lvl1pPr marL="342900" indent="-34290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•"/>
                <a:defRPr sz="3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–"/>
                <a:defRPr sz="2800">
                  <a:solidFill>
                    <a:schemeClr val="tx1"/>
                  </a:solidFill>
                  <a:latin typeface="+mn-lt"/>
                </a:defRPr>
              </a:lvl2pPr>
              <a:lvl3pPr marL="1143000" indent="-22860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•"/>
                <a:defRPr sz="2400">
                  <a:solidFill>
                    <a:schemeClr val="tx1"/>
                  </a:solidFill>
                  <a:latin typeface="+mn-lt"/>
                </a:defRPr>
              </a:lvl3pPr>
              <a:lvl4pPr marL="1600200" indent="-22860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+mn-lt"/>
                </a:defRPr>
              </a:lvl4pPr>
              <a:lvl5pPr marL="2057400" indent="-22860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5pPr>
              <a:lvl6pPr marL="2514600" indent="-22860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6pPr>
              <a:lvl7pPr marL="2971800" indent="-22860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7pPr>
              <a:lvl8pPr marL="3429000" indent="-22860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8pPr>
              <a:lvl9pPr marL="3886200" indent="-22860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9pPr>
            </a:lstStyle>
            <a:p>
              <a:pPr marL="0" indent="0">
                <a:buNone/>
              </a:pPr>
              <a:r>
                <a:rPr lang="en-GB" sz="1600">
                  <a:latin typeface="Inter"/>
                </a:rPr>
                <a:t>4 drone spawn with their respective sensors</a:t>
              </a:r>
            </a:p>
            <a:p>
              <a:pPr defTabSz="914400"/>
              <a:endParaRPr lang="it-IT" sz="1600" kern="0"/>
            </a:p>
          </p:txBody>
        </p:sp>
        <p:sp>
          <p:nvSpPr>
            <p:cNvPr id="28" name="CasellaDiTesto 12">
              <a:extLst>
                <a:ext uri="{FF2B5EF4-FFF2-40B4-BE49-F238E27FC236}">
                  <a16:creationId xmlns:a16="http://schemas.microsoft.com/office/drawing/2014/main" id="{CBD48DC5-9BB1-514F-DEF7-18DBF32057AE}"/>
                </a:ext>
              </a:extLst>
            </p:cNvPr>
            <p:cNvSpPr txBox="1"/>
            <p:nvPr/>
          </p:nvSpPr>
          <p:spPr>
            <a:xfrm>
              <a:off x="3909889" y="2504286"/>
              <a:ext cx="4713001" cy="4586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>
                  <a:latin typeface="Inter"/>
                </a:rPr>
                <a:t>Plotted the different measurements of all the sensors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B905AF6-BA5D-631E-56AC-5A16A5CD989D}"/>
                </a:ext>
              </a:extLst>
            </p:cNvPr>
            <p:cNvSpPr txBox="1"/>
            <p:nvPr/>
          </p:nvSpPr>
          <p:spPr>
            <a:xfrm>
              <a:off x="3546094" y="2044942"/>
              <a:ext cx="363794" cy="2896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 lang="en-GB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547E317-2E11-1DEA-0BFF-F2CD32AC23CA}"/>
                </a:ext>
              </a:extLst>
            </p:cNvPr>
            <p:cNvSpPr txBox="1"/>
            <p:nvPr/>
          </p:nvSpPr>
          <p:spPr>
            <a:xfrm>
              <a:off x="3542649" y="2473543"/>
              <a:ext cx="363794" cy="2896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 lang="en-GB"/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DAF7B1DF-0B6C-C7E2-9B49-198ECEA01A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4" y="1588320"/>
            <a:ext cx="3771900" cy="2237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173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43;p21">
            <a:extLst>
              <a:ext uri="{FF2B5EF4-FFF2-40B4-BE49-F238E27FC236}">
                <a16:creationId xmlns:a16="http://schemas.microsoft.com/office/drawing/2014/main" id="{8FD4006E-3B46-490F-F9E2-68A78F98D04F}"/>
              </a:ext>
            </a:extLst>
          </p:cNvPr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latin typeface="Urbanist"/>
                <a:ea typeface="Urbanist"/>
                <a:cs typeface="Urbanist"/>
                <a:sym typeface="Urbanist"/>
              </a:rPr>
              <a:t>Demo 1: </a:t>
            </a:r>
            <a:r>
              <a:rPr lang="en-US" sz="3750" b="1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Results</a:t>
            </a:r>
            <a:endParaRPr/>
          </a:p>
        </p:txBody>
      </p:sp>
      <p:sp>
        <p:nvSpPr>
          <p:cNvPr id="5" name="Google Shape;244;p21">
            <a:extLst>
              <a:ext uri="{FF2B5EF4-FFF2-40B4-BE49-F238E27FC236}">
                <a16:creationId xmlns:a16="http://schemas.microsoft.com/office/drawing/2014/main" id="{7541170F-DA43-7DA9-8B78-062BF2CF6AD2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magine 28">
            <a:extLst>
              <a:ext uri="{FF2B5EF4-FFF2-40B4-BE49-F238E27FC236}">
                <a16:creationId xmlns:a16="http://schemas.microsoft.com/office/drawing/2014/main" id="{4C5FBE71-EBAB-CB4A-B7BB-A3DAF4B7A0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8" t="1104" r="33329" b="57528"/>
          <a:stretch>
            <a:fillRect/>
          </a:stretch>
        </p:blipFill>
        <p:spPr>
          <a:xfrm>
            <a:off x="4791172" y="1430337"/>
            <a:ext cx="3406566" cy="2489526"/>
          </a:xfrm>
          <a:prstGeom prst="rect">
            <a:avLst/>
          </a:prstGeom>
        </p:spPr>
      </p:pic>
      <p:pic>
        <p:nvPicPr>
          <p:cNvPr id="8" name="Immagine 29">
            <a:extLst>
              <a:ext uri="{FF2B5EF4-FFF2-40B4-BE49-F238E27FC236}">
                <a16:creationId xmlns:a16="http://schemas.microsoft.com/office/drawing/2014/main" id="{51F27D61-B159-A88D-9F1E-A49830A0C6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490" r="66378" b="10355"/>
          <a:stretch>
            <a:fillRect/>
          </a:stretch>
        </p:blipFill>
        <p:spPr>
          <a:xfrm>
            <a:off x="4948182" y="3919863"/>
            <a:ext cx="3282950" cy="2586935"/>
          </a:xfrm>
          <a:prstGeom prst="rect">
            <a:avLst/>
          </a:prstGeom>
        </p:spPr>
      </p:pic>
      <p:pic>
        <p:nvPicPr>
          <p:cNvPr id="9" name="Immagine 13">
            <a:extLst>
              <a:ext uri="{FF2B5EF4-FFF2-40B4-BE49-F238E27FC236}">
                <a16:creationId xmlns:a16="http://schemas.microsoft.com/office/drawing/2014/main" id="{7FC9873E-91B8-42B6-B3C0-ADD8D10FE6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37" b="55896"/>
          <a:stretch>
            <a:fillRect/>
          </a:stretch>
        </p:blipFill>
        <p:spPr>
          <a:xfrm>
            <a:off x="8204409" y="1429639"/>
            <a:ext cx="3406566" cy="2654208"/>
          </a:xfrm>
          <a:prstGeom prst="rect">
            <a:avLst/>
          </a:prstGeom>
        </p:spPr>
      </p:pic>
      <p:pic>
        <p:nvPicPr>
          <p:cNvPr id="12" name="Immagine 27">
            <a:extLst>
              <a:ext uri="{FF2B5EF4-FFF2-40B4-BE49-F238E27FC236}">
                <a16:creationId xmlns:a16="http://schemas.microsoft.com/office/drawing/2014/main" id="{3E4772CC-0DBA-EA94-7B5C-8F4B90574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117" t="46947" r="33261" b="11072"/>
          <a:stretch>
            <a:fillRect/>
          </a:stretch>
        </p:blipFill>
        <p:spPr>
          <a:xfrm>
            <a:off x="8235794" y="4002204"/>
            <a:ext cx="3343795" cy="2505134"/>
          </a:xfrm>
          <a:prstGeom prst="rect">
            <a:avLst/>
          </a:prstGeom>
        </p:spPr>
      </p:pic>
      <p:pic>
        <p:nvPicPr>
          <p:cNvPr id="6" name="Immagine 28">
            <a:extLst>
              <a:ext uri="{FF2B5EF4-FFF2-40B4-BE49-F238E27FC236}">
                <a16:creationId xmlns:a16="http://schemas.microsoft.com/office/drawing/2014/main" id="{BA6FC105-9169-9201-EB3E-9137DE8515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205" t="44063" r="38244" b="53563"/>
          <a:stretch>
            <a:fillRect/>
          </a:stretch>
        </p:blipFill>
        <p:spPr>
          <a:xfrm>
            <a:off x="467906" y="5697961"/>
            <a:ext cx="4485686" cy="338694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305A89F9-49C5-E697-9440-82E0E83A42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3" r="69452" b="54678"/>
          <a:stretch>
            <a:fillRect/>
          </a:stretch>
        </p:blipFill>
        <p:spPr>
          <a:xfrm>
            <a:off x="581025" y="1560244"/>
            <a:ext cx="4262155" cy="413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8852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43;p21">
            <a:extLst>
              <a:ext uri="{FF2B5EF4-FFF2-40B4-BE49-F238E27FC236}">
                <a16:creationId xmlns:a16="http://schemas.microsoft.com/office/drawing/2014/main" id="{5C267B33-4031-CE1B-8FAB-E39A328B41C1}"/>
              </a:ext>
            </a:extLst>
          </p:cNvPr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latin typeface="Urbanist"/>
                <a:ea typeface="Urbanist"/>
                <a:cs typeface="Urbanist"/>
                <a:sym typeface="Urbanist"/>
              </a:rPr>
              <a:t>Demo 1: </a:t>
            </a:r>
            <a:r>
              <a:rPr lang="en-US" sz="3750" b="1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Results</a:t>
            </a:r>
            <a:endParaRPr/>
          </a:p>
        </p:txBody>
      </p:sp>
      <p:sp>
        <p:nvSpPr>
          <p:cNvPr id="5" name="Google Shape;244;p21">
            <a:extLst>
              <a:ext uri="{FF2B5EF4-FFF2-40B4-BE49-F238E27FC236}">
                <a16:creationId xmlns:a16="http://schemas.microsoft.com/office/drawing/2014/main" id="{D23A546E-4BAD-95C4-E6C0-17D4AF6C0BC1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1FAB421-BE4D-CA27-CFD7-748540EEAA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00480" y="1300978"/>
            <a:ext cx="8859520" cy="5109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825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51;p22">
            <a:extLst>
              <a:ext uri="{FF2B5EF4-FFF2-40B4-BE49-F238E27FC236}">
                <a16:creationId xmlns:a16="http://schemas.microsoft.com/office/drawing/2014/main" id="{34070319-446B-0041-43FF-AB33FFE118D7}"/>
              </a:ext>
            </a:extLst>
          </p:cNvPr>
          <p:cNvSpPr txBox="1"/>
          <p:nvPr/>
        </p:nvSpPr>
        <p:spPr>
          <a:xfrm>
            <a:off x="747634" y="1569696"/>
            <a:ext cx="2214556" cy="277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latin typeface="Inter"/>
                <a:ea typeface="Urbanist"/>
                <a:cs typeface="Urbanist"/>
                <a:sym typeface="Urbanist"/>
              </a:rPr>
              <a:t>Stairs Environment</a:t>
            </a:r>
            <a:endParaRPr sz="2400">
              <a:latin typeface="Inter"/>
            </a:endParaRPr>
          </a:p>
        </p:txBody>
      </p:sp>
      <p:sp>
        <p:nvSpPr>
          <p:cNvPr id="14" name="Google Shape;264;p22">
            <a:extLst>
              <a:ext uri="{FF2B5EF4-FFF2-40B4-BE49-F238E27FC236}">
                <a16:creationId xmlns:a16="http://schemas.microsoft.com/office/drawing/2014/main" id="{E6351FE0-51BD-42FE-399A-FEA8A1D0AB3F}"/>
              </a:ext>
            </a:extLst>
          </p:cNvPr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latin typeface="Urbanist"/>
                <a:ea typeface="Urbanist"/>
                <a:cs typeface="Urbanist"/>
                <a:sym typeface="Urbanist"/>
              </a:rPr>
              <a:t>Demo 2: </a:t>
            </a:r>
            <a:r>
              <a:rPr lang="en-US" sz="3750" b="1" i="0" u="none" strike="noStrike" cap="none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Flight Controller</a:t>
            </a:r>
            <a:endParaRPr/>
          </a:p>
        </p:txBody>
      </p:sp>
      <p:sp>
        <p:nvSpPr>
          <p:cNvPr id="15" name="Google Shape;265;p22">
            <a:extLst>
              <a:ext uri="{FF2B5EF4-FFF2-40B4-BE49-F238E27FC236}">
                <a16:creationId xmlns:a16="http://schemas.microsoft.com/office/drawing/2014/main" id="{93EF75BA-0F39-BFEA-4F41-E298F7714243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" name="Google Shape;154;p17" descr="image.png">
            <a:extLst>
              <a:ext uri="{FF2B5EF4-FFF2-40B4-BE49-F238E27FC236}">
                <a16:creationId xmlns:a16="http://schemas.microsoft.com/office/drawing/2014/main" id="{ECF597E9-D2B5-F678-1F50-A951FCF63A1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5400000">
            <a:off x="7323442" y="1907954"/>
            <a:ext cx="4703641" cy="3903634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5;p22">
            <a:extLst>
              <a:ext uri="{FF2B5EF4-FFF2-40B4-BE49-F238E27FC236}">
                <a16:creationId xmlns:a16="http://schemas.microsoft.com/office/drawing/2014/main" id="{7A3F83AB-5CA2-3753-5B40-5BC11A188A7B}"/>
              </a:ext>
            </a:extLst>
          </p:cNvPr>
          <p:cNvSpPr txBox="1"/>
          <p:nvPr/>
        </p:nvSpPr>
        <p:spPr>
          <a:xfrm>
            <a:off x="7860742" y="1666491"/>
            <a:ext cx="217161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76B900"/>
                </a:solidFill>
                <a:latin typeface="Inter"/>
                <a:ea typeface="Inter"/>
                <a:cs typeface="Inter"/>
                <a:sym typeface="Inter"/>
              </a:rPr>
              <a:t>Control Scheme Loop</a:t>
            </a:r>
            <a:endParaRPr sz="280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4505EA0-6036-BCB0-ECA0-D526027B8A3C}"/>
              </a:ext>
            </a:extLst>
          </p:cNvPr>
          <p:cNvGrpSpPr/>
          <p:nvPr/>
        </p:nvGrpSpPr>
        <p:grpSpPr>
          <a:xfrm>
            <a:off x="7827637" y="2073877"/>
            <a:ext cx="3699065" cy="3289891"/>
            <a:chOff x="781050" y="3514725"/>
            <a:chExt cx="5000318" cy="2041779"/>
          </a:xfrm>
        </p:grpSpPr>
        <p:sp>
          <p:nvSpPr>
            <p:cNvPr id="26" name="Google Shape;256;p22">
              <a:extLst>
                <a:ext uri="{FF2B5EF4-FFF2-40B4-BE49-F238E27FC236}">
                  <a16:creationId xmlns:a16="http://schemas.microsoft.com/office/drawing/2014/main" id="{ED254628-31DB-0BEB-FD19-5D831E1E1966}"/>
                </a:ext>
              </a:extLst>
            </p:cNvPr>
            <p:cNvSpPr txBox="1"/>
            <p:nvPr/>
          </p:nvSpPr>
          <p:spPr>
            <a:xfrm>
              <a:off x="1066800" y="3514725"/>
              <a:ext cx="4591050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i="0" u="none" strike="noStrike" cap="none">
                  <a:latin typeface="Inter"/>
                  <a:ea typeface="Inter"/>
                  <a:cs typeface="Inter"/>
                  <a:sym typeface="Inter"/>
                </a:rPr>
                <a:t>Setpoint:</a:t>
              </a:r>
              <a:r>
                <a:rPr lang="en-US" sz="1600" b="0" i="0" u="none" strike="noStrike" cap="none">
                  <a:latin typeface="Inter"/>
                  <a:ea typeface="Inter"/>
                  <a:cs typeface="Inter"/>
                  <a:sym typeface="Inter"/>
                </a:rPr>
                <a:t> Desired height (e.g., 0.5m)</a:t>
              </a:r>
              <a:endParaRPr sz="2000"/>
            </a:p>
          </p:txBody>
        </p:sp>
        <p:sp>
          <p:nvSpPr>
            <p:cNvPr id="27" name="Google Shape;257;p22">
              <a:extLst>
                <a:ext uri="{FF2B5EF4-FFF2-40B4-BE49-F238E27FC236}">
                  <a16:creationId xmlns:a16="http://schemas.microsoft.com/office/drawing/2014/main" id="{7E3D3D2E-2E61-CD75-CA4B-A32948AA738F}"/>
                </a:ext>
              </a:extLst>
            </p:cNvPr>
            <p:cNvSpPr txBox="1"/>
            <p:nvPr/>
          </p:nvSpPr>
          <p:spPr>
            <a:xfrm>
              <a:off x="1066800" y="3962400"/>
              <a:ext cx="4591050" cy="7879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i="0" u="none" strike="noStrike" cap="none">
                  <a:latin typeface="Inter"/>
                  <a:ea typeface="Inter"/>
                  <a:cs typeface="Inter"/>
                  <a:sym typeface="Inter"/>
                </a:rPr>
                <a:t>Sensor (Multi-ranger Down):</a:t>
              </a:r>
              <a:r>
                <a:rPr lang="en-US" sz="1600" b="0" i="0" u="none" strike="noStrike" cap="none">
                  <a:latin typeface="Inter"/>
                  <a:ea typeface="Inter"/>
                  <a:cs typeface="Inter"/>
                  <a:sym typeface="Inter"/>
                </a:rPr>
                <a:t> Reads actual altitude relative to the stairs.</a:t>
              </a:r>
              <a:endParaRPr sz="2000"/>
            </a:p>
          </p:txBody>
        </p:sp>
        <p:sp>
          <p:nvSpPr>
            <p:cNvPr id="28" name="Google Shape;258;p22">
              <a:extLst>
                <a:ext uri="{FF2B5EF4-FFF2-40B4-BE49-F238E27FC236}">
                  <a16:creationId xmlns:a16="http://schemas.microsoft.com/office/drawing/2014/main" id="{4B6B15B4-9F13-3619-2730-ADD934CE2B75}"/>
                </a:ext>
              </a:extLst>
            </p:cNvPr>
            <p:cNvSpPr txBox="1"/>
            <p:nvPr/>
          </p:nvSpPr>
          <p:spPr>
            <a:xfrm>
              <a:off x="1066800" y="4714875"/>
              <a:ext cx="4591050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i="0" u="none" strike="noStrike" cap="none">
                  <a:latin typeface="Inter"/>
                  <a:ea typeface="Inter"/>
                  <a:cs typeface="Inter"/>
                  <a:sym typeface="Inter"/>
                </a:rPr>
                <a:t>Error:</a:t>
              </a:r>
              <a:r>
                <a:rPr lang="en-US" sz="1600" b="0" i="0" u="none" strike="noStrike" cap="none">
                  <a:latin typeface="Inter"/>
                  <a:ea typeface="Inter"/>
                  <a:cs typeface="Inter"/>
                  <a:sym typeface="Inter"/>
                </a:rPr>
                <a:t> Setpoint - Sensor Reading.</a:t>
              </a:r>
              <a:endParaRPr sz="2000"/>
            </a:p>
          </p:txBody>
        </p:sp>
        <p:sp>
          <p:nvSpPr>
            <p:cNvPr id="29" name="Google Shape;259;p22">
              <a:extLst>
                <a:ext uri="{FF2B5EF4-FFF2-40B4-BE49-F238E27FC236}">
                  <a16:creationId xmlns:a16="http://schemas.microsoft.com/office/drawing/2014/main" id="{2213C899-023C-DC11-BBD0-736A41B0118C}"/>
                </a:ext>
              </a:extLst>
            </p:cNvPr>
            <p:cNvSpPr txBox="1"/>
            <p:nvPr/>
          </p:nvSpPr>
          <p:spPr>
            <a:xfrm>
              <a:off x="1066800" y="5162550"/>
              <a:ext cx="4714568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6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i="0" u="none" strike="noStrike" cap="none">
                  <a:latin typeface="Inter"/>
                  <a:ea typeface="Inter"/>
                  <a:cs typeface="Inter"/>
                  <a:sym typeface="Inter"/>
                </a:rPr>
                <a:t>PID Controller:</a:t>
              </a:r>
              <a:r>
                <a:rPr lang="en-US" sz="1600" b="0" i="0" u="none" strike="noStrike" cap="none">
                  <a:latin typeface="Inter"/>
                  <a:ea typeface="Inter"/>
                  <a:cs typeface="Inter"/>
                  <a:sym typeface="Inter"/>
                </a:rPr>
                <a:t> Adjusts vertical thrust to minimize error.</a:t>
              </a:r>
              <a:endParaRPr sz="2000"/>
            </a:p>
          </p:txBody>
        </p:sp>
        <p:sp>
          <p:nvSpPr>
            <p:cNvPr id="30" name="Google Shape;260;p22">
              <a:extLst>
                <a:ext uri="{FF2B5EF4-FFF2-40B4-BE49-F238E27FC236}">
                  <a16:creationId xmlns:a16="http://schemas.microsoft.com/office/drawing/2014/main" id="{6A83C673-755B-F233-7703-E17B52AB5966}"/>
                </a:ext>
              </a:extLst>
            </p:cNvPr>
            <p:cNvSpPr txBox="1"/>
            <p:nvPr/>
          </p:nvSpPr>
          <p:spPr>
            <a:xfrm>
              <a:off x="781050" y="3514725"/>
              <a:ext cx="95250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lnSpc>
                  <a:spcPct val="160000"/>
                </a:lnSpc>
              </a:pPr>
              <a:r>
                <a:rPr lang="en-US" sz="1600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/>
            </a:p>
          </p:txBody>
        </p:sp>
        <p:sp>
          <p:nvSpPr>
            <p:cNvPr id="31" name="Google Shape;261;p22">
              <a:extLst>
                <a:ext uri="{FF2B5EF4-FFF2-40B4-BE49-F238E27FC236}">
                  <a16:creationId xmlns:a16="http://schemas.microsoft.com/office/drawing/2014/main" id="{C0EB542C-3914-552D-129C-E751905DF7E2}"/>
                </a:ext>
              </a:extLst>
            </p:cNvPr>
            <p:cNvSpPr txBox="1"/>
            <p:nvPr/>
          </p:nvSpPr>
          <p:spPr>
            <a:xfrm>
              <a:off x="781050" y="3962400"/>
              <a:ext cx="95250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lnSpc>
                  <a:spcPct val="160000"/>
                </a:lnSpc>
              </a:pPr>
              <a:r>
                <a:rPr lang="en-US" sz="1600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/>
            </a:p>
          </p:txBody>
        </p:sp>
        <p:sp>
          <p:nvSpPr>
            <p:cNvPr id="32" name="Google Shape;262;p22">
              <a:extLst>
                <a:ext uri="{FF2B5EF4-FFF2-40B4-BE49-F238E27FC236}">
                  <a16:creationId xmlns:a16="http://schemas.microsoft.com/office/drawing/2014/main" id="{2D73549E-31B0-781E-16B9-866329CD8663}"/>
                </a:ext>
              </a:extLst>
            </p:cNvPr>
            <p:cNvSpPr txBox="1"/>
            <p:nvPr/>
          </p:nvSpPr>
          <p:spPr>
            <a:xfrm>
              <a:off x="781050" y="4714875"/>
              <a:ext cx="95250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lnSpc>
                  <a:spcPct val="160000"/>
                </a:lnSpc>
              </a:pPr>
              <a:r>
                <a:rPr lang="en-US" sz="1600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/>
            </a:p>
          </p:txBody>
        </p:sp>
        <p:sp>
          <p:nvSpPr>
            <p:cNvPr id="33" name="Google Shape;263;p22">
              <a:extLst>
                <a:ext uri="{FF2B5EF4-FFF2-40B4-BE49-F238E27FC236}">
                  <a16:creationId xmlns:a16="http://schemas.microsoft.com/office/drawing/2014/main" id="{6A41C60B-1C71-AC74-1312-823F957590DF}"/>
                </a:ext>
              </a:extLst>
            </p:cNvPr>
            <p:cNvSpPr txBox="1"/>
            <p:nvPr/>
          </p:nvSpPr>
          <p:spPr>
            <a:xfrm>
              <a:off x="785808" y="5137928"/>
              <a:ext cx="95250" cy="3939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>
                <a:lnSpc>
                  <a:spcPct val="160000"/>
                </a:lnSpc>
              </a:pPr>
              <a:r>
                <a:rPr lang="en-US" sz="1600">
                  <a:ln>
                    <a:solidFill>
                      <a:srgbClr val="00B050"/>
                    </a:solidFill>
                  </a:ln>
                  <a:solidFill>
                    <a:srgbClr val="00B050"/>
                  </a:solidFill>
                  <a:latin typeface="Arial"/>
                  <a:ea typeface="Arial"/>
                  <a:cs typeface="Arial"/>
                  <a:sym typeface="Arial"/>
                </a:rPr>
                <a:t></a:t>
              </a:r>
              <a:endParaRPr/>
            </a:p>
          </p:txBody>
        </p:sp>
      </p:grpSp>
      <p:sp>
        <p:nvSpPr>
          <p:cNvPr id="4" name="Google Shape;252;p22">
            <a:extLst>
              <a:ext uri="{FF2B5EF4-FFF2-40B4-BE49-F238E27FC236}">
                <a16:creationId xmlns:a16="http://schemas.microsoft.com/office/drawing/2014/main" id="{D44A7863-8CFD-FF05-E396-2C02CC8C6664}"/>
              </a:ext>
            </a:extLst>
          </p:cNvPr>
          <p:cNvSpPr txBox="1"/>
          <p:nvPr/>
        </p:nvSpPr>
        <p:spPr>
          <a:xfrm>
            <a:off x="955206" y="2074727"/>
            <a:ext cx="6576485" cy="787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latin typeface="Inter"/>
                <a:ea typeface="Inter"/>
                <a:cs typeface="Inter"/>
                <a:sym typeface="Inter"/>
              </a:rPr>
              <a:t>The drone navigates over a set of stairs. We implemented a control loop to maintain a stable height.</a:t>
            </a:r>
            <a:endParaRPr sz="200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4B0941-9FFB-A10C-4910-FA459E2A9735}"/>
              </a:ext>
            </a:extLst>
          </p:cNvPr>
          <p:cNvSpPr txBox="1"/>
          <p:nvPr/>
        </p:nvSpPr>
        <p:spPr>
          <a:xfrm>
            <a:off x="674928" y="2145111"/>
            <a:ext cx="3074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60A27A5-1895-4755-A9BF-C843D921B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63" y="2851889"/>
            <a:ext cx="7125091" cy="3398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24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yramid_hover_demo">
            <a:hlinkClick r:id="" action="ppaction://media"/>
            <a:extLst>
              <a:ext uri="{FF2B5EF4-FFF2-40B4-BE49-F238E27FC236}">
                <a16:creationId xmlns:a16="http://schemas.microsoft.com/office/drawing/2014/main" id="{4297D5EA-53F3-8A7D-1FD6-298CE0FB2CC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1025" y="1986661"/>
            <a:ext cx="5158875" cy="38057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243;p21">
            <a:extLst>
              <a:ext uri="{FF2B5EF4-FFF2-40B4-BE49-F238E27FC236}">
                <a16:creationId xmlns:a16="http://schemas.microsoft.com/office/drawing/2014/main" id="{A79C6B68-A400-FC01-8063-299F1A23DB9A}"/>
              </a:ext>
            </a:extLst>
          </p:cNvPr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latin typeface="Urbanist"/>
                <a:ea typeface="Urbanist"/>
                <a:cs typeface="Urbanist"/>
                <a:sym typeface="Urbanist"/>
              </a:rPr>
              <a:t>Demo 2: </a:t>
            </a:r>
            <a:r>
              <a:rPr lang="en-US" sz="3750" b="1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Results</a:t>
            </a:r>
            <a:endParaRPr/>
          </a:p>
        </p:txBody>
      </p:sp>
      <p:sp>
        <p:nvSpPr>
          <p:cNvPr id="3" name="Google Shape;244;p21">
            <a:extLst>
              <a:ext uri="{FF2B5EF4-FFF2-40B4-BE49-F238E27FC236}">
                <a16:creationId xmlns:a16="http://schemas.microsoft.com/office/drawing/2014/main" id="{D7AE2A34-722E-6F65-FBF4-3198F0004C93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Immagine 24">
            <a:extLst>
              <a:ext uri="{FF2B5EF4-FFF2-40B4-BE49-F238E27FC236}">
                <a16:creationId xmlns:a16="http://schemas.microsoft.com/office/drawing/2014/main" id="{13C1761E-7CE2-E319-0568-3A3F54A414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3052" y="2636461"/>
            <a:ext cx="5068532" cy="2521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01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67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22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73;p23">
            <a:extLst>
              <a:ext uri="{FF2B5EF4-FFF2-40B4-BE49-F238E27FC236}">
                <a16:creationId xmlns:a16="http://schemas.microsoft.com/office/drawing/2014/main" id="{32A7235E-F3D1-6F71-40E1-8530BF969C12}"/>
              </a:ext>
            </a:extLst>
          </p:cNvPr>
          <p:cNvSpPr txBox="1"/>
          <p:nvPr/>
        </p:nvSpPr>
        <p:spPr>
          <a:xfrm>
            <a:off x="6179184" y="1495429"/>
            <a:ext cx="554069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latin typeface="Urbanist"/>
                <a:ea typeface="Urbanist"/>
                <a:cs typeface="Urbanist"/>
                <a:sym typeface="Urbanist"/>
              </a:rPr>
              <a:t>Mapping the Environment</a:t>
            </a:r>
            <a:endParaRPr sz="2400"/>
          </a:p>
        </p:txBody>
      </p:sp>
      <p:sp>
        <p:nvSpPr>
          <p:cNvPr id="3" name="Google Shape;274;p23">
            <a:extLst>
              <a:ext uri="{FF2B5EF4-FFF2-40B4-BE49-F238E27FC236}">
                <a16:creationId xmlns:a16="http://schemas.microsoft.com/office/drawing/2014/main" id="{74B2AB0F-CE35-9901-E733-B1FFAFAD776F}"/>
              </a:ext>
            </a:extLst>
          </p:cNvPr>
          <p:cNvSpPr txBox="1"/>
          <p:nvPr/>
        </p:nvSpPr>
        <p:spPr>
          <a:xfrm>
            <a:off x="6179184" y="1756414"/>
            <a:ext cx="5276850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latin typeface="Inter"/>
                <a:ea typeface="Inter"/>
                <a:cs typeface="Inter"/>
                <a:sym typeface="Inter"/>
              </a:rPr>
              <a:t>As the drone moves through a corridor with rounded and sharp obstacles, the side lasers continuously gather point data.</a:t>
            </a:r>
            <a:endParaRPr sz="1400"/>
          </a:p>
        </p:txBody>
      </p:sp>
      <p:sp>
        <p:nvSpPr>
          <p:cNvPr id="4" name="Google Shape;275;p23">
            <a:extLst>
              <a:ext uri="{FF2B5EF4-FFF2-40B4-BE49-F238E27FC236}">
                <a16:creationId xmlns:a16="http://schemas.microsoft.com/office/drawing/2014/main" id="{FA91FED1-F851-59B8-FC69-EA7D638AE7F4}"/>
              </a:ext>
            </a:extLst>
          </p:cNvPr>
          <p:cNvSpPr txBox="1"/>
          <p:nvPr/>
        </p:nvSpPr>
        <p:spPr>
          <a:xfrm>
            <a:off x="6464934" y="2598043"/>
            <a:ext cx="49911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latin typeface="Inter"/>
                <a:ea typeface="Inter"/>
                <a:cs typeface="Inter"/>
                <a:sym typeface="Inter"/>
              </a:rPr>
              <a:t>Sensor Hits:</a:t>
            </a:r>
            <a:r>
              <a:rPr lang="en-US" sz="1400" b="0" i="0" u="none" strike="noStrike" cap="none">
                <a:latin typeface="Inter"/>
                <a:ea typeface="Inter"/>
                <a:cs typeface="Inter"/>
                <a:sym typeface="Inter"/>
              </a:rPr>
              <a:t> Plotted as a point cloud on an X-Y plane.</a:t>
            </a:r>
            <a:endParaRPr/>
          </a:p>
        </p:txBody>
      </p:sp>
      <p:sp>
        <p:nvSpPr>
          <p:cNvPr id="5" name="Google Shape;276;p23">
            <a:extLst>
              <a:ext uri="{FF2B5EF4-FFF2-40B4-BE49-F238E27FC236}">
                <a16:creationId xmlns:a16="http://schemas.microsoft.com/office/drawing/2014/main" id="{0693D9AB-8392-B164-80E4-FD5B611F347D}"/>
              </a:ext>
            </a:extLst>
          </p:cNvPr>
          <p:cNvSpPr txBox="1"/>
          <p:nvPr/>
        </p:nvSpPr>
        <p:spPr>
          <a:xfrm>
            <a:off x="6464934" y="3065137"/>
            <a:ext cx="4991100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latin typeface="Inter"/>
                <a:ea typeface="Inter"/>
                <a:cs typeface="Inter"/>
                <a:sym typeface="Inter"/>
              </a:rPr>
              <a:t>Demonstrates the geometric fidelity of the sensor wrapping over complex shapes (like the semi-circular wall obstacle).</a:t>
            </a:r>
            <a:endParaRPr/>
          </a:p>
        </p:txBody>
      </p:sp>
      <p:sp>
        <p:nvSpPr>
          <p:cNvPr id="6" name="Google Shape;277;p23">
            <a:extLst>
              <a:ext uri="{FF2B5EF4-FFF2-40B4-BE49-F238E27FC236}">
                <a16:creationId xmlns:a16="http://schemas.microsoft.com/office/drawing/2014/main" id="{0B17CE64-C3F6-B5F8-087C-4694EAF1D956}"/>
              </a:ext>
            </a:extLst>
          </p:cNvPr>
          <p:cNvSpPr txBox="1"/>
          <p:nvPr/>
        </p:nvSpPr>
        <p:spPr>
          <a:xfrm>
            <a:off x="6172341" y="2598043"/>
            <a:ext cx="9525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en-US" sz="160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7" name="Google Shape;278;p23">
            <a:extLst>
              <a:ext uri="{FF2B5EF4-FFF2-40B4-BE49-F238E27FC236}">
                <a16:creationId xmlns:a16="http://schemas.microsoft.com/office/drawing/2014/main" id="{3244014E-7A45-EE03-A9A1-E21280F6BEAD}"/>
              </a:ext>
            </a:extLst>
          </p:cNvPr>
          <p:cNvSpPr txBox="1"/>
          <p:nvPr/>
        </p:nvSpPr>
        <p:spPr>
          <a:xfrm>
            <a:off x="6166951" y="3065137"/>
            <a:ext cx="95250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en-US" sz="1600">
                <a:ln>
                  <a:solidFill>
                    <a:srgbClr val="00B050"/>
                  </a:solidFill>
                </a:ln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</a:t>
            </a:r>
            <a:endParaRPr/>
          </a:p>
        </p:txBody>
      </p:sp>
      <p:sp>
        <p:nvSpPr>
          <p:cNvPr id="8" name="Google Shape;279;p23">
            <a:extLst>
              <a:ext uri="{FF2B5EF4-FFF2-40B4-BE49-F238E27FC236}">
                <a16:creationId xmlns:a16="http://schemas.microsoft.com/office/drawing/2014/main" id="{EF6EFC3F-C8C4-8585-EBB6-5DC292072055}"/>
              </a:ext>
            </a:extLst>
          </p:cNvPr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latin typeface="Urbanist"/>
                <a:ea typeface="Urbanist"/>
                <a:cs typeface="Urbanist"/>
                <a:sym typeface="Urbanist"/>
              </a:rPr>
              <a:t>Demo 3: </a:t>
            </a:r>
            <a:r>
              <a:rPr lang="en-US" sz="3750" b="1" i="0" u="none" strike="noStrike" cap="none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2D Mapping</a:t>
            </a:r>
            <a:endParaRPr/>
          </a:p>
        </p:txBody>
      </p:sp>
      <p:sp>
        <p:nvSpPr>
          <p:cNvPr id="9" name="Google Shape;280;p23">
            <a:extLst>
              <a:ext uri="{FF2B5EF4-FFF2-40B4-BE49-F238E27FC236}">
                <a16:creationId xmlns:a16="http://schemas.microsoft.com/office/drawing/2014/main" id="{4338A390-B503-5C81-9FC2-EF6BBF20746A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2F272B5-21D3-CFF8-906F-9D8D87D995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320" y="3759012"/>
            <a:ext cx="4176801" cy="2710477"/>
          </a:xfrm>
          <a:prstGeom prst="rect">
            <a:avLst/>
          </a:prstGeom>
        </p:spPr>
      </p:pic>
      <p:pic>
        <p:nvPicPr>
          <p:cNvPr id="12" name="Video Project 15">
            <a:hlinkClick r:id="" action="ppaction://media"/>
            <a:extLst>
              <a:ext uri="{FF2B5EF4-FFF2-40B4-BE49-F238E27FC236}">
                <a16:creationId xmlns:a16="http://schemas.microsoft.com/office/drawing/2014/main" id="{B3FD5529-D00E-EEC7-2753-8FAE48E816E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12412" t="2558" r="12463" b="1766"/>
          <a:stretch>
            <a:fillRect/>
          </a:stretch>
        </p:blipFill>
        <p:spPr>
          <a:xfrm>
            <a:off x="581025" y="1884449"/>
            <a:ext cx="5244690" cy="37572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37725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532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79;p23">
            <a:extLst>
              <a:ext uri="{FF2B5EF4-FFF2-40B4-BE49-F238E27FC236}">
                <a16:creationId xmlns:a16="http://schemas.microsoft.com/office/drawing/2014/main" id="{19AA3BDD-4495-3C62-29AC-81C5B6C0E9E7}"/>
              </a:ext>
            </a:extLst>
          </p:cNvPr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latin typeface="Urbanist"/>
                <a:ea typeface="Urbanist"/>
                <a:cs typeface="Urbanist"/>
                <a:sym typeface="Urbanist"/>
              </a:rPr>
              <a:t>Demo 3: </a:t>
            </a:r>
            <a:r>
              <a:rPr lang="en-US" sz="3750" b="1" i="0" u="none" strike="noStrike" cap="none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2D Mapping</a:t>
            </a:r>
            <a:endParaRPr/>
          </a:p>
        </p:txBody>
      </p:sp>
      <p:sp>
        <p:nvSpPr>
          <p:cNvPr id="5" name="Google Shape;280;p23">
            <a:extLst>
              <a:ext uri="{FF2B5EF4-FFF2-40B4-BE49-F238E27FC236}">
                <a16:creationId xmlns:a16="http://schemas.microsoft.com/office/drawing/2014/main" id="{904B3E36-1FD8-221E-ECF0-AD071F72FF8D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801DA75-CF59-9189-B2BA-CE903B39C9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48767" y="1588123"/>
            <a:ext cx="5523171" cy="4810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6392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79;p23">
            <a:extLst>
              <a:ext uri="{FF2B5EF4-FFF2-40B4-BE49-F238E27FC236}">
                <a16:creationId xmlns:a16="http://schemas.microsoft.com/office/drawing/2014/main" id="{43F20D80-C279-6BD2-92C4-28664E63F153}"/>
              </a:ext>
            </a:extLst>
          </p:cNvPr>
          <p:cNvSpPr txBox="1"/>
          <p:nvPr/>
        </p:nvSpPr>
        <p:spPr>
          <a:xfrm>
            <a:off x="581025" y="581025"/>
            <a:ext cx="11581447" cy="600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76B900"/>
                </a:solidFill>
                <a:latin typeface="Urbanist"/>
                <a:ea typeface="Urbanist"/>
                <a:cs typeface="Urbanist"/>
                <a:sym typeface="Urbanist"/>
              </a:rPr>
              <a:t>Conclusions and Future Works</a:t>
            </a:r>
            <a:endParaRPr/>
          </a:p>
        </p:txBody>
      </p:sp>
      <p:sp>
        <p:nvSpPr>
          <p:cNvPr id="3" name="Google Shape;280;p23">
            <a:extLst>
              <a:ext uri="{FF2B5EF4-FFF2-40B4-BE49-F238E27FC236}">
                <a16:creationId xmlns:a16="http://schemas.microsoft.com/office/drawing/2014/main" id="{5D8F1314-7CE3-FDE5-1214-4F70B09C8A86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15A721-E715-E710-DD91-5D3174E6C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549" y="1709587"/>
            <a:ext cx="11022904" cy="1330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1512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2E830-E48D-CBFB-E75B-25D38F14E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79;p23">
            <a:extLst>
              <a:ext uri="{FF2B5EF4-FFF2-40B4-BE49-F238E27FC236}">
                <a16:creationId xmlns:a16="http://schemas.microsoft.com/office/drawing/2014/main" id="{38B0A96A-17E3-4865-1928-19ACD3343AC6}"/>
              </a:ext>
            </a:extLst>
          </p:cNvPr>
          <p:cNvSpPr txBox="1"/>
          <p:nvPr/>
        </p:nvSpPr>
        <p:spPr>
          <a:xfrm>
            <a:off x="581025" y="581025"/>
            <a:ext cx="11581447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>
                <a:solidFill>
                  <a:srgbClr val="76B900"/>
                </a:solidFill>
                <a:latin typeface="Urbanist"/>
                <a:sym typeface="Urbanist"/>
              </a:rPr>
              <a:t>Reference</a:t>
            </a:r>
            <a:endParaRPr/>
          </a:p>
        </p:txBody>
      </p:sp>
      <p:sp>
        <p:nvSpPr>
          <p:cNvPr id="3" name="Google Shape;280;p23">
            <a:extLst>
              <a:ext uri="{FF2B5EF4-FFF2-40B4-BE49-F238E27FC236}">
                <a16:creationId xmlns:a16="http://schemas.microsoft.com/office/drawing/2014/main" id="{3E84F700-B21C-1A1E-5830-D7E49C793D9F}"/>
              </a:ext>
            </a:extLst>
          </p:cNvPr>
          <p:cNvSpPr/>
          <p:nvPr/>
        </p:nvSpPr>
        <p:spPr>
          <a:xfrm>
            <a:off x="581025" y="1304925"/>
            <a:ext cx="11029950" cy="19050"/>
          </a:xfrm>
          <a:prstGeom prst="rect">
            <a:avLst/>
          </a:prstGeom>
          <a:solidFill>
            <a:srgbClr val="76B9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FA6D6932-F3C5-7648-005A-D2F33BDD8FFF}"/>
              </a:ext>
            </a:extLst>
          </p:cNvPr>
          <p:cNvSpPr txBox="1"/>
          <p:nvPr/>
        </p:nvSpPr>
        <p:spPr>
          <a:xfrm>
            <a:off x="581025" y="1582340"/>
            <a:ext cx="11029950" cy="369331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>
                <a:solidFill>
                  <a:schemeClr val="tx1"/>
                </a:solidFill>
                <a:latin typeface="Arial"/>
                <a:ea typeface="MS PGothic"/>
              </a:rPr>
              <a:t>Sources:</a:t>
            </a:r>
            <a:br>
              <a:rPr lang="it-IT">
                <a:solidFill>
                  <a:schemeClr val="tx1"/>
                </a:solidFill>
                <a:latin typeface="Arial"/>
                <a:ea typeface="MS PGothic"/>
              </a:rPr>
            </a:br>
            <a:endParaRPr lang="it-IT">
              <a:solidFill>
                <a:schemeClr val="tx1"/>
              </a:solidFill>
              <a:latin typeface="Arial"/>
              <a:ea typeface="MS PGothic"/>
            </a:endParaRPr>
          </a:p>
          <a:p>
            <a:r>
              <a:rPr lang="it-IT">
                <a:solidFill>
                  <a:schemeClr val="tx1"/>
                </a:solidFill>
                <a:latin typeface="Arial"/>
                <a:ea typeface="MS PGothic"/>
              </a:rPr>
              <a:t>[1]</a:t>
            </a:r>
            <a:r>
              <a:rPr lang="de-DE" i="1" err="1">
                <a:solidFill>
                  <a:schemeClr val="tx1"/>
                </a:solidFill>
                <a:latin typeface="Arial"/>
                <a:ea typeface="MS PGothic"/>
              </a:rPr>
              <a:t>Bitcraze</a:t>
            </a:r>
            <a:r>
              <a:rPr lang="de-DE" i="1">
                <a:solidFill>
                  <a:schemeClr val="tx1"/>
                </a:solidFill>
                <a:latin typeface="Arial"/>
                <a:ea typeface="MS PGothic"/>
              </a:rPr>
              <a:t> AB Datasheet Multi-</a:t>
            </a:r>
            <a:r>
              <a:rPr lang="de-DE" i="1" err="1">
                <a:solidFill>
                  <a:schemeClr val="tx1"/>
                </a:solidFill>
                <a:latin typeface="Arial"/>
                <a:ea typeface="MS PGothic"/>
              </a:rPr>
              <a:t>ranger</a:t>
            </a:r>
            <a:r>
              <a:rPr lang="de-DE" i="1">
                <a:solidFill>
                  <a:schemeClr val="tx1"/>
                </a:solidFill>
                <a:latin typeface="Arial"/>
                <a:ea typeface="MS PGothic"/>
              </a:rPr>
              <a:t> deck - Rev 1</a:t>
            </a:r>
            <a:br>
              <a:rPr lang="de-DE" i="1">
                <a:solidFill>
                  <a:schemeClr val="tx1"/>
                </a:solidFill>
                <a:latin typeface="Arial"/>
                <a:ea typeface="MS PGothic"/>
              </a:rPr>
            </a:br>
            <a:endParaRPr lang="en-US" i="1">
              <a:solidFill>
                <a:schemeClr val="tx1"/>
              </a:solidFill>
              <a:latin typeface="Arial"/>
              <a:ea typeface="MS PGothic"/>
            </a:endParaRPr>
          </a:p>
          <a:p>
            <a:r>
              <a:rPr lang="it-IT">
                <a:solidFill>
                  <a:schemeClr val="tx1"/>
                </a:solidFill>
                <a:latin typeface="Arial"/>
                <a:ea typeface="MS PGothic"/>
              </a:rPr>
              <a:t>[2]</a:t>
            </a:r>
            <a:r>
              <a:rPr lang="en-US" i="1">
                <a:solidFill>
                  <a:schemeClr val="tx1"/>
                </a:solidFill>
                <a:latin typeface="Arial"/>
                <a:ea typeface="MS PGothic"/>
              </a:rPr>
              <a:t>STMicroelectronics, VL53L1X Datasheet: A new generation, long distance ranging Time-of-Flight sensor based on ST’s </a:t>
            </a:r>
            <a:r>
              <a:rPr lang="en-US" i="1" err="1">
                <a:solidFill>
                  <a:schemeClr val="tx1"/>
                </a:solidFill>
                <a:latin typeface="Arial"/>
                <a:ea typeface="MS PGothic"/>
              </a:rPr>
              <a:t>FlightSense</a:t>
            </a:r>
            <a:r>
              <a:rPr lang="en-US" i="1">
                <a:solidFill>
                  <a:schemeClr val="tx1"/>
                </a:solidFill>
                <a:latin typeface="Arial"/>
                <a:ea typeface="MS PGothic"/>
              </a:rPr>
              <a:t>™ technology</a:t>
            </a:r>
            <a:br>
              <a:rPr lang="en-US" i="1">
                <a:solidFill>
                  <a:schemeClr val="tx1"/>
                </a:solidFill>
                <a:latin typeface="Arial"/>
                <a:ea typeface="MS PGothic"/>
              </a:rPr>
            </a:br>
            <a:endParaRPr lang="en-US" i="1">
              <a:solidFill>
                <a:schemeClr val="tx1"/>
              </a:solidFill>
              <a:latin typeface="Arial"/>
              <a:ea typeface="MS PGothic"/>
            </a:endParaRPr>
          </a:p>
          <a:p>
            <a:r>
              <a:rPr lang="it-IT">
                <a:solidFill>
                  <a:schemeClr val="tx1"/>
                </a:solidFill>
                <a:latin typeface="Arial"/>
                <a:ea typeface="MS PGothic"/>
              </a:rPr>
              <a:t>[3</a:t>
            </a:r>
            <a:r>
              <a:rPr lang="it-IT">
                <a:solidFill>
                  <a:schemeClr val="tx1">
                    <a:lumMod val="95000"/>
                    <a:lumOff val="5000"/>
                  </a:schemeClr>
                </a:solidFill>
                <a:latin typeface="Arial"/>
                <a:ea typeface="MS PGothic"/>
              </a:rPr>
              <a:t>]</a:t>
            </a:r>
            <a:r>
              <a:rPr lang="en-US">
                <a:solidFill>
                  <a:schemeClr val="tx1"/>
                </a:solidFill>
              </a:rPr>
              <a:t>AN5191, Application note, Using the programmable region of interest (ROI) with the VL53L1X</a:t>
            </a:r>
            <a:br>
              <a:rPr lang="en-US">
                <a:solidFill>
                  <a:schemeClr val="tx1"/>
                </a:solidFill>
              </a:rPr>
            </a:br>
            <a:endParaRPr lang="en-US">
              <a:solidFill>
                <a:schemeClr val="tx1"/>
              </a:solidFill>
            </a:endParaRPr>
          </a:p>
          <a:p>
            <a:r>
              <a:rPr lang="en-US">
                <a:solidFill>
                  <a:schemeClr val="tx1"/>
                </a:solidFill>
                <a:latin typeface="Arial"/>
                <a:ea typeface="MS PGothic"/>
              </a:rPr>
              <a:t>[4]AN5231, Application note, Cover window guidelines for the VL53L1X long-distance ranging Time-of-Flight sensor, Section 5.3</a:t>
            </a:r>
            <a:br>
              <a:rPr lang="en-US">
                <a:solidFill>
                  <a:schemeClr val="tx1"/>
                </a:solidFill>
                <a:latin typeface="Arial"/>
                <a:ea typeface="MS PGothic"/>
              </a:rPr>
            </a:br>
            <a:endParaRPr lang="it-IT">
              <a:solidFill>
                <a:schemeClr val="tx1"/>
              </a:solidFill>
              <a:latin typeface="Arial"/>
              <a:ea typeface="MS PGothic"/>
            </a:endParaRPr>
          </a:p>
          <a:p>
            <a:r>
              <a:rPr lang="it-IT">
                <a:solidFill>
                  <a:schemeClr val="tx1"/>
                </a:solidFill>
                <a:latin typeface="Arial"/>
                <a:ea typeface="MS PGothic"/>
              </a:rPr>
              <a:t>[5]</a:t>
            </a:r>
            <a:r>
              <a:rPr lang="it-IT" err="1">
                <a:solidFill>
                  <a:schemeClr val="tx1"/>
                </a:solidFill>
                <a:latin typeface="Arial"/>
                <a:ea typeface="MS PGothic"/>
                <a:cs typeface="Ari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Question</a:t>
            </a:r>
            <a:r>
              <a:rPr lang="it-IT">
                <a:solidFill>
                  <a:schemeClr val="tx1"/>
                </a:solidFill>
                <a:latin typeface="Arial"/>
                <a:ea typeface="MS PGothic"/>
                <a:cs typeface="Ari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it-IT" err="1">
                <a:solidFill>
                  <a:schemeClr val="tx1"/>
                </a:solidFill>
                <a:latin typeface="Arial"/>
                <a:ea typeface="MS PGothic"/>
                <a:cs typeface="Ari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r>
              <a:rPr lang="it-IT">
                <a:solidFill>
                  <a:schemeClr val="tx1"/>
                </a:solidFill>
                <a:latin typeface="Arial"/>
                <a:ea typeface="MS PGothic"/>
                <a:cs typeface="Ari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mapping </a:t>
            </a:r>
            <a:r>
              <a:rPr lang="it-IT" err="1">
                <a:solidFill>
                  <a:schemeClr val="tx1"/>
                </a:solidFill>
                <a:latin typeface="Arial"/>
                <a:ea typeface="MS PGothic"/>
                <a:cs typeface="Ari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using</a:t>
            </a:r>
            <a:r>
              <a:rPr lang="it-IT">
                <a:solidFill>
                  <a:schemeClr val="tx1"/>
                </a:solidFill>
                <a:latin typeface="Arial"/>
                <a:ea typeface="MS PGothic"/>
                <a:cs typeface="Ari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the VL53L1X </a:t>
            </a:r>
            <a:r>
              <a:rPr lang="it-IT" err="1">
                <a:solidFill>
                  <a:schemeClr val="tx1"/>
                </a:solidFill>
                <a:latin typeface="Arial"/>
                <a:ea typeface="MS PGothic"/>
                <a:cs typeface="Ari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sensor</a:t>
            </a:r>
            <a:r>
              <a:rPr lang="it-IT">
                <a:solidFill>
                  <a:schemeClr val="tx1"/>
                </a:solidFill>
                <a:latin typeface="Arial"/>
                <a:ea typeface="MS PGothic"/>
                <a:cs typeface="Ari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- Projects / General </a:t>
            </a:r>
            <a:r>
              <a:rPr lang="it-IT" err="1">
                <a:solidFill>
                  <a:schemeClr val="tx1"/>
                </a:solidFill>
                <a:latin typeface="Arial"/>
                <a:ea typeface="MS PGothic"/>
                <a:cs typeface="Ari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Guidance</a:t>
            </a:r>
            <a:r>
              <a:rPr lang="it-IT">
                <a:solidFill>
                  <a:schemeClr val="tx1"/>
                </a:solidFill>
                <a:latin typeface="Arial"/>
                <a:ea typeface="MS PGothic"/>
                <a:cs typeface="Aria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- Arduino Forum</a:t>
            </a:r>
            <a:endParaRPr lang="it-IT">
              <a:solidFill>
                <a:schemeClr val="tx1"/>
              </a:solidFill>
              <a:cs typeface="Arial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</p:spTree>
    <p:extLst>
      <p:ext uri="{BB962C8B-B14F-4D97-AF65-F5344CB8AC3E}">
        <p14:creationId xmlns:p14="http://schemas.microsoft.com/office/powerpoint/2010/main" val="32087495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90984A6D7F35141B49C7AD2F614F8EF" ma:contentTypeVersion="14" ma:contentTypeDescription="Create a new document." ma:contentTypeScope="" ma:versionID="50b35b9dd589deffda1c44846e404be7">
  <xsd:schema xmlns:xsd="http://www.w3.org/2001/XMLSchema" xmlns:xs="http://www.w3.org/2001/XMLSchema" xmlns:p="http://schemas.microsoft.com/office/2006/metadata/properties" xmlns:ns3="d45cf48d-8f71-4bf7-baaa-c4af11f15e4e" xmlns:ns4="9ed310e5-6b5b-487f-86a1-3136517907fe" targetNamespace="http://schemas.microsoft.com/office/2006/metadata/properties" ma:root="true" ma:fieldsID="28cf0a405cfa4c615ae4a862932eede1" ns3:_="" ns4:_="">
    <xsd:import namespace="d45cf48d-8f71-4bf7-baaa-c4af11f15e4e"/>
    <xsd:import namespace="9ed310e5-6b5b-487f-86a1-3136517907fe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DateTaken" minOccurs="0"/>
                <xsd:element ref="ns3:MediaServiceSearchProperties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LengthInSeconds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45cf48d-8f71-4bf7-baaa-c4af11f15e4e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1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9" nillable="true" ma:displayName="MediaServiceSystemTags" ma:hidden="true" ma:internalName="MediaServiceSystemTags" ma:readOnly="true">
      <xsd:simpleType>
        <xsd:restriction base="dms:Note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d310e5-6b5b-487f-86a1-3136517907fe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45cf48d-8f71-4bf7-baaa-c4af11f15e4e" xsi:nil="true"/>
  </documentManagement>
</p:properties>
</file>

<file path=customXml/itemProps1.xml><?xml version="1.0" encoding="utf-8"?>
<ds:datastoreItem xmlns:ds="http://schemas.openxmlformats.org/officeDocument/2006/customXml" ds:itemID="{0A6FE434-6679-4184-81A4-9A86D0FA0F4D}">
  <ds:schemaRefs>
    <ds:schemaRef ds:uri="9ed310e5-6b5b-487f-86a1-3136517907fe"/>
    <ds:schemaRef ds:uri="d45cf48d-8f71-4bf7-baaa-c4af11f15e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C54663C-CD93-4F26-AFF6-60031939CB9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664B908-FFFB-4328-AFC6-39DA4B418247}">
  <ds:schemaRefs>
    <ds:schemaRef ds:uri="http://schemas.microsoft.com/office/2006/metadata/properties"/>
    <ds:schemaRef ds:uri="9ed310e5-6b5b-487f-86a1-3136517907fe"/>
    <ds:schemaRef ds:uri="http://purl.org/dc/terms/"/>
    <ds:schemaRef ds:uri="d45cf48d-8f71-4bf7-baaa-c4af11f15e4e"/>
    <ds:schemaRef ds:uri="http://purl.org/dc/dcmitype/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1080</Words>
  <Application>Microsoft Office PowerPoint</Application>
  <PresentationFormat>Widescreen</PresentationFormat>
  <Paragraphs>149</Paragraphs>
  <Slides>18</Slides>
  <Notes>0</Notes>
  <HiddenSlides>0</HiddenSlides>
  <MMClips>2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 samori</dc:creator>
  <cp:lastModifiedBy>Tommaso Tieri - tommaso.tieri@studio.unibo.it</cp:lastModifiedBy>
  <cp:revision>4</cp:revision>
  <dcterms:created xsi:type="dcterms:W3CDTF">2026-05-10T14:09:09Z</dcterms:created>
  <dcterms:modified xsi:type="dcterms:W3CDTF">2026-05-19T07:53:45Z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0x010100A90984A6D7F35141B49C7AD2F614F8EF</vt:lpwstr>
  </property>
</Properties>
</file>